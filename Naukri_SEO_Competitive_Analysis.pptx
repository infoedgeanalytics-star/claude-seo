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E8A"/>
        </a:solidFill>
        <a:effectLst/>
      </p:bgPr>
    </p:bg>
    <p:spTree>
      <p:nvGrpSpPr>
        <p:cNvPr id="1" name=""/>
        <p:cNvGrpSpPr/>
        <p:nvPr/>
      </p:nvGrpSpPr>
      <p:grpSpPr/>
      <p:sp>
        <p:nvSpPr>
          <p:cNvPr id="2" name="Rectangle 1"/>
          <p:cNvSpPr/>
          <p:nvPr/>
        </p:nvSpPr>
        <p:spPr>
          <a:xfrm>
            <a:off x="0" y="5303520"/>
            <a:ext cx="12188952" cy="1554480"/>
          </a:xfrm>
          <a:prstGeom prst="rect">
            <a:avLst/>
          </a:prstGeom>
          <a:solidFill>
            <a:srgbClr val="00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285232"/>
            <a:ext cx="12188952" cy="82296"/>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0" y="0"/>
            <a:ext cx="3502152" cy="6858000"/>
          </a:xfrm>
          <a:prstGeom prst="rect">
            <a:avLst/>
          </a:prstGeom>
          <a:solidFill>
            <a:srgbClr val="00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68512" y="0"/>
            <a:ext cx="64008"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8046720" cy="731520"/>
          </a:xfrm>
          <a:prstGeom prst="rect">
            <a:avLst/>
          </a:prstGeom>
          <a:noFill/>
        </p:spPr>
        <p:txBody>
          <a:bodyPr wrap="square">
            <a:spAutoFit/>
          </a:bodyPr>
          <a:lstStyle/>
          <a:p>
            <a:pPr algn="l"/>
            <a:r>
              <a:rPr sz="1300" b="1" i="0">
                <a:solidFill>
                  <a:srgbClr val="B0C4DE"/>
                </a:solidFill>
              </a:rPr>
              <a:t>SEO COMPETITIVE ANALYSIS</a:t>
            </a:r>
          </a:p>
        </p:txBody>
      </p:sp>
      <p:sp>
        <p:nvSpPr>
          <p:cNvPr id="7" name="TextBox 6"/>
          <p:cNvSpPr txBox="1"/>
          <p:nvPr/>
        </p:nvSpPr>
        <p:spPr>
          <a:xfrm>
            <a:off x="457200" y="1737360"/>
            <a:ext cx="8046720" cy="2011680"/>
          </a:xfrm>
          <a:prstGeom prst="rect">
            <a:avLst/>
          </a:prstGeom>
          <a:noFill/>
        </p:spPr>
        <p:txBody>
          <a:bodyPr wrap="square">
            <a:spAutoFit/>
          </a:bodyPr>
          <a:lstStyle/>
          <a:p>
            <a:pPr algn="l"/>
            <a:r>
              <a:rPr sz="4400" b="1" i="0">
                <a:solidFill>
                  <a:srgbClr val="FFFFFF"/>
                </a:solidFill>
              </a:rPr>
              <a:t>Naukri.com
vs Competitors</a:t>
            </a:r>
          </a:p>
        </p:txBody>
      </p:sp>
      <p:sp>
        <p:nvSpPr>
          <p:cNvPr id="8" name="TextBox 7"/>
          <p:cNvSpPr txBox="1"/>
          <p:nvPr/>
        </p:nvSpPr>
        <p:spPr>
          <a:xfrm>
            <a:off x="457200" y="3840480"/>
            <a:ext cx="7955279" cy="914400"/>
          </a:xfrm>
          <a:prstGeom prst="rect">
            <a:avLst/>
          </a:prstGeom>
          <a:noFill/>
        </p:spPr>
        <p:txBody>
          <a:bodyPr wrap="square">
            <a:spAutoFit/>
          </a:bodyPr>
          <a:lstStyle/>
          <a:p>
            <a:pPr algn="l"/>
            <a:r>
              <a:rPr sz="1350" b="0" i="0">
                <a:solidFill>
                  <a:srgbClr val="B0C4DE"/>
                </a:solidFill>
              </a:rPr>
              <a:t>In-depth keyword performance analysis across 10 brands
including Indeed, Resume.io, Myperfectresume, Zety, Novoresume &amp; more</a:t>
            </a:r>
          </a:p>
        </p:txBody>
      </p:sp>
      <p:sp>
        <p:nvSpPr>
          <p:cNvPr id="9" name="TextBox 8"/>
          <p:cNvSpPr txBox="1"/>
          <p:nvPr/>
        </p:nvSpPr>
        <p:spPr>
          <a:xfrm>
            <a:off x="457200" y="4800600"/>
            <a:ext cx="7955279" cy="365760"/>
          </a:xfrm>
          <a:prstGeom prst="rect">
            <a:avLst/>
          </a:prstGeom>
          <a:noFill/>
        </p:spPr>
        <p:txBody>
          <a:bodyPr wrap="square">
            <a:spAutoFit/>
          </a:bodyPr>
          <a:lstStyle/>
          <a:p>
            <a:pPr algn="l"/>
            <a:r>
              <a:rPr sz="1100" b="0" i="1">
                <a:solidFill>
                  <a:srgbClr val="80A0C0"/>
                </a:solidFill>
              </a:rPr>
              <a:t>Data: 68,980 keyword records  |  18,630 Naukri keywords  |  21 topic clusters</a:t>
            </a:r>
          </a:p>
        </p:txBody>
      </p:sp>
      <p:sp>
        <p:nvSpPr>
          <p:cNvPr id="10" name="TextBox 9"/>
          <p:cNvSpPr txBox="1"/>
          <p:nvPr/>
        </p:nvSpPr>
        <p:spPr>
          <a:xfrm>
            <a:off x="8915400" y="457200"/>
            <a:ext cx="3017520" cy="365760"/>
          </a:xfrm>
          <a:prstGeom prst="rect">
            <a:avLst/>
          </a:prstGeom>
          <a:noFill/>
        </p:spPr>
        <p:txBody>
          <a:bodyPr wrap="square">
            <a:spAutoFit/>
          </a:bodyPr>
          <a:lstStyle/>
          <a:p>
            <a:pPr algn="l"/>
            <a:r>
              <a:rPr sz="1100" b="1" i="0">
                <a:solidFill>
                  <a:srgbClr val="FF6B00"/>
                </a:solidFill>
              </a:rPr>
              <a:t>KEY NUMBERS</a:t>
            </a:r>
          </a:p>
        </p:txBody>
      </p:sp>
      <p:sp>
        <p:nvSpPr>
          <p:cNvPr id="11" name="TextBox 10"/>
          <p:cNvSpPr txBox="1"/>
          <p:nvPr/>
        </p:nvSpPr>
        <p:spPr>
          <a:xfrm>
            <a:off x="8915400" y="914400"/>
            <a:ext cx="3017520" cy="502920"/>
          </a:xfrm>
          <a:prstGeom prst="rect">
            <a:avLst/>
          </a:prstGeom>
          <a:noFill/>
        </p:spPr>
        <p:txBody>
          <a:bodyPr wrap="square">
            <a:spAutoFit/>
          </a:bodyPr>
          <a:lstStyle/>
          <a:p>
            <a:pPr algn="ctr"/>
            <a:r>
              <a:rPr sz="2800" b="1" i="0">
                <a:solidFill>
                  <a:srgbClr val="FFFFFF"/>
                </a:solidFill>
              </a:rPr>
              <a:t>10</a:t>
            </a:r>
          </a:p>
        </p:txBody>
      </p:sp>
      <p:sp>
        <p:nvSpPr>
          <p:cNvPr id="12" name="TextBox 11"/>
          <p:cNvSpPr txBox="1"/>
          <p:nvPr/>
        </p:nvSpPr>
        <p:spPr>
          <a:xfrm>
            <a:off x="8915400" y="1389888"/>
            <a:ext cx="3017520" cy="320040"/>
          </a:xfrm>
          <a:prstGeom prst="rect">
            <a:avLst/>
          </a:prstGeom>
          <a:noFill/>
        </p:spPr>
        <p:txBody>
          <a:bodyPr wrap="square">
            <a:spAutoFit/>
          </a:bodyPr>
          <a:lstStyle/>
          <a:p>
            <a:pPr algn="ctr"/>
            <a:r>
              <a:rPr sz="1000" b="0" i="0">
                <a:solidFill>
                  <a:srgbClr val="90B0D0"/>
                </a:solidFill>
              </a:rPr>
              <a:t>Brands Analyzed</a:t>
            </a:r>
          </a:p>
        </p:txBody>
      </p:sp>
      <p:sp>
        <p:nvSpPr>
          <p:cNvPr id="13" name="TextBox 12"/>
          <p:cNvSpPr txBox="1"/>
          <p:nvPr/>
        </p:nvSpPr>
        <p:spPr>
          <a:xfrm>
            <a:off x="8915400" y="1965960"/>
            <a:ext cx="3017520" cy="502920"/>
          </a:xfrm>
          <a:prstGeom prst="rect">
            <a:avLst/>
          </a:prstGeom>
          <a:noFill/>
        </p:spPr>
        <p:txBody>
          <a:bodyPr wrap="square">
            <a:spAutoFit/>
          </a:bodyPr>
          <a:lstStyle/>
          <a:p>
            <a:pPr algn="ctr"/>
            <a:r>
              <a:rPr sz="2800" b="1" i="0">
                <a:solidFill>
                  <a:srgbClr val="FFFFFF"/>
                </a:solidFill>
              </a:rPr>
              <a:t>68,980</a:t>
            </a:r>
          </a:p>
        </p:txBody>
      </p:sp>
      <p:sp>
        <p:nvSpPr>
          <p:cNvPr id="14" name="TextBox 13"/>
          <p:cNvSpPr txBox="1"/>
          <p:nvPr/>
        </p:nvSpPr>
        <p:spPr>
          <a:xfrm>
            <a:off x="8915400" y="2441448"/>
            <a:ext cx="3017520" cy="320040"/>
          </a:xfrm>
          <a:prstGeom prst="rect">
            <a:avLst/>
          </a:prstGeom>
          <a:noFill/>
        </p:spPr>
        <p:txBody>
          <a:bodyPr wrap="square">
            <a:spAutoFit/>
          </a:bodyPr>
          <a:lstStyle/>
          <a:p>
            <a:pPr algn="ctr"/>
            <a:r>
              <a:rPr sz="1000" b="0" i="0">
                <a:solidFill>
                  <a:srgbClr val="90B0D0"/>
                </a:solidFill>
              </a:rPr>
              <a:t>Total KW Records</a:t>
            </a:r>
          </a:p>
        </p:txBody>
      </p:sp>
      <p:sp>
        <p:nvSpPr>
          <p:cNvPr id="15" name="TextBox 14"/>
          <p:cNvSpPr txBox="1"/>
          <p:nvPr/>
        </p:nvSpPr>
        <p:spPr>
          <a:xfrm>
            <a:off x="8915400" y="3017520"/>
            <a:ext cx="3017520" cy="502920"/>
          </a:xfrm>
          <a:prstGeom prst="rect">
            <a:avLst/>
          </a:prstGeom>
          <a:noFill/>
        </p:spPr>
        <p:txBody>
          <a:bodyPr wrap="square">
            <a:spAutoFit/>
          </a:bodyPr>
          <a:lstStyle/>
          <a:p>
            <a:pPr algn="ctr"/>
            <a:r>
              <a:rPr sz="2800" b="1" i="0">
                <a:solidFill>
                  <a:srgbClr val="FFFFFF"/>
                </a:solidFill>
              </a:rPr>
              <a:t>18,630</a:t>
            </a:r>
          </a:p>
        </p:txBody>
      </p:sp>
      <p:sp>
        <p:nvSpPr>
          <p:cNvPr id="16" name="TextBox 15"/>
          <p:cNvSpPr txBox="1"/>
          <p:nvPr/>
        </p:nvSpPr>
        <p:spPr>
          <a:xfrm>
            <a:off x="8915400" y="3493008"/>
            <a:ext cx="3017520" cy="320040"/>
          </a:xfrm>
          <a:prstGeom prst="rect">
            <a:avLst/>
          </a:prstGeom>
          <a:noFill/>
        </p:spPr>
        <p:txBody>
          <a:bodyPr wrap="square">
            <a:spAutoFit/>
          </a:bodyPr>
          <a:lstStyle/>
          <a:p>
            <a:pPr algn="ctr"/>
            <a:r>
              <a:rPr sz="1000" b="0" i="0">
                <a:solidFill>
                  <a:srgbClr val="90B0D0"/>
                </a:solidFill>
              </a:rPr>
              <a:t>Naukri Keywords</a:t>
            </a:r>
          </a:p>
        </p:txBody>
      </p:sp>
      <p:sp>
        <p:nvSpPr>
          <p:cNvPr id="17" name="TextBox 16"/>
          <p:cNvSpPr txBox="1"/>
          <p:nvPr/>
        </p:nvSpPr>
        <p:spPr>
          <a:xfrm>
            <a:off x="8915400" y="4069079"/>
            <a:ext cx="3017520" cy="502920"/>
          </a:xfrm>
          <a:prstGeom prst="rect">
            <a:avLst/>
          </a:prstGeom>
          <a:noFill/>
        </p:spPr>
        <p:txBody>
          <a:bodyPr wrap="square">
            <a:spAutoFit/>
          </a:bodyPr>
          <a:lstStyle/>
          <a:p>
            <a:pPr algn="ctr"/>
            <a:r>
              <a:rPr sz="2800" b="1" i="0">
                <a:solidFill>
                  <a:srgbClr val="FFFFFF"/>
                </a:solidFill>
              </a:rPr>
              <a:t>21</a:t>
            </a:r>
          </a:p>
        </p:txBody>
      </p:sp>
      <p:sp>
        <p:nvSpPr>
          <p:cNvPr id="18" name="TextBox 17"/>
          <p:cNvSpPr txBox="1"/>
          <p:nvPr/>
        </p:nvSpPr>
        <p:spPr>
          <a:xfrm>
            <a:off x="8915400" y="4544567"/>
            <a:ext cx="3017520" cy="320040"/>
          </a:xfrm>
          <a:prstGeom prst="rect">
            <a:avLst/>
          </a:prstGeom>
          <a:noFill/>
        </p:spPr>
        <p:txBody>
          <a:bodyPr wrap="square">
            <a:spAutoFit/>
          </a:bodyPr>
          <a:lstStyle/>
          <a:p>
            <a:pPr algn="ctr"/>
            <a:r>
              <a:rPr sz="1000" b="0" i="0">
                <a:solidFill>
                  <a:srgbClr val="90B0D0"/>
                </a:solidFill>
              </a:rPr>
              <a:t>Topic Clusters</a:t>
            </a:r>
          </a:p>
        </p:txBody>
      </p:sp>
      <p:sp>
        <p:nvSpPr>
          <p:cNvPr id="19" name="TextBox 18"/>
          <p:cNvSpPr txBox="1"/>
          <p:nvPr/>
        </p:nvSpPr>
        <p:spPr>
          <a:xfrm>
            <a:off x="8915400" y="5120640"/>
            <a:ext cx="3017520" cy="502920"/>
          </a:xfrm>
          <a:prstGeom prst="rect">
            <a:avLst/>
          </a:prstGeom>
          <a:noFill/>
        </p:spPr>
        <p:txBody>
          <a:bodyPr wrap="square">
            <a:spAutoFit/>
          </a:bodyPr>
          <a:lstStyle/>
          <a:p>
            <a:pPr algn="ctr"/>
            <a:r>
              <a:rPr sz="2800" b="1" i="0">
                <a:solidFill>
                  <a:srgbClr val="FFFFFF"/>
                </a:solidFill>
              </a:rPr>
              <a:t>948K</a:t>
            </a:r>
          </a:p>
        </p:txBody>
      </p:sp>
      <p:sp>
        <p:nvSpPr>
          <p:cNvPr id="20" name="TextBox 19"/>
          <p:cNvSpPr txBox="1"/>
          <p:nvPr/>
        </p:nvSpPr>
        <p:spPr>
          <a:xfrm>
            <a:off x="8915400" y="5596127"/>
            <a:ext cx="3017520" cy="320040"/>
          </a:xfrm>
          <a:prstGeom prst="rect">
            <a:avLst/>
          </a:prstGeom>
          <a:noFill/>
        </p:spPr>
        <p:txBody>
          <a:bodyPr wrap="square">
            <a:spAutoFit/>
          </a:bodyPr>
          <a:lstStyle/>
          <a:p>
            <a:pPr algn="ctr"/>
            <a:r>
              <a:rPr sz="1000" b="0" i="0">
                <a:solidFill>
                  <a:srgbClr val="90B0D0"/>
                </a:solidFill>
              </a:rPr>
              <a:t>Est. Monthly Visits</a:t>
            </a:r>
          </a:p>
        </p:txBody>
      </p:sp>
      <p:sp>
        <p:nvSpPr>
          <p:cNvPr id="21" name="TextBox 20"/>
          <p:cNvSpPr txBox="1"/>
          <p:nvPr/>
        </p:nvSpPr>
        <p:spPr>
          <a:xfrm>
            <a:off x="457200" y="5577840"/>
            <a:ext cx="7315200" cy="365760"/>
          </a:xfrm>
          <a:prstGeom prst="rect">
            <a:avLst/>
          </a:prstGeom>
          <a:noFill/>
        </p:spPr>
        <p:txBody>
          <a:bodyPr wrap="square">
            <a:spAutoFit/>
          </a:bodyPr>
          <a:lstStyle/>
          <a:p>
            <a:pPr algn="l"/>
            <a:r>
              <a:rPr sz="1100" b="0" i="0">
                <a:solidFill>
                  <a:srgbClr val="7090B0"/>
                </a:solidFill>
              </a:rP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Agenda</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What this report covers</a:t>
            </a:r>
          </a:p>
        </p:txBody>
      </p:sp>
      <p:sp>
        <p:nvSpPr>
          <p:cNvPr id="6" name="Rectangle 5"/>
          <p:cNvSpPr/>
          <p:nvPr/>
        </p:nvSpPr>
        <p:spPr>
          <a:xfrm>
            <a:off x="365760" y="141732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673352"/>
            <a:ext cx="502920" cy="502920"/>
          </a:xfrm>
          <a:prstGeom prst="rect">
            <a:avLst/>
          </a:prstGeom>
          <a:noFill/>
        </p:spPr>
        <p:txBody>
          <a:bodyPr wrap="square">
            <a:spAutoFit/>
          </a:bodyPr>
          <a:lstStyle/>
          <a:p>
            <a:pPr algn="ctr"/>
            <a:r>
              <a:rPr sz="1700" b="1" i="0">
                <a:solidFill>
                  <a:srgbClr val="FFFFFF"/>
                </a:solidFill>
              </a:rPr>
              <a:t>01</a:t>
            </a:r>
          </a:p>
        </p:txBody>
      </p:sp>
      <p:sp>
        <p:nvSpPr>
          <p:cNvPr id="9" name="TextBox 8"/>
          <p:cNvSpPr txBox="1"/>
          <p:nvPr/>
        </p:nvSpPr>
        <p:spPr>
          <a:xfrm>
            <a:off x="960120" y="1508760"/>
            <a:ext cx="4846320" cy="411480"/>
          </a:xfrm>
          <a:prstGeom prst="rect">
            <a:avLst/>
          </a:prstGeom>
          <a:noFill/>
        </p:spPr>
        <p:txBody>
          <a:bodyPr wrap="square">
            <a:spAutoFit/>
          </a:bodyPr>
          <a:lstStyle/>
          <a:p>
            <a:pPr algn="l"/>
            <a:r>
              <a:rPr sz="1300" b="1" i="0">
                <a:solidFill>
                  <a:srgbClr val="1A1A2E"/>
                </a:solidFill>
              </a:rPr>
              <a:t>Keyword Clustering</a:t>
            </a:r>
          </a:p>
        </p:txBody>
      </p:sp>
      <p:sp>
        <p:nvSpPr>
          <p:cNvPr id="10" name="TextBox 9"/>
          <p:cNvSpPr txBox="1"/>
          <p:nvPr/>
        </p:nvSpPr>
        <p:spPr>
          <a:xfrm>
            <a:off x="960120" y="1947672"/>
            <a:ext cx="4846320" cy="411480"/>
          </a:xfrm>
          <a:prstGeom prst="rect">
            <a:avLst/>
          </a:prstGeom>
          <a:noFill/>
        </p:spPr>
        <p:txBody>
          <a:bodyPr wrap="square">
            <a:spAutoFit/>
          </a:bodyPr>
          <a:lstStyle/>
          <a:p>
            <a:pPr algn="l"/>
            <a:r>
              <a:rPr sz="1000" b="0" i="1">
                <a:solidFill>
                  <a:srgbClr val="5A6A85"/>
                </a:solidFill>
              </a:rPr>
              <a:t>21 topic clusters across 68K+ records</a:t>
            </a:r>
          </a:p>
        </p:txBody>
      </p:sp>
      <p:sp>
        <p:nvSpPr>
          <p:cNvPr id="11" name="Rectangle 10"/>
          <p:cNvSpPr/>
          <p:nvPr/>
        </p:nvSpPr>
        <p:spPr>
          <a:xfrm>
            <a:off x="6309360" y="141732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41732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673352"/>
            <a:ext cx="502920" cy="502920"/>
          </a:xfrm>
          <a:prstGeom prst="rect">
            <a:avLst/>
          </a:prstGeom>
          <a:noFill/>
        </p:spPr>
        <p:txBody>
          <a:bodyPr wrap="square">
            <a:spAutoFit/>
          </a:bodyPr>
          <a:lstStyle/>
          <a:p>
            <a:pPr algn="ctr"/>
            <a:r>
              <a:rPr sz="1700" b="1" i="0">
                <a:solidFill>
                  <a:srgbClr val="FFFFFF"/>
                </a:solidFill>
              </a:rPr>
              <a:t>02</a:t>
            </a:r>
          </a:p>
        </p:txBody>
      </p:sp>
      <p:sp>
        <p:nvSpPr>
          <p:cNvPr id="14" name="TextBox 13"/>
          <p:cNvSpPr txBox="1"/>
          <p:nvPr/>
        </p:nvSpPr>
        <p:spPr>
          <a:xfrm>
            <a:off x="6903720" y="1508760"/>
            <a:ext cx="4846320" cy="411480"/>
          </a:xfrm>
          <a:prstGeom prst="rect">
            <a:avLst/>
          </a:prstGeom>
          <a:noFill/>
        </p:spPr>
        <p:txBody>
          <a:bodyPr wrap="square">
            <a:spAutoFit/>
          </a:bodyPr>
          <a:lstStyle/>
          <a:p>
            <a:pPr algn="l"/>
            <a:r>
              <a:rPr sz="1300" b="1" i="0">
                <a:solidFill>
                  <a:srgbClr val="1A1A2E"/>
                </a:solidFill>
              </a:rPr>
              <a:t>Brand Visibility Analysis</a:t>
            </a:r>
          </a:p>
        </p:txBody>
      </p:sp>
      <p:sp>
        <p:nvSpPr>
          <p:cNvPr id="15" name="TextBox 14"/>
          <p:cNvSpPr txBox="1"/>
          <p:nvPr/>
        </p:nvSpPr>
        <p:spPr>
          <a:xfrm>
            <a:off x="6903720" y="1947672"/>
            <a:ext cx="4846320" cy="411480"/>
          </a:xfrm>
          <a:prstGeom prst="rect">
            <a:avLst/>
          </a:prstGeom>
          <a:noFill/>
        </p:spPr>
        <p:txBody>
          <a:bodyPr wrap="square">
            <a:spAutoFit/>
          </a:bodyPr>
          <a:lstStyle/>
          <a:p>
            <a:pPr algn="l"/>
            <a:r>
              <a:rPr sz="1000" b="0" i="1">
                <a:solidFill>
                  <a:srgbClr val="5A6A85"/>
                </a:solidFill>
              </a:rPr>
              <a:t>All 10 brands ranked by estimated traffic</a:t>
            </a:r>
          </a:p>
        </p:txBody>
      </p:sp>
      <p:sp>
        <p:nvSpPr>
          <p:cNvPr id="16" name="Rectangle 15"/>
          <p:cNvSpPr/>
          <p:nvPr/>
        </p:nvSpPr>
        <p:spPr>
          <a:xfrm>
            <a:off x="365760" y="265176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65176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907792"/>
            <a:ext cx="502920" cy="502920"/>
          </a:xfrm>
          <a:prstGeom prst="rect">
            <a:avLst/>
          </a:prstGeom>
          <a:noFill/>
        </p:spPr>
        <p:txBody>
          <a:bodyPr wrap="square">
            <a:spAutoFit/>
          </a:bodyPr>
          <a:lstStyle/>
          <a:p>
            <a:pPr algn="ctr"/>
            <a:r>
              <a:rPr sz="1700" b="1" i="0">
                <a:solidFill>
                  <a:srgbClr val="FFFFFF"/>
                </a:solidFill>
              </a:rPr>
              <a:t>03</a:t>
            </a:r>
          </a:p>
        </p:txBody>
      </p:sp>
      <p:sp>
        <p:nvSpPr>
          <p:cNvPr id="19" name="TextBox 18"/>
          <p:cNvSpPr txBox="1"/>
          <p:nvPr/>
        </p:nvSpPr>
        <p:spPr>
          <a:xfrm>
            <a:off x="960120" y="2743200"/>
            <a:ext cx="4846320" cy="411480"/>
          </a:xfrm>
          <a:prstGeom prst="rect">
            <a:avLst/>
          </a:prstGeom>
          <a:noFill/>
        </p:spPr>
        <p:txBody>
          <a:bodyPr wrap="square">
            <a:spAutoFit/>
          </a:bodyPr>
          <a:lstStyle/>
          <a:p>
            <a:pPr algn="l"/>
            <a:r>
              <a:rPr sz="1300" b="1" i="0">
                <a:solidFill>
                  <a:srgbClr val="1A1A2E"/>
                </a:solidFill>
              </a:rPr>
              <a:t>Naukri Performance Deep-Dive</a:t>
            </a:r>
          </a:p>
        </p:txBody>
      </p:sp>
      <p:sp>
        <p:nvSpPr>
          <p:cNvPr id="20" name="TextBox 19"/>
          <p:cNvSpPr txBox="1"/>
          <p:nvPr/>
        </p:nvSpPr>
        <p:spPr>
          <a:xfrm>
            <a:off x="960120" y="3182112"/>
            <a:ext cx="4846320" cy="411480"/>
          </a:xfrm>
          <a:prstGeom prst="rect">
            <a:avLst/>
          </a:prstGeom>
          <a:noFill/>
        </p:spPr>
        <p:txBody>
          <a:bodyPr wrap="square">
            <a:spAutoFit/>
          </a:bodyPr>
          <a:lstStyle/>
          <a:p>
            <a:pPr algn="l"/>
            <a:r>
              <a:rPr sz="1000" b="0" i="1">
                <a:solidFill>
                  <a:srgbClr val="5A6A85"/>
                </a:solidFill>
              </a:rPr>
              <a:t>Strengths, weaknesses &amp; position buckets</a:t>
            </a:r>
          </a:p>
        </p:txBody>
      </p:sp>
      <p:sp>
        <p:nvSpPr>
          <p:cNvPr id="21" name="Rectangle 20"/>
          <p:cNvSpPr/>
          <p:nvPr/>
        </p:nvSpPr>
        <p:spPr>
          <a:xfrm>
            <a:off x="6309360" y="265176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265176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2907792"/>
            <a:ext cx="502920" cy="502920"/>
          </a:xfrm>
          <a:prstGeom prst="rect">
            <a:avLst/>
          </a:prstGeom>
          <a:noFill/>
        </p:spPr>
        <p:txBody>
          <a:bodyPr wrap="square">
            <a:spAutoFit/>
          </a:bodyPr>
          <a:lstStyle/>
          <a:p>
            <a:pPr algn="ctr"/>
            <a:r>
              <a:rPr sz="1700" b="1" i="0">
                <a:solidFill>
                  <a:srgbClr val="FFFFFF"/>
                </a:solidFill>
              </a:rPr>
              <a:t>04</a:t>
            </a:r>
          </a:p>
        </p:txBody>
      </p:sp>
      <p:sp>
        <p:nvSpPr>
          <p:cNvPr id="24" name="TextBox 23"/>
          <p:cNvSpPr txBox="1"/>
          <p:nvPr/>
        </p:nvSpPr>
        <p:spPr>
          <a:xfrm>
            <a:off x="6903720" y="2743200"/>
            <a:ext cx="4846320" cy="411480"/>
          </a:xfrm>
          <a:prstGeom prst="rect">
            <a:avLst/>
          </a:prstGeom>
          <a:noFill/>
        </p:spPr>
        <p:txBody>
          <a:bodyPr wrap="square">
            <a:spAutoFit/>
          </a:bodyPr>
          <a:lstStyle/>
          <a:p>
            <a:pPr algn="l"/>
            <a:r>
              <a:rPr sz="1300" b="1" i="0">
                <a:solidFill>
                  <a:srgbClr val="1A1A2E"/>
                </a:solidFill>
              </a:rPr>
              <a:t>Competitor Gap Analysis</a:t>
            </a:r>
          </a:p>
        </p:txBody>
      </p:sp>
      <p:sp>
        <p:nvSpPr>
          <p:cNvPr id="25" name="TextBox 24"/>
          <p:cNvSpPr txBox="1"/>
          <p:nvPr/>
        </p:nvSpPr>
        <p:spPr>
          <a:xfrm>
            <a:off x="6903720" y="3182112"/>
            <a:ext cx="4846320" cy="411480"/>
          </a:xfrm>
          <a:prstGeom prst="rect">
            <a:avLst/>
          </a:prstGeom>
          <a:noFill/>
        </p:spPr>
        <p:txBody>
          <a:bodyPr wrap="square">
            <a:spAutoFit/>
          </a:bodyPr>
          <a:lstStyle/>
          <a:p>
            <a:pPr algn="l"/>
            <a:r>
              <a:rPr sz="1000" b="0" i="1">
                <a:solidFill>
                  <a:srgbClr val="5A6A85"/>
                </a:solidFill>
              </a:rPr>
              <a:t>Cluster-by-cluster gap vs market leaders</a:t>
            </a:r>
          </a:p>
        </p:txBody>
      </p:sp>
      <p:sp>
        <p:nvSpPr>
          <p:cNvPr id="26" name="Rectangle 25"/>
          <p:cNvSpPr/>
          <p:nvPr/>
        </p:nvSpPr>
        <p:spPr>
          <a:xfrm>
            <a:off x="365760" y="388620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88620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4142232"/>
            <a:ext cx="502920" cy="502920"/>
          </a:xfrm>
          <a:prstGeom prst="rect">
            <a:avLst/>
          </a:prstGeom>
          <a:noFill/>
        </p:spPr>
        <p:txBody>
          <a:bodyPr wrap="square">
            <a:spAutoFit/>
          </a:bodyPr>
          <a:lstStyle/>
          <a:p>
            <a:pPr algn="ctr"/>
            <a:r>
              <a:rPr sz="1700" b="1" i="0">
                <a:solidFill>
                  <a:srgbClr val="FFFFFF"/>
                </a:solidFill>
              </a:rPr>
              <a:t>05</a:t>
            </a:r>
          </a:p>
        </p:txBody>
      </p:sp>
      <p:sp>
        <p:nvSpPr>
          <p:cNvPr id="29" name="TextBox 28"/>
          <p:cNvSpPr txBox="1"/>
          <p:nvPr/>
        </p:nvSpPr>
        <p:spPr>
          <a:xfrm>
            <a:off x="960120" y="3977639"/>
            <a:ext cx="4846320" cy="411480"/>
          </a:xfrm>
          <a:prstGeom prst="rect">
            <a:avLst/>
          </a:prstGeom>
          <a:noFill/>
        </p:spPr>
        <p:txBody>
          <a:bodyPr wrap="square">
            <a:spAutoFit/>
          </a:bodyPr>
          <a:lstStyle/>
          <a:p>
            <a:pPr algn="l"/>
            <a:r>
              <a:rPr sz="1300" b="1" i="0">
                <a:solidFill>
                  <a:srgbClr val="1A1A2E"/>
                </a:solidFill>
              </a:rPr>
              <a:t>Traffic Opportunity Analysis</a:t>
            </a:r>
          </a:p>
        </p:txBody>
      </p:sp>
      <p:sp>
        <p:nvSpPr>
          <p:cNvPr id="30" name="TextBox 29"/>
          <p:cNvSpPr txBox="1"/>
          <p:nvPr/>
        </p:nvSpPr>
        <p:spPr>
          <a:xfrm>
            <a:off x="960120" y="4416552"/>
            <a:ext cx="4846320" cy="411480"/>
          </a:xfrm>
          <a:prstGeom prst="rect">
            <a:avLst/>
          </a:prstGeom>
          <a:noFill/>
        </p:spPr>
        <p:txBody>
          <a:bodyPr wrap="square">
            <a:spAutoFit/>
          </a:bodyPr>
          <a:lstStyle/>
          <a:p>
            <a:pPr algn="l"/>
            <a:r>
              <a:rPr sz="1000" b="0" i="1">
                <a:solidFill>
                  <a:srgbClr val="5A6A85"/>
                </a:solidFill>
              </a:rPr>
              <a:t>Tier 1, 2 &amp; 3 keyword opportunities</a:t>
            </a:r>
          </a:p>
        </p:txBody>
      </p:sp>
      <p:sp>
        <p:nvSpPr>
          <p:cNvPr id="31" name="Rectangle 30"/>
          <p:cNvSpPr/>
          <p:nvPr/>
        </p:nvSpPr>
        <p:spPr>
          <a:xfrm>
            <a:off x="6309360" y="388620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88620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4142232"/>
            <a:ext cx="502920" cy="502920"/>
          </a:xfrm>
          <a:prstGeom prst="rect">
            <a:avLst/>
          </a:prstGeom>
          <a:noFill/>
        </p:spPr>
        <p:txBody>
          <a:bodyPr wrap="square">
            <a:spAutoFit/>
          </a:bodyPr>
          <a:lstStyle/>
          <a:p>
            <a:pPr algn="ctr"/>
            <a:r>
              <a:rPr sz="1700" b="1" i="0">
                <a:solidFill>
                  <a:srgbClr val="FFFFFF"/>
                </a:solidFill>
              </a:rPr>
              <a:t>06</a:t>
            </a:r>
          </a:p>
        </p:txBody>
      </p:sp>
      <p:sp>
        <p:nvSpPr>
          <p:cNvPr id="34" name="TextBox 33"/>
          <p:cNvSpPr txBox="1"/>
          <p:nvPr/>
        </p:nvSpPr>
        <p:spPr>
          <a:xfrm>
            <a:off x="6903720" y="3977639"/>
            <a:ext cx="4846320" cy="411480"/>
          </a:xfrm>
          <a:prstGeom prst="rect">
            <a:avLst/>
          </a:prstGeom>
          <a:noFill/>
        </p:spPr>
        <p:txBody>
          <a:bodyPr wrap="square">
            <a:spAutoFit/>
          </a:bodyPr>
          <a:lstStyle/>
          <a:p>
            <a:pPr algn="l"/>
            <a:r>
              <a:rPr sz="1300" b="1" i="0">
                <a:solidFill>
                  <a:srgbClr val="1A1A2E"/>
                </a:solidFill>
              </a:rPr>
              <a:t>Content Gap Analysis</a:t>
            </a:r>
          </a:p>
        </p:txBody>
      </p:sp>
      <p:sp>
        <p:nvSpPr>
          <p:cNvPr id="35" name="TextBox 34"/>
          <p:cNvSpPr txBox="1"/>
          <p:nvPr/>
        </p:nvSpPr>
        <p:spPr>
          <a:xfrm>
            <a:off x="6903720" y="4416552"/>
            <a:ext cx="4846320" cy="411480"/>
          </a:xfrm>
          <a:prstGeom prst="rect">
            <a:avLst/>
          </a:prstGeom>
          <a:noFill/>
        </p:spPr>
        <p:txBody>
          <a:bodyPr wrap="square">
            <a:spAutoFit/>
          </a:bodyPr>
          <a:lstStyle/>
          <a:p>
            <a:pPr algn="l"/>
            <a:r>
              <a:rPr sz="1000" b="0" i="1">
                <a:solidFill>
                  <a:srgbClr val="5A6A85"/>
                </a:solidFill>
              </a:rPr>
              <a:t>Topics competitors own that Naukri doesn't</a:t>
            </a:r>
          </a:p>
        </p:txBody>
      </p:sp>
      <p:sp>
        <p:nvSpPr>
          <p:cNvPr id="36" name="Rectangle 35"/>
          <p:cNvSpPr/>
          <p:nvPr/>
        </p:nvSpPr>
        <p:spPr>
          <a:xfrm>
            <a:off x="365760" y="512064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512064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5376672"/>
            <a:ext cx="502920" cy="502920"/>
          </a:xfrm>
          <a:prstGeom prst="rect">
            <a:avLst/>
          </a:prstGeom>
          <a:noFill/>
        </p:spPr>
        <p:txBody>
          <a:bodyPr wrap="square">
            <a:spAutoFit/>
          </a:bodyPr>
          <a:lstStyle/>
          <a:p>
            <a:pPr algn="ctr"/>
            <a:r>
              <a:rPr sz="1700" b="1" i="0">
                <a:solidFill>
                  <a:srgbClr val="FFFFFF"/>
                </a:solidFill>
              </a:rPr>
              <a:t>07</a:t>
            </a:r>
          </a:p>
        </p:txBody>
      </p:sp>
      <p:sp>
        <p:nvSpPr>
          <p:cNvPr id="39" name="TextBox 38"/>
          <p:cNvSpPr txBox="1"/>
          <p:nvPr/>
        </p:nvSpPr>
        <p:spPr>
          <a:xfrm>
            <a:off x="960120" y="5212080"/>
            <a:ext cx="4846320" cy="411480"/>
          </a:xfrm>
          <a:prstGeom prst="rect">
            <a:avLst/>
          </a:prstGeom>
          <a:noFill/>
        </p:spPr>
        <p:txBody>
          <a:bodyPr wrap="square">
            <a:spAutoFit/>
          </a:bodyPr>
          <a:lstStyle/>
          <a:p>
            <a:pPr algn="l"/>
            <a:r>
              <a:rPr sz="1300" b="1" i="0">
                <a:solidFill>
                  <a:srgbClr val="1A1A2E"/>
                </a:solidFill>
              </a:rPr>
              <a:t>URL-Level Analysis</a:t>
            </a:r>
          </a:p>
        </p:txBody>
      </p:sp>
      <p:sp>
        <p:nvSpPr>
          <p:cNvPr id="40" name="TextBox 39"/>
          <p:cNvSpPr txBox="1"/>
          <p:nvPr/>
        </p:nvSpPr>
        <p:spPr>
          <a:xfrm>
            <a:off x="960120" y="5650992"/>
            <a:ext cx="4846320" cy="411480"/>
          </a:xfrm>
          <a:prstGeom prst="rect">
            <a:avLst/>
          </a:prstGeom>
          <a:noFill/>
        </p:spPr>
        <p:txBody>
          <a:bodyPr wrap="square">
            <a:spAutoFit/>
          </a:bodyPr>
          <a:lstStyle/>
          <a:p>
            <a:pPr algn="l"/>
            <a:r>
              <a:rPr sz="1000" b="0" i="1">
                <a:solidFill>
                  <a:srgbClr val="5A6A85"/>
                </a:solidFill>
              </a:rPr>
              <a:t>Best pages, cannibalization &amp; fixes</a:t>
            </a:r>
          </a:p>
        </p:txBody>
      </p:sp>
      <p:sp>
        <p:nvSpPr>
          <p:cNvPr id="41" name="Rectangle 40"/>
          <p:cNvSpPr/>
          <p:nvPr/>
        </p:nvSpPr>
        <p:spPr>
          <a:xfrm>
            <a:off x="6309360" y="5120640"/>
            <a:ext cx="5577840" cy="10789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5120640"/>
            <a:ext cx="502920" cy="107899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376672"/>
            <a:ext cx="502920" cy="502920"/>
          </a:xfrm>
          <a:prstGeom prst="rect">
            <a:avLst/>
          </a:prstGeom>
          <a:noFill/>
        </p:spPr>
        <p:txBody>
          <a:bodyPr wrap="square">
            <a:spAutoFit/>
          </a:bodyPr>
          <a:lstStyle/>
          <a:p>
            <a:pPr algn="ctr"/>
            <a:r>
              <a:rPr sz="1700" b="1" i="0">
                <a:solidFill>
                  <a:srgbClr val="FFFFFF"/>
                </a:solidFill>
              </a:rPr>
              <a:t>08</a:t>
            </a:r>
          </a:p>
        </p:txBody>
      </p:sp>
      <p:sp>
        <p:nvSpPr>
          <p:cNvPr id="44" name="TextBox 43"/>
          <p:cNvSpPr txBox="1"/>
          <p:nvPr/>
        </p:nvSpPr>
        <p:spPr>
          <a:xfrm>
            <a:off x="6903720" y="5212080"/>
            <a:ext cx="4846320" cy="411480"/>
          </a:xfrm>
          <a:prstGeom prst="rect">
            <a:avLst/>
          </a:prstGeom>
          <a:noFill/>
        </p:spPr>
        <p:txBody>
          <a:bodyPr wrap="square">
            <a:spAutoFit/>
          </a:bodyPr>
          <a:lstStyle/>
          <a:p>
            <a:pPr algn="l"/>
            <a:r>
              <a:rPr sz="1300" b="1" i="0">
                <a:solidFill>
                  <a:srgbClr val="1A1A2E"/>
                </a:solidFill>
              </a:rPr>
              <a:t>Executive Summary</a:t>
            </a:r>
          </a:p>
        </p:txBody>
      </p:sp>
      <p:sp>
        <p:nvSpPr>
          <p:cNvPr id="45" name="TextBox 44"/>
          <p:cNvSpPr txBox="1"/>
          <p:nvPr/>
        </p:nvSpPr>
        <p:spPr>
          <a:xfrm>
            <a:off x="6903720" y="5650992"/>
            <a:ext cx="4846320" cy="411480"/>
          </a:xfrm>
          <a:prstGeom prst="rect">
            <a:avLst/>
          </a:prstGeom>
          <a:noFill/>
        </p:spPr>
        <p:txBody>
          <a:bodyPr wrap="square">
            <a:spAutoFit/>
          </a:bodyPr>
          <a:lstStyle/>
          <a:p>
            <a:pPr algn="l"/>
            <a:r>
              <a:rPr sz="1000" b="0" i="1">
                <a:solidFill>
                  <a:srgbClr val="5A6A85"/>
                </a:solidFill>
              </a:rPr>
              <a:t>Top 20 opportunities &amp; 6-month forecast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01 — Keyword Clustering</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21 topic clusters | 79,739 total unique keywords</a:t>
            </a:r>
          </a:p>
        </p:txBody>
      </p:sp>
      <p:sp>
        <p:nvSpPr>
          <p:cNvPr id="6" name="Rectangle 5"/>
          <p:cNvSpPr/>
          <p:nvPr/>
        </p:nvSpPr>
        <p:spPr>
          <a:xfrm>
            <a:off x="320040" y="1325880"/>
            <a:ext cx="292608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62456"/>
            <a:ext cx="2834640" cy="256032"/>
          </a:xfrm>
          <a:prstGeom prst="rect">
            <a:avLst/>
          </a:prstGeom>
          <a:noFill/>
        </p:spPr>
        <p:txBody>
          <a:bodyPr wrap="square">
            <a:spAutoFit/>
          </a:bodyPr>
          <a:lstStyle/>
          <a:p>
            <a:pPr algn="l"/>
            <a:r>
              <a:rPr sz="900" b="1" i="0">
                <a:solidFill>
                  <a:srgbClr val="FFFFFF"/>
                </a:solidFill>
              </a:rPr>
              <a:t>Cluster</a:t>
            </a:r>
          </a:p>
        </p:txBody>
      </p:sp>
      <p:sp>
        <p:nvSpPr>
          <p:cNvPr id="8" name="Rectangle 7"/>
          <p:cNvSpPr/>
          <p:nvPr/>
        </p:nvSpPr>
        <p:spPr>
          <a:xfrm>
            <a:off x="3246120" y="1325880"/>
            <a:ext cx="128016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10128" y="1362456"/>
            <a:ext cx="1188719" cy="256032"/>
          </a:xfrm>
          <a:prstGeom prst="rect">
            <a:avLst/>
          </a:prstGeom>
          <a:noFill/>
        </p:spPr>
        <p:txBody>
          <a:bodyPr wrap="square">
            <a:spAutoFit/>
          </a:bodyPr>
          <a:lstStyle/>
          <a:p>
            <a:pPr algn="ctr"/>
            <a:r>
              <a:rPr sz="900" b="1" i="0">
                <a:solidFill>
                  <a:srgbClr val="FFFFFF"/>
                </a:solidFill>
              </a:rPr>
              <a:t>Unique KWs</a:t>
            </a:r>
          </a:p>
        </p:txBody>
      </p:sp>
      <p:sp>
        <p:nvSpPr>
          <p:cNvPr id="10" name="Rectangle 9"/>
          <p:cNvSpPr/>
          <p:nvPr/>
        </p:nvSpPr>
        <p:spPr>
          <a:xfrm>
            <a:off x="4526280" y="1325880"/>
            <a:ext cx="164592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362456"/>
            <a:ext cx="1554480" cy="256032"/>
          </a:xfrm>
          <a:prstGeom prst="rect">
            <a:avLst/>
          </a:prstGeom>
          <a:noFill/>
        </p:spPr>
        <p:txBody>
          <a:bodyPr wrap="square">
            <a:spAutoFit/>
          </a:bodyPr>
          <a:lstStyle/>
          <a:p>
            <a:pPr algn="ctr"/>
            <a:r>
              <a:rPr sz="900" b="1" i="0">
                <a:solidFill>
                  <a:srgbClr val="FFFFFF"/>
                </a:solidFill>
              </a:rPr>
              <a:t>Search Volume</a:t>
            </a:r>
          </a:p>
        </p:txBody>
      </p:sp>
      <p:sp>
        <p:nvSpPr>
          <p:cNvPr id="12" name="Rectangle 11"/>
          <p:cNvSpPr/>
          <p:nvPr/>
        </p:nvSpPr>
        <p:spPr>
          <a:xfrm>
            <a:off x="6172200" y="1325880"/>
            <a:ext cx="155448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1362456"/>
            <a:ext cx="1463039" cy="256032"/>
          </a:xfrm>
          <a:prstGeom prst="rect">
            <a:avLst/>
          </a:prstGeom>
          <a:noFill/>
        </p:spPr>
        <p:txBody>
          <a:bodyPr wrap="square">
            <a:spAutoFit/>
          </a:bodyPr>
          <a:lstStyle/>
          <a:p>
            <a:pPr algn="ctr"/>
            <a:r>
              <a:rPr sz="900" b="1" i="0">
                <a:solidFill>
                  <a:srgbClr val="FFFFFF"/>
                </a:solidFill>
              </a:rPr>
              <a:t>Naukri Avg Pos</a:t>
            </a:r>
          </a:p>
        </p:txBody>
      </p:sp>
      <p:sp>
        <p:nvSpPr>
          <p:cNvPr id="14" name="Rectangle 13"/>
          <p:cNvSpPr/>
          <p:nvPr/>
        </p:nvSpPr>
        <p:spPr>
          <a:xfrm>
            <a:off x="7726679" y="1325880"/>
            <a:ext cx="137160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0688" y="1362456"/>
            <a:ext cx="1280160" cy="256032"/>
          </a:xfrm>
          <a:prstGeom prst="rect">
            <a:avLst/>
          </a:prstGeom>
          <a:noFill/>
        </p:spPr>
        <p:txBody>
          <a:bodyPr wrap="square">
            <a:spAutoFit/>
          </a:bodyPr>
          <a:lstStyle/>
          <a:p>
            <a:pPr algn="ctr"/>
            <a:r>
              <a:rPr sz="900" b="1" i="0">
                <a:solidFill>
                  <a:srgbClr val="FFFFFF"/>
                </a:solidFill>
              </a:rPr>
              <a:t>Naukri Rank</a:t>
            </a:r>
          </a:p>
        </p:txBody>
      </p:sp>
      <p:sp>
        <p:nvSpPr>
          <p:cNvPr id="16" name="Rectangle 15"/>
          <p:cNvSpPr/>
          <p:nvPr/>
        </p:nvSpPr>
        <p:spPr>
          <a:xfrm>
            <a:off x="320040" y="162763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655064"/>
            <a:ext cx="2834640" cy="233172"/>
          </a:xfrm>
          <a:prstGeom prst="rect">
            <a:avLst/>
          </a:prstGeom>
          <a:noFill/>
        </p:spPr>
        <p:txBody>
          <a:bodyPr wrap="square">
            <a:spAutoFit/>
          </a:bodyPr>
          <a:lstStyle/>
          <a:p>
            <a:pPr algn="l"/>
            <a:r>
              <a:rPr sz="850" b="0" i="0">
                <a:solidFill>
                  <a:srgbClr val="1A1A2E"/>
                </a:solidFill>
              </a:rPr>
              <a:t>Resume &amp; CV</a:t>
            </a:r>
          </a:p>
        </p:txBody>
      </p:sp>
      <p:sp>
        <p:nvSpPr>
          <p:cNvPr id="18" name="Rectangle 17"/>
          <p:cNvSpPr/>
          <p:nvPr/>
        </p:nvSpPr>
        <p:spPr>
          <a:xfrm>
            <a:off x="3246120" y="162763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1655064"/>
            <a:ext cx="1188719" cy="233172"/>
          </a:xfrm>
          <a:prstGeom prst="rect">
            <a:avLst/>
          </a:prstGeom>
          <a:noFill/>
        </p:spPr>
        <p:txBody>
          <a:bodyPr wrap="square">
            <a:spAutoFit/>
          </a:bodyPr>
          <a:lstStyle/>
          <a:p>
            <a:pPr algn="ctr"/>
            <a:r>
              <a:rPr sz="850" b="0" i="0">
                <a:solidFill>
                  <a:srgbClr val="1A1A2E"/>
                </a:solidFill>
              </a:rPr>
              <a:t>6,378</a:t>
            </a:r>
          </a:p>
        </p:txBody>
      </p:sp>
      <p:sp>
        <p:nvSpPr>
          <p:cNvPr id="20" name="Rectangle 19"/>
          <p:cNvSpPr/>
          <p:nvPr/>
        </p:nvSpPr>
        <p:spPr>
          <a:xfrm>
            <a:off x="4526280" y="162763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0288" y="1655064"/>
            <a:ext cx="1554480" cy="233172"/>
          </a:xfrm>
          <a:prstGeom prst="rect">
            <a:avLst/>
          </a:prstGeom>
          <a:noFill/>
        </p:spPr>
        <p:txBody>
          <a:bodyPr wrap="square">
            <a:spAutoFit/>
          </a:bodyPr>
          <a:lstStyle/>
          <a:p>
            <a:pPr algn="ctr"/>
            <a:r>
              <a:rPr sz="850" b="0" i="0">
                <a:solidFill>
                  <a:srgbClr val="1A1A2E"/>
                </a:solidFill>
              </a:rPr>
              <a:t>5,328,150</a:t>
            </a:r>
          </a:p>
        </p:txBody>
      </p:sp>
      <p:sp>
        <p:nvSpPr>
          <p:cNvPr id="22" name="Rectangle 21"/>
          <p:cNvSpPr/>
          <p:nvPr/>
        </p:nvSpPr>
        <p:spPr>
          <a:xfrm>
            <a:off x="6172200" y="162763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6208" y="1655064"/>
            <a:ext cx="1463039" cy="233172"/>
          </a:xfrm>
          <a:prstGeom prst="rect">
            <a:avLst/>
          </a:prstGeom>
          <a:noFill/>
        </p:spPr>
        <p:txBody>
          <a:bodyPr wrap="square">
            <a:spAutoFit/>
          </a:bodyPr>
          <a:lstStyle/>
          <a:p>
            <a:pPr algn="ctr"/>
            <a:r>
              <a:rPr sz="850" b="0" i="0">
                <a:solidFill>
                  <a:srgbClr val="1A1A2E"/>
                </a:solidFill>
              </a:rPr>
              <a:t>15.2</a:t>
            </a:r>
          </a:p>
        </p:txBody>
      </p:sp>
      <p:sp>
        <p:nvSpPr>
          <p:cNvPr id="24" name="Rectangle 23"/>
          <p:cNvSpPr/>
          <p:nvPr/>
        </p:nvSpPr>
        <p:spPr>
          <a:xfrm>
            <a:off x="7726679" y="162763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90688" y="1655064"/>
            <a:ext cx="1280160" cy="233172"/>
          </a:xfrm>
          <a:prstGeom prst="rect">
            <a:avLst/>
          </a:prstGeom>
          <a:noFill/>
        </p:spPr>
        <p:txBody>
          <a:bodyPr wrap="square">
            <a:spAutoFit/>
          </a:bodyPr>
          <a:lstStyle/>
          <a:p>
            <a:pPr algn="ctr"/>
            <a:r>
              <a:rPr sz="850" b="0" i="0">
                <a:solidFill>
                  <a:srgbClr val="1A1A2E"/>
                </a:solidFill>
              </a:rPr>
              <a:t>#4</a:t>
            </a:r>
          </a:p>
        </p:txBody>
      </p:sp>
      <p:sp>
        <p:nvSpPr>
          <p:cNvPr id="26" name="Rectangle 25"/>
          <p:cNvSpPr/>
          <p:nvPr/>
        </p:nvSpPr>
        <p:spPr>
          <a:xfrm>
            <a:off x="320040" y="1901952"/>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1929384"/>
            <a:ext cx="2834640" cy="233172"/>
          </a:xfrm>
          <a:prstGeom prst="rect">
            <a:avLst/>
          </a:prstGeom>
          <a:noFill/>
        </p:spPr>
        <p:txBody>
          <a:bodyPr wrap="square">
            <a:spAutoFit/>
          </a:bodyPr>
          <a:lstStyle/>
          <a:p>
            <a:pPr algn="l"/>
            <a:r>
              <a:rPr sz="850" b="0" i="0">
                <a:solidFill>
                  <a:srgbClr val="1A1A2E"/>
                </a:solidFill>
              </a:rPr>
              <a:t>Definitions &amp; Meanings</a:t>
            </a:r>
          </a:p>
        </p:txBody>
      </p:sp>
      <p:sp>
        <p:nvSpPr>
          <p:cNvPr id="28" name="Rectangle 27"/>
          <p:cNvSpPr/>
          <p:nvPr/>
        </p:nvSpPr>
        <p:spPr>
          <a:xfrm>
            <a:off x="3246120" y="1901952"/>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10128" y="1929384"/>
            <a:ext cx="1188719" cy="233172"/>
          </a:xfrm>
          <a:prstGeom prst="rect">
            <a:avLst/>
          </a:prstGeom>
          <a:noFill/>
        </p:spPr>
        <p:txBody>
          <a:bodyPr wrap="square">
            <a:spAutoFit/>
          </a:bodyPr>
          <a:lstStyle/>
          <a:p>
            <a:pPr algn="ctr"/>
            <a:r>
              <a:rPr sz="850" b="0" i="0">
                <a:solidFill>
                  <a:srgbClr val="1A1A2E"/>
                </a:solidFill>
              </a:rPr>
              <a:t>3,123</a:t>
            </a:r>
          </a:p>
        </p:txBody>
      </p:sp>
      <p:sp>
        <p:nvSpPr>
          <p:cNvPr id="30" name="Rectangle 29"/>
          <p:cNvSpPr/>
          <p:nvPr/>
        </p:nvSpPr>
        <p:spPr>
          <a:xfrm>
            <a:off x="4526280" y="1901952"/>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0288" y="1929384"/>
            <a:ext cx="1554480" cy="233172"/>
          </a:xfrm>
          <a:prstGeom prst="rect">
            <a:avLst/>
          </a:prstGeom>
          <a:noFill/>
        </p:spPr>
        <p:txBody>
          <a:bodyPr wrap="square">
            <a:spAutoFit/>
          </a:bodyPr>
          <a:lstStyle/>
          <a:p>
            <a:pPr algn="ctr"/>
            <a:r>
              <a:rPr sz="850" b="0" i="0">
                <a:solidFill>
                  <a:srgbClr val="1A1A2E"/>
                </a:solidFill>
              </a:rPr>
              <a:t>3,464,460</a:t>
            </a:r>
          </a:p>
        </p:txBody>
      </p:sp>
      <p:sp>
        <p:nvSpPr>
          <p:cNvPr id="32" name="Rectangle 31"/>
          <p:cNvSpPr/>
          <p:nvPr/>
        </p:nvSpPr>
        <p:spPr>
          <a:xfrm>
            <a:off x="6172200" y="1901952"/>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1929384"/>
            <a:ext cx="1463039" cy="233172"/>
          </a:xfrm>
          <a:prstGeom prst="rect">
            <a:avLst/>
          </a:prstGeom>
          <a:noFill/>
        </p:spPr>
        <p:txBody>
          <a:bodyPr wrap="square">
            <a:spAutoFit/>
          </a:bodyPr>
          <a:lstStyle/>
          <a:p>
            <a:pPr algn="ctr"/>
            <a:r>
              <a:rPr sz="850" b="0" i="0">
                <a:solidFill>
                  <a:srgbClr val="1A1A2E"/>
                </a:solidFill>
              </a:rPr>
              <a:t>15.0</a:t>
            </a:r>
          </a:p>
        </p:txBody>
      </p:sp>
      <p:sp>
        <p:nvSpPr>
          <p:cNvPr id="34" name="Rectangle 33"/>
          <p:cNvSpPr/>
          <p:nvPr/>
        </p:nvSpPr>
        <p:spPr>
          <a:xfrm>
            <a:off x="7726679" y="1901952"/>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90688" y="1929384"/>
            <a:ext cx="1280160" cy="233172"/>
          </a:xfrm>
          <a:prstGeom prst="rect">
            <a:avLst/>
          </a:prstGeom>
          <a:noFill/>
        </p:spPr>
        <p:txBody>
          <a:bodyPr wrap="square">
            <a:spAutoFit/>
          </a:bodyPr>
          <a:lstStyle/>
          <a:p>
            <a:pPr algn="ctr"/>
            <a:r>
              <a:rPr sz="850" b="0" i="0">
                <a:solidFill>
                  <a:srgbClr val="1A1A2E"/>
                </a:solidFill>
              </a:rPr>
              <a:t>#3</a:t>
            </a:r>
          </a:p>
        </p:txBody>
      </p:sp>
      <p:sp>
        <p:nvSpPr>
          <p:cNvPr id="36" name="Rectangle 35"/>
          <p:cNvSpPr/>
          <p:nvPr/>
        </p:nvSpPr>
        <p:spPr>
          <a:xfrm>
            <a:off x="320040" y="217627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2203703"/>
            <a:ext cx="2834640" cy="233172"/>
          </a:xfrm>
          <a:prstGeom prst="rect">
            <a:avLst/>
          </a:prstGeom>
          <a:noFill/>
        </p:spPr>
        <p:txBody>
          <a:bodyPr wrap="square">
            <a:spAutoFit/>
          </a:bodyPr>
          <a:lstStyle/>
          <a:p>
            <a:pPr algn="l"/>
            <a:r>
              <a:rPr sz="850" b="0" i="0">
                <a:solidFill>
                  <a:srgbClr val="1A1A2E"/>
                </a:solidFill>
              </a:rPr>
              <a:t>Salary &amp; Compensation</a:t>
            </a:r>
          </a:p>
        </p:txBody>
      </p:sp>
      <p:sp>
        <p:nvSpPr>
          <p:cNvPr id="38" name="Rectangle 37"/>
          <p:cNvSpPr/>
          <p:nvPr/>
        </p:nvSpPr>
        <p:spPr>
          <a:xfrm>
            <a:off x="3246120" y="217627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10128" y="2203703"/>
            <a:ext cx="1188719" cy="233172"/>
          </a:xfrm>
          <a:prstGeom prst="rect">
            <a:avLst/>
          </a:prstGeom>
          <a:noFill/>
        </p:spPr>
        <p:txBody>
          <a:bodyPr wrap="square">
            <a:spAutoFit/>
          </a:bodyPr>
          <a:lstStyle/>
          <a:p>
            <a:pPr algn="ctr"/>
            <a:r>
              <a:rPr sz="850" b="0" i="0">
                <a:solidFill>
                  <a:srgbClr val="1A1A2E"/>
                </a:solidFill>
              </a:rPr>
              <a:t>2,472</a:t>
            </a:r>
          </a:p>
        </p:txBody>
      </p:sp>
      <p:sp>
        <p:nvSpPr>
          <p:cNvPr id="40" name="Rectangle 39"/>
          <p:cNvSpPr/>
          <p:nvPr/>
        </p:nvSpPr>
        <p:spPr>
          <a:xfrm>
            <a:off x="4526280" y="217627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90288" y="2203703"/>
            <a:ext cx="1554480" cy="233172"/>
          </a:xfrm>
          <a:prstGeom prst="rect">
            <a:avLst/>
          </a:prstGeom>
          <a:noFill/>
        </p:spPr>
        <p:txBody>
          <a:bodyPr wrap="square">
            <a:spAutoFit/>
          </a:bodyPr>
          <a:lstStyle/>
          <a:p>
            <a:pPr algn="ctr"/>
            <a:r>
              <a:rPr sz="850" b="0" i="0">
                <a:solidFill>
                  <a:srgbClr val="1A1A2E"/>
                </a:solidFill>
              </a:rPr>
              <a:t>2,662,260</a:t>
            </a:r>
          </a:p>
        </p:txBody>
      </p:sp>
      <p:sp>
        <p:nvSpPr>
          <p:cNvPr id="42" name="Rectangle 41"/>
          <p:cNvSpPr/>
          <p:nvPr/>
        </p:nvSpPr>
        <p:spPr>
          <a:xfrm>
            <a:off x="6172200" y="217627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36208" y="2203703"/>
            <a:ext cx="1463039" cy="233172"/>
          </a:xfrm>
          <a:prstGeom prst="rect">
            <a:avLst/>
          </a:prstGeom>
          <a:noFill/>
        </p:spPr>
        <p:txBody>
          <a:bodyPr wrap="square">
            <a:spAutoFit/>
          </a:bodyPr>
          <a:lstStyle/>
          <a:p>
            <a:pPr algn="ctr"/>
            <a:r>
              <a:rPr sz="850" b="0" i="0">
                <a:solidFill>
                  <a:srgbClr val="1A1A2E"/>
                </a:solidFill>
              </a:rPr>
              <a:t>16.3</a:t>
            </a:r>
          </a:p>
        </p:txBody>
      </p:sp>
      <p:sp>
        <p:nvSpPr>
          <p:cNvPr id="44" name="Rectangle 43"/>
          <p:cNvSpPr/>
          <p:nvPr/>
        </p:nvSpPr>
        <p:spPr>
          <a:xfrm>
            <a:off x="7726679" y="217627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90688" y="2203703"/>
            <a:ext cx="1280160" cy="233172"/>
          </a:xfrm>
          <a:prstGeom prst="rect">
            <a:avLst/>
          </a:prstGeom>
          <a:noFill/>
        </p:spPr>
        <p:txBody>
          <a:bodyPr wrap="square">
            <a:spAutoFit/>
          </a:bodyPr>
          <a:lstStyle/>
          <a:p>
            <a:pPr algn="ctr"/>
            <a:r>
              <a:rPr sz="850" b="0" i="0">
                <a:solidFill>
                  <a:srgbClr val="1A1A2E"/>
                </a:solidFill>
              </a:rPr>
              <a:t>#3</a:t>
            </a:r>
          </a:p>
        </p:txBody>
      </p:sp>
      <p:sp>
        <p:nvSpPr>
          <p:cNvPr id="46" name="Rectangle 45"/>
          <p:cNvSpPr/>
          <p:nvPr/>
        </p:nvSpPr>
        <p:spPr>
          <a:xfrm>
            <a:off x="320040" y="2450591"/>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8" y="2478023"/>
            <a:ext cx="2834640" cy="233172"/>
          </a:xfrm>
          <a:prstGeom prst="rect">
            <a:avLst/>
          </a:prstGeom>
          <a:noFill/>
        </p:spPr>
        <p:txBody>
          <a:bodyPr wrap="square">
            <a:spAutoFit/>
          </a:bodyPr>
          <a:lstStyle/>
          <a:p>
            <a:pPr algn="l"/>
            <a:r>
              <a:rPr sz="850" b="0" i="0">
                <a:solidFill>
                  <a:srgbClr val="1A1A2E"/>
                </a:solidFill>
              </a:rPr>
              <a:t>Full Forms</a:t>
            </a:r>
          </a:p>
        </p:txBody>
      </p:sp>
      <p:sp>
        <p:nvSpPr>
          <p:cNvPr id="48" name="Rectangle 47"/>
          <p:cNvSpPr/>
          <p:nvPr/>
        </p:nvSpPr>
        <p:spPr>
          <a:xfrm>
            <a:off x="3246120" y="2450591"/>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10128" y="2478023"/>
            <a:ext cx="1188719" cy="233172"/>
          </a:xfrm>
          <a:prstGeom prst="rect">
            <a:avLst/>
          </a:prstGeom>
          <a:noFill/>
        </p:spPr>
        <p:txBody>
          <a:bodyPr wrap="square">
            <a:spAutoFit/>
          </a:bodyPr>
          <a:lstStyle/>
          <a:p>
            <a:pPr algn="ctr"/>
            <a:r>
              <a:rPr sz="850" b="0" i="0">
                <a:solidFill>
                  <a:srgbClr val="1A1A2E"/>
                </a:solidFill>
              </a:rPr>
              <a:t>482</a:t>
            </a:r>
          </a:p>
        </p:txBody>
      </p:sp>
      <p:sp>
        <p:nvSpPr>
          <p:cNvPr id="50" name="Rectangle 49"/>
          <p:cNvSpPr/>
          <p:nvPr/>
        </p:nvSpPr>
        <p:spPr>
          <a:xfrm>
            <a:off x="4526280" y="2450591"/>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90288" y="2478023"/>
            <a:ext cx="1554480" cy="233172"/>
          </a:xfrm>
          <a:prstGeom prst="rect">
            <a:avLst/>
          </a:prstGeom>
          <a:noFill/>
        </p:spPr>
        <p:txBody>
          <a:bodyPr wrap="square">
            <a:spAutoFit/>
          </a:bodyPr>
          <a:lstStyle/>
          <a:p>
            <a:pPr algn="ctr"/>
            <a:r>
              <a:rPr sz="850" b="0" i="0">
                <a:solidFill>
                  <a:srgbClr val="1A1A2E"/>
                </a:solidFill>
              </a:rPr>
              <a:t>2,464,580</a:t>
            </a:r>
          </a:p>
        </p:txBody>
      </p:sp>
      <p:sp>
        <p:nvSpPr>
          <p:cNvPr id="52" name="Rectangle 51"/>
          <p:cNvSpPr/>
          <p:nvPr/>
        </p:nvSpPr>
        <p:spPr>
          <a:xfrm>
            <a:off x="6172200" y="2450591"/>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36208" y="2478023"/>
            <a:ext cx="1463039" cy="233172"/>
          </a:xfrm>
          <a:prstGeom prst="rect">
            <a:avLst/>
          </a:prstGeom>
          <a:noFill/>
        </p:spPr>
        <p:txBody>
          <a:bodyPr wrap="square">
            <a:spAutoFit/>
          </a:bodyPr>
          <a:lstStyle/>
          <a:p>
            <a:pPr algn="ctr"/>
            <a:r>
              <a:rPr sz="850" b="0" i="0">
                <a:solidFill>
                  <a:srgbClr val="1A1A2E"/>
                </a:solidFill>
              </a:rPr>
              <a:t>13.3</a:t>
            </a:r>
          </a:p>
        </p:txBody>
      </p:sp>
      <p:sp>
        <p:nvSpPr>
          <p:cNvPr id="54" name="Rectangle 53"/>
          <p:cNvSpPr/>
          <p:nvPr/>
        </p:nvSpPr>
        <p:spPr>
          <a:xfrm>
            <a:off x="7726679" y="2450591"/>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90688" y="2478023"/>
            <a:ext cx="1280160" cy="233172"/>
          </a:xfrm>
          <a:prstGeom prst="rect">
            <a:avLst/>
          </a:prstGeom>
          <a:noFill/>
        </p:spPr>
        <p:txBody>
          <a:bodyPr wrap="square">
            <a:spAutoFit/>
          </a:bodyPr>
          <a:lstStyle/>
          <a:p>
            <a:pPr algn="ctr"/>
            <a:r>
              <a:rPr sz="850" b="0" i="0">
                <a:solidFill>
                  <a:srgbClr val="1A1A2E"/>
                </a:solidFill>
              </a:rPr>
              <a:t>#1 ★</a:t>
            </a:r>
          </a:p>
        </p:txBody>
      </p:sp>
      <p:sp>
        <p:nvSpPr>
          <p:cNvPr id="56" name="Rectangle 55"/>
          <p:cNvSpPr/>
          <p:nvPr/>
        </p:nvSpPr>
        <p:spPr>
          <a:xfrm>
            <a:off x="320040" y="272491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4048" y="2752344"/>
            <a:ext cx="2834640" cy="233172"/>
          </a:xfrm>
          <a:prstGeom prst="rect">
            <a:avLst/>
          </a:prstGeom>
          <a:noFill/>
        </p:spPr>
        <p:txBody>
          <a:bodyPr wrap="square">
            <a:spAutoFit/>
          </a:bodyPr>
          <a:lstStyle/>
          <a:p>
            <a:pPr algn="l"/>
            <a:r>
              <a:rPr sz="850" b="0" i="0">
                <a:solidFill>
                  <a:srgbClr val="1A1A2E"/>
                </a:solidFill>
              </a:rPr>
              <a:t>Interview Prep</a:t>
            </a:r>
          </a:p>
        </p:txBody>
      </p:sp>
      <p:sp>
        <p:nvSpPr>
          <p:cNvPr id="58" name="Rectangle 57"/>
          <p:cNvSpPr/>
          <p:nvPr/>
        </p:nvSpPr>
        <p:spPr>
          <a:xfrm>
            <a:off x="3246120" y="272491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10128" y="2752344"/>
            <a:ext cx="1188719" cy="233172"/>
          </a:xfrm>
          <a:prstGeom prst="rect">
            <a:avLst/>
          </a:prstGeom>
          <a:noFill/>
        </p:spPr>
        <p:txBody>
          <a:bodyPr wrap="square">
            <a:spAutoFit/>
          </a:bodyPr>
          <a:lstStyle/>
          <a:p>
            <a:pPr algn="ctr"/>
            <a:r>
              <a:rPr sz="850" b="0" i="0">
                <a:solidFill>
                  <a:srgbClr val="1A1A2E"/>
                </a:solidFill>
              </a:rPr>
              <a:t>2,999</a:t>
            </a:r>
          </a:p>
        </p:txBody>
      </p:sp>
      <p:sp>
        <p:nvSpPr>
          <p:cNvPr id="60" name="Rectangle 59"/>
          <p:cNvSpPr/>
          <p:nvPr/>
        </p:nvSpPr>
        <p:spPr>
          <a:xfrm>
            <a:off x="4526280" y="272491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90288" y="2752344"/>
            <a:ext cx="1554480" cy="233172"/>
          </a:xfrm>
          <a:prstGeom prst="rect">
            <a:avLst/>
          </a:prstGeom>
          <a:noFill/>
        </p:spPr>
        <p:txBody>
          <a:bodyPr wrap="square">
            <a:spAutoFit/>
          </a:bodyPr>
          <a:lstStyle/>
          <a:p>
            <a:pPr algn="ctr"/>
            <a:r>
              <a:rPr sz="850" b="0" i="0">
                <a:solidFill>
                  <a:srgbClr val="1A1A2E"/>
                </a:solidFill>
              </a:rPr>
              <a:t>1,680,580</a:t>
            </a:r>
          </a:p>
        </p:txBody>
      </p:sp>
      <p:sp>
        <p:nvSpPr>
          <p:cNvPr id="62" name="Rectangle 61"/>
          <p:cNvSpPr/>
          <p:nvPr/>
        </p:nvSpPr>
        <p:spPr>
          <a:xfrm>
            <a:off x="6172200" y="272491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36208" y="2752344"/>
            <a:ext cx="1463039" cy="233172"/>
          </a:xfrm>
          <a:prstGeom prst="rect">
            <a:avLst/>
          </a:prstGeom>
          <a:noFill/>
        </p:spPr>
        <p:txBody>
          <a:bodyPr wrap="square">
            <a:spAutoFit/>
          </a:bodyPr>
          <a:lstStyle/>
          <a:p>
            <a:pPr algn="ctr"/>
            <a:r>
              <a:rPr sz="850" b="0" i="0">
                <a:solidFill>
                  <a:srgbClr val="1A1A2E"/>
                </a:solidFill>
              </a:rPr>
              <a:t>15.6</a:t>
            </a:r>
          </a:p>
        </p:txBody>
      </p:sp>
      <p:sp>
        <p:nvSpPr>
          <p:cNvPr id="64" name="Rectangle 63"/>
          <p:cNvSpPr/>
          <p:nvPr/>
        </p:nvSpPr>
        <p:spPr>
          <a:xfrm>
            <a:off x="7726679" y="272491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90688" y="2752344"/>
            <a:ext cx="1280160" cy="233172"/>
          </a:xfrm>
          <a:prstGeom prst="rect">
            <a:avLst/>
          </a:prstGeom>
          <a:noFill/>
        </p:spPr>
        <p:txBody>
          <a:bodyPr wrap="square">
            <a:spAutoFit/>
          </a:bodyPr>
          <a:lstStyle/>
          <a:p>
            <a:pPr algn="ctr"/>
            <a:r>
              <a:rPr sz="850" b="0" i="0">
                <a:solidFill>
                  <a:srgbClr val="1A1A2E"/>
                </a:solidFill>
              </a:rPr>
              <a:t>#6</a:t>
            </a:r>
          </a:p>
        </p:txBody>
      </p:sp>
      <p:sp>
        <p:nvSpPr>
          <p:cNvPr id="66" name="Rectangle 65"/>
          <p:cNvSpPr/>
          <p:nvPr/>
        </p:nvSpPr>
        <p:spPr>
          <a:xfrm>
            <a:off x="320040" y="2999232"/>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4048" y="3026664"/>
            <a:ext cx="2834640" cy="233172"/>
          </a:xfrm>
          <a:prstGeom prst="rect">
            <a:avLst/>
          </a:prstGeom>
          <a:noFill/>
        </p:spPr>
        <p:txBody>
          <a:bodyPr wrap="square">
            <a:spAutoFit/>
          </a:bodyPr>
          <a:lstStyle/>
          <a:p>
            <a:pPr algn="l"/>
            <a:r>
              <a:rPr sz="850" b="0" i="0">
                <a:solidFill>
                  <a:srgbClr val="1A1A2E"/>
                </a:solidFill>
              </a:rPr>
              <a:t>Job Search</a:t>
            </a:r>
          </a:p>
        </p:txBody>
      </p:sp>
      <p:sp>
        <p:nvSpPr>
          <p:cNvPr id="68" name="Rectangle 67"/>
          <p:cNvSpPr/>
          <p:nvPr/>
        </p:nvSpPr>
        <p:spPr>
          <a:xfrm>
            <a:off x="3246120" y="2999232"/>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310128" y="3026664"/>
            <a:ext cx="1188719" cy="233172"/>
          </a:xfrm>
          <a:prstGeom prst="rect">
            <a:avLst/>
          </a:prstGeom>
          <a:noFill/>
        </p:spPr>
        <p:txBody>
          <a:bodyPr wrap="square">
            <a:spAutoFit/>
          </a:bodyPr>
          <a:lstStyle/>
          <a:p>
            <a:pPr algn="ctr"/>
            <a:r>
              <a:rPr sz="850" b="0" i="0">
                <a:solidFill>
                  <a:srgbClr val="1A1A2E"/>
                </a:solidFill>
              </a:rPr>
              <a:t>2,049</a:t>
            </a:r>
          </a:p>
        </p:txBody>
      </p:sp>
      <p:sp>
        <p:nvSpPr>
          <p:cNvPr id="70" name="Rectangle 69"/>
          <p:cNvSpPr/>
          <p:nvPr/>
        </p:nvSpPr>
        <p:spPr>
          <a:xfrm>
            <a:off x="4526280" y="2999232"/>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90288" y="3026664"/>
            <a:ext cx="1554480" cy="233172"/>
          </a:xfrm>
          <a:prstGeom prst="rect">
            <a:avLst/>
          </a:prstGeom>
          <a:noFill/>
        </p:spPr>
        <p:txBody>
          <a:bodyPr wrap="square">
            <a:spAutoFit/>
          </a:bodyPr>
          <a:lstStyle/>
          <a:p>
            <a:pPr algn="ctr"/>
            <a:r>
              <a:rPr sz="850" b="0" i="0">
                <a:solidFill>
                  <a:srgbClr val="1A1A2E"/>
                </a:solidFill>
              </a:rPr>
              <a:t>1,604,960</a:t>
            </a:r>
          </a:p>
        </p:txBody>
      </p:sp>
      <p:sp>
        <p:nvSpPr>
          <p:cNvPr id="72" name="Rectangle 71"/>
          <p:cNvSpPr/>
          <p:nvPr/>
        </p:nvSpPr>
        <p:spPr>
          <a:xfrm>
            <a:off x="6172200" y="2999232"/>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36208" y="3026664"/>
            <a:ext cx="1463039" cy="233172"/>
          </a:xfrm>
          <a:prstGeom prst="rect">
            <a:avLst/>
          </a:prstGeom>
          <a:noFill/>
        </p:spPr>
        <p:txBody>
          <a:bodyPr wrap="square">
            <a:spAutoFit/>
          </a:bodyPr>
          <a:lstStyle/>
          <a:p>
            <a:pPr algn="ctr"/>
            <a:r>
              <a:rPr sz="850" b="0" i="0">
                <a:solidFill>
                  <a:srgbClr val="1A1A2E"/>
                </a:solidFill>
              </a:rPr>
              <a:t>13.8</a:t>
            </a:r>
          </a:p>
        </p:txBody>
      </p:sp>
      <p:sp>
        <p:nvSpPr>
          <p:cNvPr id="74" name="Rectangle 73"/>
          <p:cNvSpPr/>
          <p:nvPr/>
        </p:nvSpPr>
        <p:spPr>
          <a:xfrm>
            <a:off x="7726679" y="2999232"/>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790688" y="3026664"/>
            <a:ext cx="1280160" cy="233172"/>
          </a:xfrm>
          <a:prstGeom prst="rect">
            <a:avLst/>
          </a:prstGeom>
          <a:noFill/>
        </p:spPr>
        <p:txBody>
          <a:bodyPr wrap="square">
            <a:spAutoFit/>
          </a:bodyPr>
          <a:lstStyle/>
          <a:p>
            <a:pPr algn="ctr"/>
            <a:r>
              <a:rPr sz="850" b="0" i="0">
                <a:solidFill>
                  <a:srgbClr val="1A1A2E"/>
                </a:solidFill>
              </a:rPr>
              <a:t>#4</a:t>
            </a:r>
          </a:p>
        </p:txBody>
      </p:sp>
      <p:sp>
        <p:nvSpPr>
          <p:cNvPr id="76" name="Rectangle 75"/>
          <p:cNvSpPr/>
          <p:nvPr/>
        </p:nvSpPr>
        <p:spPr>
          <a:xfrm>
            <a:off x="320040" y="327355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84048" y="3300984"/>
            <a:ext cx="2834640" cy="233172"/>
          </a:xfrm>
          <a:prstGeom prst="rect">
            <a:avLst/>
          </a:prstGeom>
          <a:noFill/>
        </p:spPr>
        <p:txBody>
          <a:bodyPr wrap="square">
            <a:spAutoFit/>
          </a:bodyPr>
          <a:lstStyle/>
          <a:p>
            <a:pPr algn="l"/>
            <a:r>
              <a:rPr sz="850" b="0" i="0">
                <a:solidFill>
                  <a:srgbClr val="1A1A2E"/>
                </a:solidFill>
              </a:rPr>
              <a:t>Courses &amp; Certifications</a:t>
            </a:r>
          </a:p>
        </p:txBody>
      </p:sp>
      <p:sp>
        <p:nvSpPr>
          <p:cNvPr id="78" name="Rectangle 77"/>
          <p:cNvSpPr/>
          <p:nvPr/>
        </p:nvSpPr>
        <p:spPr>
          <a:xfrm>
            <a:off x="3246120" y="327355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310128" y="3300984"/>
            <a:ext cx="1188719" cy="233172"/>
          </a:xfrm>
          <a:prstGeom prst="rect">
            <a:avLst/>
          </a:prstGeom>
          <a:noFill/>
        </p:spPr>
        <p:txBody>
          <a:bodyPr wrap="square">
            <a:spAutoFit/>
          </a:bodyPr>
          <a:lstStyle/>
          <a:p>
            <a:pPr algn="ctr"/>
            <a:r>
              <a:rPr sz="850" b="0" i="0">
                <a:solidFill>
                  <a:srgbClr val="1A1A2E"/>
                </a:solidFill>
              </a:rPr>
              <a:t>1,388</a:t>
            </a:r>
          </a:p>
        </p:txBody>
      </p:sp>
      <p:sp>
        <p:nvSpPr>
          <p:cNvPr id="80" name="Rectangle 79"/>
          <p:cNvSpPr/>
          <p:nvPr/>
        </p:nvSpPr>
        <p:spPr>
          <a:xfrm>
            <a:off x="4526280" y="327355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90288" y="3300984"/>
            <a:ext cx="1554480" cy="233172"/>
          </a:xfrm>
          <a:prstGeom prst="rect">
            <a:avLst/>
          </a:prstGeom>
          <a:noFill/>
        </p:spPr>
        <p:txBody>
          <a:bodyPr wrap="square">
            <a:spAutoFit/>
          </a:bodyPr>
          <a:lstStyle/>
          <a:p>
            <a:pPr algn="ctr"/>
            <a:r>
              <a:rPr sz="850" b="0" i="0">
                <a:solidFill>
                  <a:srgbClr val="1A1A2E"/>
                </a:solidFill>
              </a:rPr>
              <a:t>1,069,180</a:t>
            </a:r>
          </a:p>
        </p:txBody>
      </p:sp>
      <p:sp>
        <p:nvSpPr>
          <p:cNvPr id="82" name="Rectangle 81"/>
          <p:cNvSpPr/>
          <p:nvPr/>
        </p:nvSpPr>
        <p:spPr>
          <a:xfrm>
            <a:off x="6172200" y="327355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36208" y="3300984"/>
            <a:ext cx="1463039" cy="233172"/>
          </a:xfrm>
          <a:prstGeom prst="rect">
            <a:avLst/>
          </a:prstGeom>
          <a:noFill/>
        </p:spPr>
        <p:txBody>
          <a:bodyPr wrap="square">
            <a:spAutoFit/>
          </a:bodyPr>
          <a:lstStyle/>
          <a:p>
            <a:pPr algn="ctr"/>
            <a:r>
              <a:rPr sz="850" b="0" i="0">
                <a:solidFill>
                  <a:srgbClr val="1A1A2E"/>
                </a:solidFill>
              </a:rPr>
              <a:t>14.8</a:t>
            </a:r>
          </a:p>
        </p:txBody>
      </p:sp>
      <p:sp>
        <p:nvSpPr>
          <p:cNvPr id="84" name="Rectangle 83"/>
          <p:cNvSpPr/>
          <p:nvPr/>
        </p:nvSpPr>
        <p:spPr>
          <a:xfrm>
            <a:off x="7726679" y="327355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790688" y="3300984"/>
            <a:ext cx="1280160" cy="233172"/>
          </a:xfrm>
          <a:prstGeom prst="rect">
            <a:avLst/>
          </a:prstGeom>
          <a:noFill/>
        </p:spPr>
        <p:txBody>
          <a:bodyPr wrap="square">
            <a:spAutoFit/>
          </a:bodyPr>
          <a:lstStyle/>
          <a:p>
            <a:pPr algn="ctr"/>
            <a:r>
              <a:rPr sz="850" b="0" i="0">
                <a:solidFill>
                  <a:srgbClr val="1A1A2E"/>
                </a:solidFill>
              </a:rPr>
              <a:t>#2</a:t>
            </a:r>
          </a:p>
        </p:txBody>
      </p:sp>
      <p:sp>
        <p:nvSpPr>
          <p:cNvPr id="86" name="Rectangle 85"/>
          <p:cNvSpPr/>
          <p:nvPr/>
        </p:nvSpPr>
        <p:spPr>
          <a:xfrm>
            <a:off x="320040" y="3547872"/>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84048" y="3575303"/>
            <a:ext cx="2834640" cy="233172"/>
          </a:xfrm>
          <a:prstGeom prst="rect">
            <a:avLst/>
          </a:prstGeom>
          <a:noFill/>
        </p:spPr>
        <p:txBody>
          <a:bodyPr wrap="square">
            <a:spAutoFit/>
          </a:bodyPr>
          <a:lstStyle/>
          <a:p>
            <a:pPr algn="l"/>
            <a:r>
              <a:rPr sz="850" b="0" i="0">
                <a:solidFill>
                  <a:srgbClr val="1A1A2E"/>
                </a:solidFill>
              </a:rPr>
              <a:t>Management &amp; Leadership</a:t>
            </a:r>
          </a:p>
        </p:txBody>
      </p:sp>
      <p:sp>
        <p:nvSpPr>
          <p:cNvPr id="88" name="Rectangle 87"/>
          <p:cNvSpPr/>
          <p:nvPr/>
        </p:nvSpPr>
        <p:spPr>
          <a:xfrm>
            <a:off x="3246120" y="3547872"/>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10128" y="3575303"/>
            <a:ext cx="1188719" cy="233172"/>
          </a:xfrm>
          <a:prstGeom prst="rect">
            <a:avLst/>
          </a:prstGeom>
          <a:noFill/>
        </p:spPr>
        <p:txBody>
          <a:bodyPr wrap="square">
            <a:spAutoFit/>
          </a:bodyPr>
          <a:lstStyle/>
          <a:p>
            <a:pPr algn="ctr"/>
            <a:r>
              <a:rPr sz="850" b="0" i="0">
                <a:solidFill>
                  <a:srgbClr val="1A1A2E"/>
                </a:solidFill>
              </a:rPr>
              <a:t>950</a:t>
            </a:r>
          </a:p>
        </p:txBody>
      </p:sp>
      <p:sp>
        <p:nvSpPr>
          <p:cNvPr id="90" name="Rectangle 89"/>
          <p:cNvSpPr/>
          <p:nvPr/>
        </p:nvSpPr>
        <p:spPr>
          <a:xfrm>
            <a:off x="4526280" y="3547872"/>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590288" y="3575303"/>
            <a:ext cx="1554480" cy="233172"/>
          </a:xfrm>
          <a:prstGeom prst="rect">
            <a:avLst/>
          </a:prstGeom>
          <a:noFill/>
        </p:spPr>
        <p:txBody>
          <a:bodyPr wrap="square">
            <a:spAutoFit/>
          </a:bodyPr>
          <a:lstStyle/>
          <a:p>
            <a:pPr algn="ctr"/>
            <a:r>
              <a:rPr sz="850" b="0" i="0">
                <a:solidFill>
                  <a:srgbClr val="1A1A2E"/>
                </a:solidFill>
              </a:rPr>
              <a:t>858,970</a:t>
            </a:r>
          </a:p>
        </p:txBody>
      </p:sp>
      <p:sp>
        <p:nvSpPr>
          <p:cNvPr id="92" name="Rectangle 91"/>
          <p:cNvSpPr/>
          <p:nvPr/>
        </p:nvSpPr>
        <p:spPr>
          <a:xfrm>
            <a:off x="6172200" y="3547872"/>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36208" y="3575303"/>
            <a:ext cx="1463039" cy="233172"/>
          </a:xfrm>
          <a:prstGeom prst="rect">
            <a:avLst/>
          </a:prstGeom>
          <a:noFill/>
        </p:spPr>
        <p:txBody>
          <a:bodyPr wrap="square">
            <a:spAutoFit/>
          </a:bodyPr>
          <a:lstStyle/>
          <a:p>
            <a:pPr algn="ctr"/>
            <a:r>
              <a:rPr sz="850" b="0" i="0">
                <a:solidFill>
                  <a:srgbClr val="1A1A2E"/>
                </a:solidFill>
              </a:rPr>
              <a:t>15.4</a:t>
            </a:r>
          </a:p>
        </p:txBody>
      </p:sp>
      <p:sp>
        <p:nvSpPr>
          <p:cNvPr id="94" name="Rectangle 93"/>
          <p:cNvSpPr/>
          <p:nvPr/>
        </p:nvSpPr>
        <p:spPr>
          <a:xfrm>
            <a:off x="7726679" y="3547872"/>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790688" y="3575303"/>
            <a:ext cx="1280160" cy="233172"/>
          </a:xfrm>
          <a:prstGeom prst="rect">
            <a:avLst/>
          </a:prstGeom>
          <a:noFill/>
        </p:spPr>
        <p:txBody>
          <a:bodyPr wrap="square">
            <a:spAutoFit/>
          </a:bodyPr>
          <a:lstStyle/>
          <a:p>
            <a:pPr algn="ctr"/>
            <a:r>
              <a:rPr sz="850" b="0" i="0">
                <a:solidFill>
                  <a:srgbClr val="1A1A2E"/>
                </a:solidFill>
              </a:rPr>
              <a:t>#2</a:t>
            </a:r>
          </a:p>
        </p:txBody>
      </p:sp>
      <p:sp>
        <p:nvSpPr>
          <p:cNvPr id="96" name="Rectangle 95"/>
          <p:cNvSpPr/>
          <p:nvPr/>
        </p:nvSpPr>
        <p:spPr>
          <a:xfrm>
            <a:off x="320040" y="3822191"/>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84048" y="3849624"/>
            <a:ext cx="2834640" cy="233172"/>
          </a:xfrm>
          <a:prstGeom prst="rect">
            <a:avLst/>
          </a:prstGeom>
          <a:noFill/>
        </p:spPr>
        <p:txBody>
          <a:bodyPr wrap="square">
            <a:spAutoFit/>
          </a:bodyPr>
          <a:lstStyle/>
          <a:p>
            <a:pPr algn="l"/>
            <a:r>
              <a:rPr sz="850" b="0" i="0">
                <a:solidFill>
                  <a:srgbClr val="1A1A2E"/>
                </a:solidFill>
              </a:rPr>
              <a:t>How-To &amp; Tips</a:t>
            </a:r>
          </a:p>
        </p:txBody>
      </p:sp>
      <p:sp>
        <p:nvSpPr>
          <p:cNvPr id="98" name="Rectangle 97"/>
          <p:cNvSpPr/>
          <p:nvPr/>
        </p:nvSpPr>
        <p:spPr>
          <a:xfrm>
            <a:off x="3246120" y="3822191"/>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310128" y="3849624"/>
            <a:ext cx="1188719" cy="233172"/>
          </a:xfrm>
          <a:prstGeom prst="rect">
            <a:avLst/>
          </a:prstGeom>
          <a:noFill/>
        </p:spPr>
        <p:txBody>
          <a:bodyPr wrap="square">
            <a:spAutoFit/>
          </a:bodyPr>
          <a:lstStyle/>
          <a:p>
            <a:pPr algn="ctr"/>
            <a:r>
              <a:rPr sz="850" b="0" i="0">
                <a:solidFill>
                  <a:srgbClr val="1A1A2E"/>
                </a:solidFill>
              </a:rPr>
              <a:t>1,313</a:t>
            </a:r>
          </a:p>
        </p:txBody>
      </p:sp>
      <p:sp>
        <p:nvSpPr>
          <p:cNvPr id="100" name="Rectangle 99"/>
          <p:cNvSpPr/>
          <p:nvPr/>
        </p:nvSpPr>
        <p:spPr>
          <a:xfrm>
            <a:off x="4526280" y="3822191"/>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90288" y="3849624"/>
            <a:ext cx="1554480" cy="233172"/>
          </a:xfrm>
          <a:prstGeom prst="rect">
            <a:avLst/>
          </a:prstGeom>
          <a:noFill/>
        </p:spPr>
        <p:txBody>
          <a:bodyPr wrap="square">
            <a:spAutoFit/>
          </a:bodyPr>
          <a:lstStyle/>
          <a:p>
            <a:pPr algn="ctr"/>
            <a:r>
              <a:rPr sz="850" b="0" i="0">
                <a:solidFill>
                  <a:srgbClr val="1A1A2E"/>
                </a:solidFill>
              </a:rPr>
              <a:t>790,130</a:t>
            </a:r>
          </a:p>
        </p:txBody>
      </p:sp>
      <p:sp>
        <p:nvSpPr>
          <p:cNvPr id="102" name="Rectangle 101"/>
          <p:cNvSpPr/>
          <p:nvPr/>
        </p:nvSpPr>
        <p:spPr>
          <a:xfrm>
            <a:off x="6172200" y="3822191"/>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36208" y="3849624"/>
            <a:ext cx="1463039" cy="233172"/>
          </a:xfrm>
          <a:prstGeom prst="rect">
            <a:avLst/>
          </a:prstGeom>
          <a:noFill/>
        </p:spPr>
        <p:txBody>
          <a:bodyPr wrap="square">
            <a:spAutoFit/>
          </a:bodyPr>
          <a:lstStyle/>
          <a:p>
            <a:pPr algn="ctr"/>
            <a:r>
              <a:rPr sz="850" b="0" i="0">
                <a:solidFill>
                  <a:srgbClr val="1A1A2E"/>
                </a:solidFill>
              </a:rPr>
              <a:t>15.1</a:t>
            </a:r>
          </a:p>
        </p:txBody>
      </p:sp>
      <p:sp>
        <p:nvSpPr>
          <p:cNvPr id="104" name="Rectangle 103"/>
          <p:cNvSpPr/>
          <p:nvPr/>
        </p:nvSpPr>
        <p:spPr>
          <a:xfrm>
            <a:off x="7726679" y="3822191"/>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790688" y="3849624"/>
            <a:ext cx="1280160" cy="233172"/>
          </a:xfrm>
          <a:prstGeom prst="rect">
            <a:avLst/>
          </a:prstGeom>
          <a:noFill/>
        </p:spPr>
        <p:txBody>
          <a:bodyPr wrap="square">
            <a:spAutoFit/>
          </a:bodyPr>
          <a:lstStyle/>
          <a:p>
            <a:pPr algn="ctr"/>
            <a:r>
              <a:rPr sz="850" b="0" i="0">
                <a:solidFill>
                  <a:srgbClr val="1A1A2E"/>
                </a:solidFill>
              </a:rPr>
              <a:t>#2</a:t>
            </a:r>
          </a:p>
        </p:txBody>
      </p:sp>
      <p:sp>
        <p:nvSpPr>
          <p:cNvPr id="106" name="Rectangle 105"/>
          <p:cNvSpPr/>
          <p:nvPr/>
        </p:nvSpPr>
        <p:spPr>
          <a:xfrm>
            <a:off x="320040" y="4096511"/>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84048" y="4123944"/>
            <a:ext cx="2834640" cy="233172"/>
          </a:xfrm>
          <a:prstGeom prst="rect">
            <a:avLst/>
          </a:prstGeom>
          <a:noFill/>
        </p:spPr>
        <p:txBody>
          <a:bodyPr wrap="square">
            <a:spAutoFit/>
          </a:bodyPr>
          <a:lstStyle/>
          <a:p>
            <a:pPr algn="l"/>
            <a:r>
              <a:rPr sz="850" b="0" i="0">
                <a:solidFill>
                  <a:srgbClr val="1A1A2E"/>
                </a:solidFill>
              </a:rPr>
              <a:t>Fresher &amp; Internship</a:t>
            </a:r>
          </a:p>
        </p:txBody>
      </p:sp>
      <p:sp>
        <p:nvSpPr>
          <p:cNvPr id="108" name="Rectangle 107"/>
          <p:cNvSpPr/>
          <p:nvPr/>
        </p:nvSpPr>
        <p:spPr>
          <a:xfrm>
            <a:off x="3246120" y="4096511"/>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310128" y="4123944"/>
            <a:ext cx="1188719" cy="233172"/>
          </a:xfrm>
          <a:prstGeom prst="rect">
            <a:avLst/>
          </a:prstGeom>
          <a:noFill/>
        </p:spPr>
        <p:txBody>
          <a:bodyPr wrap="square">
            <a:spAutoFit/>
          </a:bodyPr>
          <a:lstStyle/>
          <a:p>
            <a:pPr algn="ctr"/>
            <a:r>
              <a:rPr sz="850" b="0" i="0">
                <a:solidFill>
                  <a:srgbClr val="1A1A2E"/>
                </a:solidFill>
              </a:rPr>
              <a:t>735</a:t>
            </a:r>
          </a:p>
        </p:txBody>
      </p:sp>
      <p:sp>
        <p:nvSpPr>
          <p:cNvPr id="110" name="Rectangle 109"/>
          <p:cNvSpPr/>
          <p:nvPr/>
        </p:nvSpPr>
        <p:spPr>
          <a:xfrm>
            <a:off x="4526280" y="4096511"/>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590288" y="4123944"/>
            <a:ext cx="1554480" cy="233172"/>
          </a:xfrm>
          <a:prstGeom prst="rect">
            <a:avLst/>
          </a:prstGeom>
          <a:noFill/>
        </p:spPr>
        <p:txBody>
          <a:bodyPr wrap="square">
            <a:spAutoFit/>
          </a:bodyPr>
          <a:lstStyle/>
          <a:p>
            <a:pPr algn="ctr"/>
            <a:r>
              <a:rPr sz="850" b="0" i="0">
                <a:solidFill>
                  <a:srgbClr val="1A1A2E"/>
                </a:solidFill>
              </a:rPr>
              <a:t>456,430</a:t>
            </a:r>
          </a:p>
        </p:txBody>
      </p:sp>
      <p:sp>
        <p:nvSpPr>
          <p:cNvPr id="112" name="Rectangle 111"/>
          <p:cNvSpPr/>
          <p:nvPr/>
        </p:nvSpPr>
        <p:spPr>
          <a:xfrm>
            <a:off x="6172200" y="4096511"/>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236208" y="4123944"/>
            <a:ext cx="1463039" cy="233172"/>
          </a:xfrm>
          <a:prstGeom prst="rect">
            <a:avLst/>
          </a:prstGeom>
          <a:noFill/>
        </p:spPr>
        <p:txBody>
          <a:bodyPr wrap="square">
            <a:spAutoFit/>
          </a:bodyPr>
          <a:lstStyle/>
          <a:p>
            <a:pPr algn="ctr"/>
            <a:r>
              <a:rPr sz="850" b="0" i="0">
                <a:solidFill>
                  <a:srgbClr val="1A1A2E"/>
                </a:solidFill>
              </a:rPr>
              <a:t>13.1</a:t>
            </a:r>
          </a:p>
        </p:txBody>
      </p:sp>
      <p:sp>
        <p:nvSpPr>
          <p:cNvPr id="114" name="Rectangle 113"/>
          <p:cNvSpPr/>
          <p:nvPr/>
        </p:nvSpPr>
        <p:spPr>
          <a:xfrm>
            <a:off x="7726679" y="4096511"/>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790688" y="4123944"/>
            <a:ext cx="1280160" cy="233172"/>
          </a:xfrm>
          <a:prstGeom prst="rect">
            <a:avLst/>
          </a:prstGeom>
          <a:noFill/>
        </p:spPr>
        <p:txBody>
          <a:bodyPr wrap="square">
            <a:spAutoFit/>
          </a:bodyPr>
          <a:lstStyle/>
          <a:p>
            <a:pPr algn="ctr"/>
            <a:r>
              <a:rPr sz="850" b="0" i="0">
                <a:solidFill>
                  <a:srgbClr val="1A1A2E"/>
                </a:solidFill>
              </a:rPr>
              <a:t>#2 ★</a:t>
            </a:r>
          </a:p>
        </p:txBody>
      </p:sp>
      <p:sp>
        <p:nvSpPr>
          <p:cNvPr id="116" name="Rectangle 115"/>
          <p:cNvSpPr/>
          <p:nvPr/>
        </p:nvSpPr>
        <p:spPr>
          <a:xfrm>
            <a:off x="320040" y="437083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84048" y="4398264"/>
            <a:ext cx="2834640" cy="233172"/>
          </a:xfrm>
          <a:prstGeom prst="rect">
            <a:avLst/>
          </a:prstGeom>
          <a:noFill/>
        </p:spPr>
        <p:txBody>
          <a:bodyPr wrap="square">
            <a:spAutoFit/>
          </a:bodyPr>
          <a:lstStyle/>
          <a:p>
            <a:pPr algn="l"/>
            <a:r>
              <a:rPr sz="850" b="0" i="0">
                <a:solidFill>
                  <a:srgbClr val="1A1A2E"/>
                </a:solidFill>
              </a:rPr>
              <a:t>HR &amp; Workplace</a:t>
            </a:r>
          </a:p>
        </p:txBody>
      </p:sp>
      <p:sp>
        <p:nvSpPr>
          <p:cNvPr id="118" name="Rectangle 117"/>
          <p:cNvSpPr/>
          <p:nvPr/>
        </p:nvSpPr>
        <p:spPr>
          <a:xfrm>
            <a:off x="3246120" y="437083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310128" y="4398264"/>
            <a:ext cx="1188719" cy="233172"/>
          </a:xfrm>
          <a:prstGeom prst="rect">
            <a:avLst/>
          </a:prstGeom>
          <a:noFill/>
        </p:spPr>
        <p:txBody>
          <a:bodyPr wrap="square">
            <a:spAutoFit/>
          </a:bodyPr>
          <a:lstStyle/>
          <a:p>
            <a:pPr algn="ctr"/>
            <a:r>
              <a:rPr sz="850" b="0" i="0">
                <a:solidFill>
                  <a:srgbClr val="1A1A2E"/>
                </a:solidFill>
              </a:rPr>
              <a:t>462</a:t>
            </a:r>
          </a:p>
        </p:txBody>
      </p:sp>
      <p:sp>
        <p:nvSpPr>
          <p:cNvPr id="120" name="Rectangle 119"/>
          <p:cNvSpPr/>
          <p:nvPr/>
        </p:nvSpPr>
        <p:spPr>
          <a:xfrm>
            <a:off x="4526280" y="437083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590288" y="4398264"/>
            <a:ext cx="1554480" cy="233172"/>
          </a:xfrm>
          <a:prstGeom prst="rect">
            <a:avLst/>
          </a:prstGeom>
          <a:noFill/>
        </p:spPr>
        <p:txBody>
          <a:bodyPr wrap="square">
            <a:spAutoFit/>
          </a:bodyPr>
          <a:lstStyle/>
          <a:p>
            <a:pPr algn="ctr"/>
            <a:r>
              <a:rPr sz="850" b="0" i="0">
                <a:solidFill>
                  <a:srgbClr val="1A1A2E"/>
                </a:solidFill>
              </a:rPr>
              <a:t>445,260</a:t>
            </a:r>
          </a:p>
        </p:txBody>
      </p:sp>
      <p:sp>
        <p:nvSpPr>
          <p:cNvPr id="122" name="Rectangle 121"/>
          <p:cNvSpPr/>
          <p:nvPr/>
        </p:nvSpPr>
        <p:spPr>
          <a:xfrm>
            <a:off x="6172200" y="437083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236208" y="4398264"/>
            <a:ext cx="1463039" cy="233172"/>
          </a:xfrm>
          <a:prstGeom prst="rect">
            <a:avLst/>
          </a:prstGeom>
          <a:noFill/>
        </p:spPr>
        <p:txBody>
          <a:bodyPr wrap="square">
            <a:spAutoFit/>
          </a:bodyPr>
          <a:lstStyle/>
          <a:p>
            <a:pPr algn="ctr"/>
            <a:r>
              <a:rPr sz="850" b="0" i="0">
                <a:solidFill>
                  <a:srgbClr val="1A1A2E"/>
                </a:solidFill>
              </a:rPr>
              <a:t>13.1</a:t>
            </a:r>
          </a:p>
        </p:txBody>
      </p:sp>
      <p:sp>
        <p:nvSpPr>
          <p:cNvPr id="124" name="Rectangle 123"/>
          <p:cNvSpPr/>
          <p:nvPr/>
        </p:nvSpPr>
        <p:spPr>
          <a:xfrm>
            <a:off x="7726679" y="437083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790688" y="4398264"/>
            <a:ext cx="1280160" cy="233172"/>
          </a:xfrm>
          <a:prstGeom prst="rect">
            <a:avLst/>
          </a:prstGeom>
          <a:noFill/>
        </p:spPr>
        <p:txBody>
          <a:bodyPr wrap="square">
            <a:spAutoFit/>
          </a:bodyPr>
          <a:lstStyle/>
          <a:p>
            <a:pPr algn="ctr"/>
            <a:r>
              <a:rPr sz="850" b="0" i="0">
                <a:solidFill>
                  <a:srgbClr val="1A1A2E"/>
                </a:solidFill>
              </a:rPr>
              <a:t>#3</a:t>
            </a:r>
          </a:p>
        </p:txBody>
      </p:sp>
      <p:sp>
        <p:nvSpPr>
          <p:cNvPr id="126" name="Rectangle 125"/>
          <p:cNvSpPr/>
          <p:nvPr/>
        </p:nvSpPr>
        <p:spPr>
          <a:xfrm>
            <a:off x="320040" y="4645152"/>
            <a:ext cx="29260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84048" y="4672584"/>
            <a:ext cx="2834640" cy="233172"/>
          </a:xfrm>
          <a:prstGeom prst="rect">
            <a:avLst/>
          </a:prstGeom>
          <a:noFill/>
        </p:spPr>
        <p:txBody>
          <a:bodyPr wrap="square">
            <a:spAutoFit/>
          </a:bodyPr>
          <a:lstStyle/>
          <a:p>
            <a:pPr algn="l"/>
            <a:r>
              <a:rPr sz="850" b="0" i="0">
                <a:solidFill>
                  <a:srgbClr val="1A1A2E"/>
                </a:solidFill>
              </a:rPr>
              <a:t>Finance &amp; Accounting</a:t>
            </a:r>
          </a:p>
        </p:txBody>
      </p:sp>
      <p:sp>
        <p:nvSpPr>
          <p:cNvPr id="128" name="Rectangle 127"/>
          <p:cNvSpPr/>
          <p:nvPr/>
        </p:nvSpPr>
        <p:spPr>
          <a:xfrm>
            <a:off x="3246120" y="4645152"/>
            <a:ext cx="128016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310128" y="4672584"/>
            <a:ext cx="1188719" cy="233172"/>
          </a:xfrm>
          <a:prstGeom prst="rect">
            <a:avLst/>
          </a:prstGeom>
          <a:noFill/>
        </p:spPr>
        <p:txBody>
          <a:bodyPr wrap="square">
            <a:spAutoFit/>
          </a:bodyPr>
          <a:lstStyle/>
          <a:p>
            <a:pPr algn="ctr"/>
            <a:r>
              <a:rPr sz="850" b="0" i="0">
                <a:solidFill>
                  <a:srgbClr val="1A1A2E"/>
                </a:solidFill>
              </a:rPr>
              <a:t>580</a:t>
            </a:r>
          </a:p>
        </p:txBody>
      </p:sp>
      <p:sp>
        <p:nvSpPr>
          <p:cNvPr id="130" name="Rectangle 129"/>
          <p:cNvSpPr/>
          <p:nvPr/>
        </p:nvSpPr>
        <p:spPr>
          <a:xfrm>
            <a:off x="4526280" y="4645152"/>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590288" y="4672584"/>
            <a:ext cx="1554480" cy="233172"/>
          </a:xfrm>
          <a:prstGeom prst="rect">
            <a:avLst/>
          </a:prstGeom>
          <a:noFill/>
        </p:spPr>
        <p:txBody>
          <a:bodyPr wrap="square">
            <a:spAutoFit/>
          </a:bodyPr>
          <a:lstStyle/>
          <a:p>
            <a:pPr algn="ctr"/>
            <a:r>
              <a:rPr sz="850" b="0" i="0">
                <a:solidFill>
                  <a:srgbClr val="1A1A2E"/>
                </a:solidFill>
              </a:rPr>
              <a:t>440,070</a:t>
            </a:r>
          </a:p>
        </p:txBody>
      </p:sp>
      <p:sp>
        <p:nvSpPr>
          <p:cNvPr id="132" name="Rectangle 131"/>
          <p:cNvSpPr/>
          <p:nvPr/>
        </p:nvSpPr>
        <p:spPr>
          <a:xfrm>
            <a:off x="6172200" y="4645152"/>
            <a:ext cx="155448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236208" y="4672584"/>
            <a:ext cx="1463039" cy="233172"/>
          </a:xfrm>
          <a:prstGeom prst="rect">
            <a:avLst/>
          </a:prstGeom>
          <a:noFill/>
        </p:spPr>
        <p:txBody>
          <a:bodyPr wrap="square">
            <a:spAutoFit/>
          </a:bodyPr>
          <a:lstStyle/>
          <a:p>
            <a:pPr algn="ctr"/>
            <a:r>
              <a:rPr sz="850" b="0" i="0">
                <a:solidFill>
                  <a:srgbClr val="1A1A2E"/>
                </a:solidFill>
              </a:rPr>
              <a:t>19.5</a:t>
            </a:r>
          </a:p>
        </p:txBody>
      </p:sp>
      <p:sp>
        <p:nvSpPr>
          <p:cNvPr id="134" name="Rectangle 133"/>
          <p:cNvSpPr/>
          <p:nvPr/>
        </p:nvSpPr>
        <p:spPr>
          <a:xfrm>
            <a:off x="7726679" y="4645152"/>
            <a:ext cx="13716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790688" y="4672584"/>
            <a:ext cx="1280160" cy="233172"/>
          </a:xfrm>
          <a:prstGeom prst="rect">
            <a:avLst/>
          </a:prstGeom>
          <a:noFill/>
        </p:spPr>
        <p:txBody>
          <a:bodyPr wrap="square">
            <a:spAutoFit/>
          </a:bodyPr>
          <a:lstStyle/>
          <a:p>
            <a:pPr algn="ctr"/>
            <a:r>
              <a:rPr sz="850" b="0" i="0">
                <a:solidFill>
                  <a:srgbClr val="1A1A2E"/>
                </a:solidFill>
              </a:rPr>
              <a:t>#2</a:t>
            </a:r>
          </a:p>
        </p:txBody>
      </p:sp>
      <p:sp>
        <p:nvSpPr>
          <p:cNvPr id="136" name="Rectangle 135"/>
          <p:cNvSpPr/>
          <p:nvPr/>
        </p:nvSpPr>
        <p:spPr>
          <a:xfrm>
            <a:off x="320040" y="4919472"/>
            <a:ext cx="29260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4048" y="4946904"/>
            <a:ext cx="2834640" cy="233172"/>
          </a:xfrm>
          <a:prstGeom prst="rect">
            <a:avLst/>
          </a:prstGeom>
          <a:noFill/>
        </p:spPr>
        <p:txBody>
          <a:bodyPr wrap="square">
            <a:spAutoFit/>
          </a:bodyPr>
          <a:lstStyle/>
          <a:p>
            <a:pPr algn="l"/>
            <a:r>
              <a:rPr sz="850" b="0" i="0">
                <a:solidFill>
                  <a:srgbClr val="1A1A2E"/>
                </a:solidFill>
              </a:rPr>
              <a:t>Technology &amp; IT</a:t>
            </a:r>
          </a:p>
        </p:txBody>
      </p:sp>
      <p:sp>
        <p:nvSpPr>
          <p:cNvPr id="138" name="Rectangle 137"/>
          <p:cNvSpPr/>
          <p:nvPr/>
        </p:nvSpPr>
        <p:spPr>
          <a:xfrm>
            <a:off x="3246120" y="4919472"/>
            <a:ext cx="128016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310128" y="4946904"/>
            <a:ext cx="1188719" cy="233172"/>
          </a:xfrm>
          <a:prstGeom prst="rect">
            <a:avLst/>
          </a:prstGeom>
          <a:noFill/>
        </p:spPr>
        <p:txBody>
          <a:bodyPr wrap="square">
            <a:spAutoFit/>
          </a:bodyPr>
          <a:lstStyle/>
          <a:p>
            <a:pPr algn="ctr"/>
            <a:r>
              <a:rPr sz="850" b="0" i="0">
                <a:solidFill>
                  <a:srgbClr val="1A1A2E"/>
                </a:solidFill>
              </a:rPr>
              <a:t>758</a:t>
            </a:r>
          </a:p>
        </p:txBody>
      </p:sp>
      <p:sp>
        <p:nvSpPr>
          <p:cNvPr id="140" name="Rectangle 139"/>
          <p:cNvSpPr/>
          <p:nvPr/>
        </p:nvSpPr>
        <p:spPr>
          <a:xfrm>
            <a:off x="4526280" y="4919472"/>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590288" y="4946904"/>
            <a:ext cx="1554480" cy="233172"/>
          </a:xfrm>
          <a:prstGeom prst="rect">
            <a:avLst/>
          </a:prstGeom>
          <a:noFill/>
        </p:spPr>
        <p:txBody>
          <a:bodyPr wrap="square">
            <a:spAutoFit/>
          </a:bodyPr>
          <a:lstStyle/>
          <a:p>
            <a:pPr algn="ctr"/>
            <a:r>
              <a:rPr sz="850" b="0" i="0">
                <a:solidFill>
                  <a:srgbClr val="1A1A2E"/>
                </a:solidFill>
              </a:rPr>
              <a:t>562,660</a:t>
            </a:r>
          </a:p>
        </p:txBody>
      </p:sp>
      <p:sp>
        <p:nvSpPr>
          <p:cNvPr id="142" name="Rectangle 141"/>
          <p:cNvSpPr/>
          <p:nvPr/>
        </p:nvSpPr>
        <p:spPr>
          <a:xfrm>
            <a:off x="6172200" y="4919472"/>
            <a:ext cx="155448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236208" y="4946904"/>
            <a:ext cx="1463039" cy="233172"/>
          </a:xfrm>
          <a:prstGeom prst="rect">
            <a:avLst/>
          </a:prstGeom>
          <a:noFill/>
        </p:spPr>
        <p:txBody>
          <a:bodyPr wrap="square">
            <a:spAutoFit/>
          </a:bodyPr>
          <a:lstStyle/>
          <a:p>
            <a:pPr algn="ctr"/>
            <a:r>
              <a:rPr sz="850" b="0" i="0">
                <a:solidFill>
                  <a:srgbClr val="1A1A2E"/>
                </a:solidFill>
              </a:rPr>
              <a:t>18.7</a:t>
            </a:r>
          </a:p>
        </p:txBody>
      </p:sp>
      <p:sp>
        <p:nvSpPr>
          <p:cNvPr id="144" name="Rectangle 143"/>
          <p:cNvSpPr/>
          <p:nvPr/>
        </p:nvSpPr>
        <p:spPr>
          <a:xfrm>
            <a:off x="7726679" y="4919472"/>
            <a:ext cx="13716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790688" y="4946904"/>
            <a:ext cx="1280160" cy="233172"/>
          </a:xfrm>
          <a:prstGeom prst="rect">
            <a:avLst/>
          </a:prstGeom>
          <a:noFill/>
        </p:spPr>
        <p:txBody>
          <a:bodyPr wrap="square">
            <a:spAutoFit/>
          </a:bodyPr>
          <a:lstStyle/>
          <a:p>
            <a:pPr algn="ctr"/>
            <a:r>
              <a:rPr sz="850" b="0" i="0">
                <a:solidFill>
                  <a:srgbClr val="1A1A2E"/>
                </a:solidFill>
              </a:rPr>
              <a:t>#4</a:t>
            </a:r>
          </a:p>
        </p:txBody>
      </p:sp>
      <p:sp>
        <p:nvSpPr>
          <p:cNvPr id="146" name="TextBox 145"/>
          <p:cNvSpPr txBox="1"/>
          <p:nvPr/>
        </p:nvSpPr>
        <p:spPr>
          <a:xfrm>
            <a:off x="320040" y="5303520"/>
            <a:ext cx="8229600" cy="320040"/>
          </a:xfrm>
          <a:prstGeom prst="rect">
            <a:avLst/>
          </a:prstGeom>
          <a:noFill/>
        </p:spPr>
        <p:txBody>
          <a:bodyPr wrap="square">
            <a:spAutoFit/>
          </a:bodyPr>
          <a:lstStyle/>
          <a:p>
            <a:pPr algn="l"/>
            <a:r>
              <a:rPr sz="950" b="0" i="1">
                <a:solidFill>
                  <a:srgbClr val="5A6A85"/>
                </a:solidFill>
              </a:rPr>
              <a:t>★ Clusters where Naukri is the market leader or strong #2</a:t>
            </a:r>
          </a:p>
        </p:txBody>
      </p:sp>
      <p:sp>
        <p:nvSpPr>
          <p:cNvPr id="147" name="TextBox 146"/>
          <p:cNvSpPr txBox="1"/>
          <p:nvPr/>
        </p:nvSpPr>
        <p:spPr>
          <a:xfrm>
            <a:off x="320040" y="5577840"/>
            <a:ext cx="11430000" cy="320040"/>
          </a:xfrm>
          <a:prstGeom prst="rect">
            <a:avLst/>
          </a:prstGeom>
          <a:noFill/>
        </p:spPr>
        <p:txBody>
          <a:bodyPr wrap="square">
            <a:spAutoFit/>
          </a:bodyPr>
          <a:lstStyle/>
          <a:p>
            <a:pPr algn="l"/>
            <a:r>
              <a:rPr sz="900" b="0" i="1">
                <a:solidFill>
                  <a:srgbClr val="5A6A85"/>
                </a:solidFill>
              </a:rPr>
              <a:t>Other/Misc cluster (41.6M vol) excluded from table — contains broad queries not attributed to named clusters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02 — Brand Visibility Ranking</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Ranked by estimated monthly organic traffic</a:t>
            </a:r>
          </a:p>
        </p:txBody>
      </p:sp>
      <p:sp>
        <p:nvSpPr>
          <p:cNvPr id="6" name="Rectangle 5"/>
          <p:cNvSpPr/>
          <p:nvPr/>
        </p:nvSpPr>
        <p:spPr>
          <a:xfrm>
            <a:off x="274320" y="1325880"/>
            <a:ext cx="50292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1362456"/>
            <a:ext cx="411480" cy="256032"/>
          </a:xfrm>
          <a:prstGeom prst="rect">
            <a:avLst/>
          </a:prstGeom>
          <a:noFill/>
        </p:spPr>
        <p:txBody>
          <a:bodyPr wrap="square">
            <a:spAutoFit/>
          </a:bodyPr>
          <a:lstStyle/>
          <a:p>
            <a:pPr algn="l"/>
            <a:r>
              <a:rPr sz="900" b="1" i="0">
                <a:solidFill>
                  <a:srgbClr val="FFFFFF"/>
                </a:solidFill>
              </a:rPr>
              <a:t>Rank</a:t>
            </a:r>
          </a:p>
        </p:txBody>
      </p:sp>
      <p:sp>
        <p:nvSpPr>
          <p:cNvPr id="8" name="Rectangle 7"/>
          <p:cNvSpPr/>
          <p:nvPr/>
        </p:nvSpPr>
        <p:spPr>
          <a:xfrm>
            <a:off x="777240" y="1325880"/>
            <a:ext cx="210312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362456"/>
            <a:ext cx="2011679" cy="256032"/>
          </a:xfrm>
          <a:prstGeom prst="rect">
            <a:avLst/>
          </a:prstGeom>
          <a:noFill/>
        </p:spPr>
        <p:txBody>
          <a:bodyPr wrap="square">
            <a:spAutoFit/>
          </a:bodyPr>
          <a:lstStyle/>
          <a:p>
            <a:pPr algn="ctr"/>
            <a:r>
              <a:rPr sz="900" b="1" i="0">
                <a:solidFill>
                  <a:srgbClr val="FFFFFF"/>
                </a:solidFill>
              </a:rPr>
              <a:t>Brand</a:t>
            </a:r>
          </a:p>
        </p:txBody>
      </p:sp>
      <p:sp>
        <p:nvSpPr>
          <p:cNvPr id="10" name="Rectangle 9"/>
          <p:cNvSpPr/>
          <p:nvPr/>
        </p:nvSpPr>
        <p:spPr>
          <a:xfrm>
            <a:off x="2880360" y="1325880"/>
            <a:ext cx="91440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1362456"/>
            <a:ext cx="822960" cy="256032"/>
          </a:xfrm>
          <a:prstGeom prst="rect">
            <a:avLst/>
          </a:prstGeom>
          <a:noFill/>
        </p:spPr>
        <p:txBody>
          <a:bodyPr wrap="square">
            <a:spAutoFit/>
          </a:bodyPr>
          <a:lstStyle/>
          <a:p>
            <a:pPr algn="ctr"/>
            <a:r>
              <a:rPr sz="900" b="1" i="0">
                <a:solidFill>
                  <a:srgbClr val="FFFFFF"/>
                </a:solidFill>
              </a:rPr>
              <a:t>Keywords</a:t>
            </a:r>
          </a:p>
        </p:txBody>
      </p:sp>
      <p:sp>
        <p:nvSpPr>
          <p:cNvPr id="12" name="Rectangle 11"/>
          <p:cNvSpPr/>
          <p:nvPr/>
        </p:nvSpPr>
        <p:spPr>
          <a:xfrm>
            <a:off x="3794760" y="1325880"/>
            <a:ext cx="137160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1362456"/>
            <a:ext cx="1280160" cy="256032"/>
          </a:xfrm>
          <a:prstGeom prst="rect">
            <a:avLst/>
          </a:prstGeom>
          <a:noFill/>
        </p:spPr>
        <p:txBody>
          <a:bodyPr wrap="square">
            <a:spAutoFit/>
          </a:bodyPr>
          <a:lstStyle/>
          <a:p>
            <a:pPr algn="ctr"/>
            <a:r>
              <a:rPr sz="900" b="1" i="0">
                <a:solidFill>
                  <a:srgbClr val="FFFFFF"/>
                </a:solidFill>
              </a:rPr>
              <a:t>Total Volume</a:t>
            </a:r>
          </a:p>
        </p:txBody>
      </p:sp>
      <p:sp>
        <p:nvSpPr>
          <p:cNvPr id="14" name="Rectangle 13"/>
          <p:cNvSpPr/>
          <p:nvPr/>
        </p:nvSpPr>
        <p:spPr>
          <a:xfrm>
            <a:off x="5166360" y="1325880"/>
            <a:ext cx="77724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1362456"/>
            <a:ext cx="685800" cy="256032"/>
          </a:xfrm>
          <a:prstGeom prst="rect">
            <a:avLst/>
          </a:prstGeom>
          <a:noFill/>
        </p:spPr>
        <p:txBody>
          <a:bodyPr wrap="square">
            <a:spAutoFit/>
          </a:bodyPr>
          <a:lstStyle/>
          <a:p>
            <a:pPr algn="ctr"/>
            <a:r>
              <a:rPr sz="900" b="1" i="0">
                <a:solidFill>
                  <a:srgbClr val="FFFFFF"/>
                </a:solidFill>
              </a:rPr>
              <a:t>Avg Pos</a:t>
            </a:r>
          </a:p>
        </p:txBody>
      </p:sp>
      <p:sp>
        <p:nvSpPr>
          <p:cNvPr id="16" name="Rectangle 15"/>
          <p:cNvSpPr/>
          <p:nvPr/>
        </p:nvSpPr>
        <p:spPr>
          <a:xfrm>
            <a:off x="5943600" y="1325880"/>
            <a:ext cx="64008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07608" y="1362456"/>
            <a:ext cx="548640" cy="256032"/>
          </a:xfrm>
          <a:prstGeom prst="rect">
            <a:avLst/>
          </a:prstGeom>
          <a:noFill/>
        </p:spPr>
        <p:txBody>
          <a:bodyPr wrap="square">
            <a:spAutoFit/>
          </a:bodyPr>
          <a:lstStyle/>
          <a:p>
            <a:pPr algn="ctr"/>
            <a:r>
              <a:rPr sz="900" b="1" i="0">
                <a:solidFill>
                  <a:srgbClr val="FFFFFF"/>
                </a:solidFill>
              </a:rPr>
              <a:t>Top 3</a:t>
            </a:r>
          </a:p>
        </p:txBody>
      </p:sp>
      <p:sp>
        <p:nvSpPr>
          <p:cNvPr id="18" name="Rectangle 17"/>
          <p:cNvSpPr/>
          <p:nvPr/>
        </p:nvSpPr>
        <p:spPr>
          <a:xfrm>
            <a:off x="6583680" y="1325880"/>
            <a:ext cx="68580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1362456"/>
            <a:ext cx="594360" cy="256032"/>
          </a:xfrm>
          <a:prstGeom prst="rect">
            <a:avLst/>
          </a:prstGeom>
          <a:noFill/>
        </p:spPr>
        <p:txBody>
          <a:bodyPr wrap="square">
            <a:spAutoFit/>
          </a:bodyPr>
          <a:lstStyle/>
          <a:p>
            <a:pPr algn="ctr"/>
            <a:r>
              <a:rPr sz="900" b="1" i="0">
                <a:solidFill>
                  <a:srgbClr val="FFFFFF"/>
                </a:solidFill>
              </a:rPr>
              <a:t>Top 10</a:t>
            </a:r>
          </a:p>
        </p:txBody>
      </p:sp>
      <p:sp>
        <p:nvSpPr>
          <p:cNvPr id="20" name="Rectangle 19"/>
          <p:cNvSpPr/>
          <p:nvPr/>
        </p:nvSpPr>
        <p:spPr>
          <a:xfrm>
            <a:off x="7269480" y="1325880"/>
            <a:ext cx="68580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33488" y="1362456"/>
            <a:ext cx="594360" cy="256032"/>
          </a:xfrm>
          <a:prstGeom prst="rect">
            <a:avLst/>
          </a:prstGeom>
          <a:noFill/>
        </p:spPr>
        <p:txBody>
          <a:bodyPr wrap="square">
            <a:spAutoFit/>
          </a:bodyPr>
          <a:lstStyle/>
          <a:p>
            <a:pPr algn="ctr"/>
            <a:r>
              <a:rPr sz="900" b="1" i="0">
                <a:solidFill>
                  <a:srgbClr val="FFFFFF"/>
                </a:solidFill>
              </a:rPr>
              <a:t>Top 20</a:t>
            </a:r>
          </a:p>
        </p:txBody>
      </p:sp>
      <p:sp>
        <p:nvSpPr>
          <p:cNvPr id="22" name="Rectangle 21"/>
          <p:cNvSpPr/>
          <p:nvPr/>
        </p:nvSpPr>
        <p:spPr>
          <a:xfrm>
            <a:off x="7955279" y="1325880"/>
            <a:ext cx="1417320" cy="30175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1362456"/>
            <a:ext cx="1325880" cy="256032"/>
          </a:xfrm>
          <a:prstGeom prst="rect">
            <a:avLst/>
          </a:prstGeom>
          <a:noFill/>
        </p:spPr>
        <p:txBody>
          <a:bodyPr wrap="square">
            <a:spAutoFit/>
          </a:bodyPr>
          <a:lstStyle/>
          <a:p>
            <a:pPr algn="ctr"/>
            <a:r>
              <a:rPr sz="900" b="1" i="0">
                <a:solidFill>
                  <a:srgbClr val="FFFFFF"/>
                </a:solidFill>
              </a:rPr>
              <a:t>Est. Traffic/mo</a:t>
            </a:r>
          </a:p>
        </p:txBody>
      </p:sp>
      <p:sp>
        <p:nvSpPr>
          <p:cNvPr id="24" name="Rectangle 23"/>
          <p:cNvSpPr/>
          <p:nvPr/>
        </p:nvSpPr>
        <p:spPr>
          <a:xfrm>
            <a:off x="274320" y="1627632"/>
            <a:ext cx="5029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 y="1655064"/>
            <a:ext cx="411480" cy="265176"/>
          </a:xfrm>
          <a:prstGeom prst="rect">
            <a:avLst/>
          </a:prstGeom>
          <a:noFill/>
        </p:spPr>
        <p:txBody>
          <a:bodyPr wrap="square">
            <a:spAutoFit/>
          </a:bodyPr>
          <a:lstStyle/>
          <a:p>
            <a:pPr algn="l"/>
            <a:r>
              <a:rPr sz="850" b="0" i="0">
                <a:solidFill>
                  <a:srgbClr val="1A1A2E"/>
                </a:solidFill>
              </a:rPr>
              <a:t>#1</a:t>
            </a:r>
          </a:p>
        </p:txBody>
      </p:sp>
      <p:sp>
        <p:nvSpPr>
          <p:cNvPr id="26" name="Rectangle 25"/>
          <p:cNvSpPr/>
          <p:nvPr/>
        </p:nvSpPr>
        <p:spPr>
          <a:xfrm>
            <a:off x="777240" y="1627632"/>
            <a:ext cx="21031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1655064"/>
            <a:ext cx="2011679" cy="265176"/>
          </a:xfrm>
          <a:prstGeom prst="rect">
            <a:avLst/>
          </a:prstGeom>
          <a:noFill/>
        </p:spPr>
        <p:txBody>
          <a:bodyPr wrap="square">
            <a:spAutoFit/>
          </a:bodyPr>
          <a:lstStyle/>
          <a:p>
            <a:pPr algn="ctr"/>
            <a:r>
              <a:rPr sz="850" b="0" i="0">
                <a:solidFill>
                  <a:srgbClr val="1A1A2E"/>
                </a:solidFill>
              </a:rPr>
              <a:t>Indeed</a:t>
            </a:r>
          </a:p>
        </p:txBody>
      </p:sp>
      <p:sp>
        <p:nvSpPr>
          <p:cNvPr id="28" name="Rectangle 27"/>
          <p:cNvSpPr/>
          <p:nvPr/>
        </p:nvSpPr>
        <p:spPr>
          <a:xfrm>
            <a:off x="2880360" y="1627632"/>
            <a:ext cx="9144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44368" y="1655064"/>
            <a:ext cx="822960" cy="265176"/>
          </a:xfrm>
          <a:prstGeom prst="rect">
            <a:avLst/>
          </a:prstGeom>
          <a:noFill/>
        </p:spPr>
        <p:txBody>
          <a:bodyPr wrap="square">
            <a:spAutoFit/>
          </a:bodyPr>
          <a:lstStyle/>
          <a:p>
            <a:pPr algn="ctr"/>
            <a:r>
              <a:rPr sz="850" b="0" i="0">
                <a:solidFill>
                  <a:srgbClr val="1A1A2E"/>
                </a:solidFill>
              </a:rPr>
              <a:t>31,829</a:t>
            </a:r>
          </a:p>
        </p:txBody>
      </p:sp>
      <p:sp>
        <p:nvSpPr>
          <p:cNvPr id="30" name="Rectangle 29"/>
          <p:cNvSpPr/>
          <p:nvPr/>
        </p:nvSpPr>
        <p:spPr>
          <a:xfrm>
            <a:off x="3794760" y="1627632"/>
            <a:ext cx="13716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8768" y="1655064"/>
            <a:ext cx="1280160" cy="265176"/>
          </a:xfrm>
          <a:prstGeom prst="rect">
            <a:avLst/>
          </a:prstGeom>
          <a:noFill/>
        </p:spPr>
        <p:txBody>
          <a:bodyPr wrap="square">
            <a:spAutoFit/>
          </a:bodyPr>
          <a:lstStyle/>
          <a:p>
            <a:pPr algn="ctr"/>
            <a:r>
              <a:rPr sz="850" b="0" i="0">
                <a:solidFill>
                  <a:srgbClr val="1A1A2E"/>
                </a:solidFill>
              </a:rPr>
              <a:t>39,607,580</a:t>
            </a:r>
          </a:p>
        </p:txBody>
      </p:sp>
      <p:sp>
        <p:nvSpPr>
          <p:cNvPr id="32" name="Rectangle 31"/>
          <p:cNvSpPr/>
          <p:nvPr/>
        </p:nvSpPr>
        <p:spPr>
          <a:xfrm>
            <a:off x="5166360" y="1627632"/>
            <a:ext cx="77724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30368" y="1655064"/>
            <a:ext cx="685800" cy="265176"/>
          </a:xfrm>
          <a:prstGeom prst="rect">
            <a:avLst/>
          </a:prstGeom>
          <a:noFill/>
        </p:spPr>
        <p:txBody>
          <a:bodyPr wrap="square">
            <a:spAutoFit/>
          </a:bodyPr>
          <a:lstStyle/>
          <a:p>
            <a:pPr algn="ctr"/>
            <a:r>
              <a:rPr sz="850" b="0" i="0">
                <a:solidFill>
                  <a:srgbClr val="1A1A2E"/>
                </a:solidFill>
              </a:rPr>
              <a:t>12.6</a:t>
            </a:r>
          </a:p>
        </p:txBody>
      </p:sp>
      <p:sp>
        <p:nvSpPr>
          <p:cNvPr id="34" name="Rectangle 33"/>
          <p:cNvSpPr/>
          <p:nvPr/>
        </p:nvSpPr>
        <p:spPr>
          <a:xfrm>
            <a:off x="5943600" y="1627632"/>
            <a:ext cx="64008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07608" y="1655064"/>
            <a:ext cx="548640" cy="265176"/>
          </a:xfrm>
          <a:prstGeom prst="rect">
            <a:avLst/>
          </a:prstGeom>
          <a:noFill/>
        </p:spPr>
        <p:txBody>
          <a:bodyPr wrap="square">
            <a:spAutoFit/>
          </a:bodyPr>
          <a:lstStyle/>
          <a:p>
            <a:pPr algn="ctr"/>
            <a:r>
              <a:rPr sz="850" b="0" i="0">
                <a:solidFill>
                  <a:srgbClr val="1A1A2E"/>
                </a:solidFill>
              </a:rPr>
              <a:t>5,203</a:t>
            </a:r>
          </a:p>
        </p:txBody>
      </p:sp>
      <p:sp>
        <p:nvSpPr>
          <p:cNvPr id="36" name="Rectangle 35"/>
          <p:cNvSpPr/>
          <p:nvPr/>
        </p:nvSpPr>
        <p:spPr>
          <a:xfrm>
            <a:off x="6583680" y="1627632"/>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7688" y="1655064"/>
            <a:ext cx="594360" cy="265176"/>
          </a:xfrm>
          <a:prstGeom prst="rect">
            <a:avLst/>
          </a:prstGeom>
          <a:noFill/>
        </p:spPr>
        <p:txBody>
          <a:bodyPr wrap="square">
            <a:spAutoFit/>
          </a:bodyPr>
          <a:lstStyle/>
          <a:p>
            <a:pPr algn="ctr"/>
            <a:r>
              <a:rPr sz="850" b="0" i="0">
                <a:solidFill>
                  <a:srgbClr val="1A1A2E"/>
                </a:solidFill>
              </a:rPr>
              <a:t>16,987</a:t>
            </a:r>
          </a:p>
        </p:txBody>
      </p:sp>
      <p:sp>
        <p:nvSpPr>
          <p:cNvPr id="38" name="Rectangle 37"/>
          <p:cNvSpPr/>
          <p:nvPr/>
        </p:nvSpPr>
        <p:spPr>
          <a:xfrm>
            <a:off x="7269480" y="1627632"/>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33488" y="1655064"/>
            <a:ext cx="594360" cy="265176"/>
          </a:xfrm>
          <a:prstGeom prst="rect">
            <a:avLst/>
          </a:prstGeom>
          <a:noFill/>
        </p:spPr>
        <p:txBody>
          <a:bodyPr wrap="square">
            <a:spAutoFit/>
          </a:bodyPr>
          <a:lstStyle/>
          <a:p>
            <a:pPr algn="ctr"/>
            <a:r>
              <a:rPr sz="850" b="0" i="0">
                <a:solidFill>
                  <a:srgbClr val="1A1A2E"/>
                </a:solidFill>
              </a:rPr>
              <a:t>24,768</a:t>
            </a:r>
          </a:p>
        </p:txBody>
      </p:sp>
      <p:sp>
        <p:nvSpPr>
          <p:cNvPr id="40" name="Rectangle 39"/>
          <p:cNvSpPr/>
          <p:nvPr/>
        </p:nvSpPr>
        <p:spPr>
          <a:xfrm>
            <a:off x="7955279" y="1627632"/>
            <a:ext cx="14173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19288" y="1655064"/>
            <a:ext cx="1325880" cy="265176"/>
          </a:xfrm>
          <a:prstGeom prst="rect">
            <a:avLst/>
          </a:prstGeom>
          <a:noFill/>
        </p:spPr>
        <p:txBody>
          <a:bodyPr wrap="square">
            <a:spAutoFit/>
          </a:bodyPr>
          <a:lstStyle/>
          <a:p>
            <a:pPr algn="ctr"/>
            <a:r>
              <a:rPr sz="850" b="0" i="0">
                <a:solidFill>
                  <a:srgbClr val="1A1A2E"/>
                </a:solidFill>
              </a:rPr>
              <a:t>1,550,413</a:t>
            </a:r>
          </a:p>
        </p:txBody>
      </p:sp>
      <p:sp>
        <p:nvSpPr>
          <p:cNvPr id="42" name="Rectangle 41"/>
          <p:cNvSpPr/>
          <p:nvPr/>
        </p:nvSpPr>
        <p:spPr>
          <a:xfrm>
            <a:off x="274320" y="1938528"/>
            <a:ext cx="50292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8328" y="1965960"/>
            <a:ext cx="411480" cy="265176"/>
          </a:xfrm>
          <a:prstGeom prst="rect">
            <a:avLst/>
          </a:prstGeom>
          <a:noFill/>
        </p:spPr>
        <p:txBody>
          <a:bodyPr wrap="square">
            <a:spAutoFit/>
          </a:bodyPr>
          <a:lstStyle/>
          <a:p>
            <a:pPr algn="l"/>
            <a:r>
              <a:rPr sz="850" b="0" i="0">
                <a:solidFill>
                  <a:srgbClr val="1A1A2E"/>
                </a:solidFill>
              </a:rPr>
              <a:t>#2</a:t>
            </a:r>
          </a:p>
        </p:txBody>
      </p:sp>
      <p:sp>
        <p:nvSpPr>
          <p:cNvPr id="44" name="Rectangle 43"/>
          <p:cNvSpPr/>
          <p:nvPr/>
        </p:nvSpPr>
        <p:spPr>
          <a:xfrm>
            <a:off x="777240" y="1938528"/>
            <a:ext cx="210312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 y="1965960"/>
            <a:ext cx="2011679" cy="265176"/>
          </a:xfrm>
          <a:prstGeom prst="rect">
            <a:avLst/>
          </a:prstGeom>
          <a:noFill/>
        </p:spPr>
        <p:txBody>
          <a:bodyPr wrap="square">
            <a:spAutoFit/>
          </a:bodyPr>
          <a:lstStyle/>
          <a:p>
            <a:pPr algn="ctr"/>
            <a:r>
              <a:rPr sz="850" b="0" i="0">
                <a:solidFill>
                  <a:srgbClr val="1A1A2E"/>
                </a:solidFill>
              </a:rPr>
              <a:t>Naukri Career Advice</a:t>
            </a:r>
          </a:p>
        </p:txBody>
      </p:sp>
      <p:sp>
        <p:nvSpPr>
          <p:cNvPr id="46" name="Rectangle 45"/>
          <p:cNvSpPr/>
          <p:nvPr/>
        </p:nvSpPr>
        <p:spPr>
          <a:xfrm>
            <a:off x="2880360" y="1938528"/>
            <a:ext cx="91440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44368" y="1965960"/>
            <a:ext cx="822960" cy="265176"/>
          </a:xfrm>
          <a:prstGeom prst="rect">
            <a:avLst/>
          </a:prstGeom>
          <a:noFill/>
        </p:spPr>
        <p:txBody>
          <a:bodyPr wrap="square">
            <a:spAutoFit/>
          </a:bodyPr>
          <a:lstStyle/>
          <a:p>
            <a:pPr algn="ctr"/>
            <a:r>
              <a:rPr sz="850" b="0" i="0">
                <a:solidFill>
                  <a:srgbClr val="1A1A2E"/>
                </a:solidFill>
              </a:rPr>
              <a:t>18,630</a:t>
            </a:r>
          </a:p>
        </p:txBody>
      </p:sp>
      <p:sp>
        <p:nvSpPr>
          <p:cNvPr id="48" name="Rectangle 47"/>
          <p:cNvSpPr/>
          <p:nvPr/>
        </p:nvSpPr>
        <p:spPr>
          <a:xfrm>
            <a:off x="3794760" y="1938528"/>
            <a:ext cx="137160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58768" y="1965960"/>
            <a:ext cx="1280160" cy="265176"/>
          </a:xfrm>
          <a:prstGeom prst="rect">
            <a:avLst/>
          </a:prstGeom>
          <a:noFill/>
        </p:spPr>
        <p:txBody>
          <a:bodyPr wrap="square">
            <a:spAutoFit/>
          </a:bodyPr>
          <a:lstStyle/>
          <a:p>
            <a:pPr algn="ctr"/>
            <a:r>
              <a:rPr sz="850" b="0" i="0">
                <a:solidFill>
                  <a:srgbClr val="1A1A2E"/>
                </a:solidFill>
              </a:rPr>
              <a:t>24,516,810</a:t>
            </a:r>
          </a:p>
        </p:txBody>
      </p:sp>
      <p:sp>
        <p:nvSpPr>
          <p:cNvPr id="50" name="Rectangle 49"/>
          <p:cNvSpPr/>
          <p:nvPr/>
        </p:nvSpPr>
        <p:spPr>
          <a:xfrm>
            <a:off x="5166360" y="1938528"/>
            <a:ext cx="77724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30368" y="1965960"/>
            <a:ext cx="685800" cy="265176"/>
          </a:xfrm>
          <a:prstGeom prst="rect">
            <a:avLst/>
          </a:prstGeom>
          <a:noFill/>
        </p:spPr>
        <p:txBody>
          <a:bodyPr wrap="square">
            <a:spAutoFit/>
          </a:bodyPr>
          <a:lstStyle/>
          <a:p>
            <a:pPr algn="ctr"/>
            <a:r>
              <a:rPr sz="850" b="0" i="0">
                <a:solidFill>
                  <a:srgbClr val="1A1A2E"/>
                </a:solidFill>
              </a:rPr>
              <a:t>15.3</a:t>
            </a:r>
          </a:p>
        </p:txBody>
      </p:sp>
      <p:sp>
        <p:nvSpPr>
          <p:cNvPr id="52" name="Rectangle 51"/>
          <p:cNvSpPr/>
          <p:nvPr/>
        </p:nvSpPr>
        <p:spPr>
          <a:xfrm>
            <a:off x="5943600" y="1938528"/>
            <a:ext cx="64008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07608" y="1965960"/>
            <a:ext cx="548640" cy="265176"/>
          </a:xfrm>
          <a:prstGeom prst="rect">
            <a:avLst/>
          </a:prstGeom>
          <a:noFill/>
        </p:spPr>
        <p:txBody>
          <a:bodyPr wrap="square">
            <a:spAutoFit/>
          </a:bodyPr>
          <a:lstStyle/>
          <a:p>
            <a:pPr algn="ctr"/>
            <a:r>
              <a:rPr sz="850" b="0" i="0">
                <a:solidFill>
                  <a:srgbClr val="1A1A2E"/>
                </a:solidFill>
              </a:rPr>
              <a:t>2,145</a:t>
            </a:r>
          </a:p>
        </p:txBody>
      </p:sp>
      <p:sp>
        <p:nvSpPr>
          <p:cNvPr id="54" name="Rectangle 53"/>
          <p:cNvSpPr/>
          <p:nvPr/>
        </p:nvSpPr>
        <p:spPr>
          <a:xfrm>
            <a:off x="6583680" y="1938528"/>
            <a:ext cx="68580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47688" y="1965960"/>
            <a:ext cx="594360" cy="265176"/>
          </a:xfrm>
          <a:prstGeom prst="rect">
            <a:avLst/>
          </a:prstGeom>
          <a:noFill/>
        </p:spPr>
        <p:txBody>
          <a:bodyPr wrap="square">
            <a:spAutoFit/>
          </a:bodyPr>
          <a:lstStyle/>
          <a:p>
            <a:pPr algn="ctr"/>
            <a:r>
              <a:rPr sz="850" b="0" i="0">
                <a:solidFill>
                  <a:srgbClr val="1A1A2E"/>
                </a:solidFill>
              </a:rPr>
              <a:t>7,636</a:t>
            </a:r>
          </a:p>
        </p:txBody>
      </p:sp>
      <p:sp>
        <p:nvSpPr>
          <p:cNvPr id="56" name="Rectangle 55"/>
          <p:cNvSpPr/>
          <p:nvPr/>
        </p:nvSpPr>
        <p:spPr>
          <a:xfrm>
            <a:off x="7269480" y="1938528"/>
            <a:ext cx="68580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33488" y="1965960"/>
            <a:ext cx="594360" cy="265176"/>
          </a:xfrm>
          <a:prstGeom prst="rect">
            <a:avLst/>
          </a:prstGeom>
          <a:noFill/>
        </p:spPr>
        <p:txBody>
          <a:bodyPr wrap="square">
            <a:spAutoFit/>
          </a:bodyPr>
          <a:lstStyle/>
          <a:p>
            <a:pPr algn="ctr"/>
            <a:r>
              <a:rPr sz="850" b="0" i="0">
                <a:solidFill>
                  <a:srgbClr val="1A1A2E"/>
                </a:solidFill>
              </a:rPr>
              <a:t>12,793</a:t>
            </a:r>
          </a:p>
        </p:txBody>
      </p:sp>
      <p:sp>
        <p:nvSpPr>
          <p:cNvPr id="58" name="Rectangle 57"/>
          <p:cNvSpPr/>
          <p:nvPr/>
        </p:nvSpPr>
        <p:spPr>
          <a:xfrm>
            <a:off x="7955279" y="1938528"/>
            <a:ext cx="1417320" cy="301752"/>
          </a:xfrm>
          <a:prstGeom prst="rect">
            <a:avLst/>
          </a:prstGeom>
          <a:solidFill>
            <a:srgbClr val="FFF0E0"/>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19288" y="1965960"/>
            <a:ext cx="1325880" cy="265176"/>
          </a:xfrm>
          <a:prstGeom prst="rect">
            <a:avLst/>
          </a:prstGeom>
          <a:noFill/>
        </p:spPr>
        <p:txBody>
          <a:bodyPr wrap="square">
            <a:spAutoFit/>
          </a:bodyPr>
          <a:lstStyle/>
          <a:p>
            <a:pPr algn="ctr"/>
            <a:r>
              <a:rPr sz="850" b="0" i="0">
                <a:solidFill>
                  <a:srgbClr val="1A1A2E"/>
                </a:solidFill>
              </a:rPr>
              <a:t>948,183</a:t>
            </a:r>
          </a:p>
        </p:txBody>
      </p:sp>
      <p:sp>
        <p:nvSpPr>
          <p:cNvPr id="60" name="Rectangle 59"/>
          <p:cNvSpPr/>
          <p:nvPr/>
        </p:nvSpPr>
        <p:spPr>
          <a:xfrm>
            <a:off x="274320" y="2249424"/>
            <a:ext cx="5029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8328" y="2276856"/>
            <a:ext cx="411480" cy="265176"/>
          </a:xfrm>
          <a:prstGeom prst="rect">
            <a:avLst/>
          </a:prstGeom>
          <a:noFill/>
        </p:spPr>
        <p:txBody>
          <a:bodyPr wrap="square">
            <a:spAutoFit/>
          </a:bodyPr>
          <a:lstStyle/>
          <a:p>
            <a:pPr algn="l"/>
            <a:r>
              <a:rPr sz="850" b="0" i="0">
                <a:solidFill>
                  <a:srgbClr val="1A1A2E"/>
                </a:solidFill>
              </a:rPr>
              <a:t>#3</a:t>
            </a:r>
          </a:p>
        </p:txBody>
      </p:sp>
      <p:sp>
        <p:nvSpPr>
          <p:cNvPr id="62" name="Rectangle 61"/>
          <p:cNvSpPr/>
          <p:nvPr/>
        </p:nvSpPr>
        <p:spPr>
          <a:xfrm>
            <a:off x="777240" y="2249424"/>
            <a:ext cx="21031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1248" y="2276856"/>
            <a:ext cx="2011679" cy="265176"/>
          </a:xfrm>
          <a:prstGeom prst="rect">
            <a:avLst/>
          </a:prstGeom>
          <a:noFill/>
        </p:spPr>
        <p:txBody>
          <a:bodyPr wrap="square">
            <a:spAutoFit/>
          </a:bodyPr>
          <a:lstStyle/>
          <a:p>
            <a:pPr algn="ctr"/>
            <a:r>
              <a:rPr sz="850" b="0" i="0">
                <a:solidFill>
                  <a:srgbClr val="1A1A2E"/>
                </a:solidFill>
              </a:rPr>
              <a:t>Resume.io</a:t>
            </a:r>
          </a:p>
        </p:txBody>
      </p:sp>
      <p:sp>
        <p:nvSpPr>
          <p:cNvPr id="64" name="Rectangle 63"/>
          <p:cNvSpPr/>
          <p:nvPr/>
        </p:nvSpPr>
        <p:spPr>
          <a:xfrm>
            <a:off x="2880360" y="2249424"/>
            <a:ext cx="9144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44368" y="2276856"/>
            <a:ext cx="822960" cy="265176"/>
          </a:xfrm>
          <a:prstGeom prst="rect">
            <a:avLst/>
          </a:prstGeom>
          <a:noFill/>
        </p:spPr>
        <p:txBody>
          <a:bodyPr wrap="square">
            <a:spAutoFit/>
          </a:bodyPr>
          <a:lstStyle/>
          <a:p>
            <a:pPr algn="ctr"/>
            <a:r>
              <a:rPr sz="850" b="0" i="0">
                <a:solidFill>
                  <a:srgbClr val="1A1A2E"/>
                </a:solidFill>
              </a:rPr>
              <a:t>6,939</a:t>
            </a:r>
          </a:p>
        </p:txBody>
      </p:sp>
      <p:sp>
        <p:nvSpPr>
          <p:cNvPr id="66" name="Rectangle 65"/>
          <p:cNvSpPr/>
          <p:nvPr/>
        </p:nvSpPr>
        <p:spPr>
          <a:xfrm>
            <a:off x="3794760" y="2249424"/>
            <a:ext cx="13716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58768" y="2276856"/>
            <a:ext cx="1280160" cy="265176"/>
          </a:xfrm>
          <a:prstGeom prst="rect">
            <a:avLst/>
          </a:prstGeom>
          <a:noFill/>
        </p:spPr>
        <p:txBody>
          <a:bodyPr wrap="square">
            <a:spAutoFit/>
          </a:bodyPr>
          <a:lstStyle/>
          <a:p>
            <a:pPr algn="ctr"/>
            <a:r>
              <a:rPr sz="850" b="0" i="0">
                <a:solidFill>
                  <a:srgbClr val="1A1A2E"/>
                </a:solidFill>
              </a:rPr>
              <a:t>6,526,250</a:t>
            </a:r>
          </a:p>
        </p:txBody>
      </p:sp>
      <p:sp>
        <p:nvSpPr>
          <p:cNvPr id="68" name="Rectangle 67"/>
          <p:cNvSpPr/>
          <p:nvPr/>
        </p:nvSpPr>
        <p:spPr>
          <a:xfrm>
            <a:off x="5166360" y="2249424"/>
            <a:ext cx="77724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230368" y="2276856"/>
            <a:ext cx="685800" cy="265176"/>
          </a:xfrm>
          <a:prstGeom prst="rect">
            <a:avLst/>
          </a:prstGeom>
          <a:noFill/>
        </p:spPr>
        <p:txBody>
          <a:bodyPr wrap="square">
            <a:spAutoFit/>
          </a:bodyPr>
          <a:lstStyle/>
          <a:p>
            <a:pPr algn="ctr"/>
            <a:r>
              <a:rPr sz="850" b="0" i="0">
                <a:solidFill>
                  <a:srgbClr val="1A1A2E"/>
                </a:solidFill>
              </a:rPr>
              <a:t>12.2</a:t>
            </a:r>
          </a:p>
        </p:txBody>
      </p:sp>
      <p:sp>
        <p:nvSpPr>
          <p:cNvPr id="70" name="Rectangle 69"/>
          <p:cNvSpPr/>
          <p:nvPr/>
        </p:nvSpPr>
        <p:spPr>
          <a:xfrm>
            <a:off x="5943600" y="2249424"/>
            <a:ext cx="64008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007608" y="2276856"/>
            <a:ext cx="548640" cy="265176"/>
          </a:xfrm>
          <a:prstGeom prst="rect">
            <a:avLst/>
          </a:prstGeom>
          <a:noFill/>
        </p:spPr>
        <p:txBody>
          <a:bodyPr wrap="square">
            <a:spAutoFit/>
          </a:bodyPr>
          <a:lstStyle/>
          <a:p>
            <a:pPr algn="ctr"/>
            <a:r>
              <a:rPr sz="850" b="0" i="0">
                <a:solidFill>
                  <a:srgbClr val="1A1A2E"/>
                </a:solidFill>
              </a:rPr>
              <a:t>1,727</a:t>
            </a:r>
          </a:p>
        </p:txBody>
      </p:sp>
      <p:sp>
        <p:nvSpPr>
          <p:cNvPr id="72" name="Rectangle 71"/>
          <p:cNvSpPr/>
          <p:nvPr/>
        </p:nvSpPr>
        <p:spPr>
          <a:xfrm>
            <a:off x="6583680" y="2249424"/>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47688" y="2276856"/>
            <a:ext cx="594360" cy="265176"/>
          </a:xfrm>
          <a:prstGeom prst="rect">
            <a:avLst/>
          </a:prstGeom>
          <a:noFill/>
        </p:spPr>
        <p:txBody>
          <a:bodyPr wrap="square">
            <a:spAutoFit/>
          </a:bodyPr>
          <a:lstStyle/>
          <a:p>
            <a:pPr algn="ctr"/>
            <a:r>
              <a:rPr sz="850" b="0" i="0">
                <a:solidFill>
                  <a:srgbClr val="1A1A2E"/>
                </a:solidFill>
              </a:rPr>
              <a:t>3,673</a:t>
            </a:r>
          </a:p>
        </p:txBody>
      </p:sp>
      <p:sp>
        <p:nvSpPr>
          <p:cNvPr id="74" name="Rectangle 73"/>
          <p:cNvSpPr/>
          <p:nvPr/>
        </p:nvSpPr>
        <p:spPr>
          <a:xfrm>
            <a:off x="7269480" y="2249424"/>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33488" y="2276856"/>
            <a:ext cx="594360" cy="265176"/>
          </a:xfrm>
          <a:prstGeom prst="rect">
            <a:avLst/>
          </a:prstGeom>
          <a:noFill/>
        </p:spPr>
        <p:txBody>
          <a:bodyPr wrap="square">
            <a:spAutoFit/>
          </a:bodyPr>
          <a:lstStyle/>
          <a:p>
            <a:pPr algn="ctr"/>
            <a:r>
              <a:rPr sz="850" b="0" i="0">
                <a:solidFill>
                  <a:srgbClr val="1A1A2E"/>
                </a:solidFill>
              </a:rPr>
              <a:t>5,151</a:t>
            </a:r>
          </a:p>
        </p:txBody>
      </p:sp>
      <p:sp>
        <p:nvSpPr>
          <p:cNvPr id="76" name="Rectangle 75"/>
          <p:cNvSpPr/>
          <p:nvPr/>
        </p:nvSpPr>
        <p:spPr>
          <a:xfrm>
            <a:off x="7955279" y="2249424"/>
            <a:ext cx="14173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19288" y="2276856"/>
            <a:ext cx="1325880" cy="265176"/>
          </a:xfrm>
          <a:prstGeom prst="rect">
            <a:avLst/>
          </a:prstGeom>
          <a:noFill/>
        </p:spPr>
        <p:txBody>
          <a:bodyPr wrap="square">
            <a:spAutoFit/>
          </a:bodyPr>
          <a:lstStyle/>
          <a:p>
            <a:pPr algn="ctr"/>
            <a:r>
              <a:rPr sz="850" b="0" i="0">
                <a:solidFill>
                  <a:srgbClr val="1A1A2E"/>
                </a:solidFill>
              </a:rPr>
              <a:t>412,654</a:t>
            </a:r>
          </a:p>
        </p:txBody>
      </p:sp>
      <p:sp>
        <p:nvSpPr>
          <p:cNvPr id="78" name="Rectangle 77"/>
          <p:cNvSpPr/>
          <p:nvPr/>
        </p:nvSpPr>
        <p:spPr>
          <a:xfrm>
            <a:off x="274320" y="2560320"/>
            <a:ext cx="5029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38328" y="2587751"/>
            <a:ext cx="411480" cy="265176"/>
          </a:xfrm>
          <a:prstGeom prst="rect">
            <a:avLst/>
          </a:prstGeom>
          <a:noFill/>
        </p:spPr>
        <p:txBody>
          <a:bodyPr wrap="square">
            <a:spAutoFit/>
          </a:bodyPr>
          <a:lstStyle/>
          <a:p>
            <a:pPr algn="l"/>
            <a:r>
              <a:rPr sz="850" b="0" i="0">
                <a:solidFill>
                  <a:srgbClr val="1A1A2E"/>
                </a:solidFill>
              </a:rPr>
              <a:t>#4</a:t>
            </a:r>
          </a:p>
        </p:txBody>
      </p:sp>
      <p:sp>
        <p:nvSpPr>
          <p:cNvPr id="80" name="Rectangle 79"/>
          <p:cNvSpPr/>
          <p:nvPr/>
        </p:nvSpPr>
        <p:spPr>
          <a:xfrm>
            <a:off x="777240" y="2560320"/>
            <a:ext cx="21031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1248" y="2587751"/>
            <a:ext cx="2011679" cy="265176"/>
          </a:xfrm>
          <a:prstGeom prst="rect">
            <a:avLst/>
          </a:prstGeom>
          <a:noFill/>
        </p:spPr>
        <p:txBody>
          <a:bodyPr wrap="square">
            <a:spAutoFit/>
          </a:bodyPr>
          <a:lstStyle/>
          <a:p>
            <a:pPr algn="ctr"/>
            <a:r>
              <a:rPr sz="850" b="0" i="0">
                <a:solidFill>
                  <a:srgbClr val="1A1A2E"/>
                </a:solidFill>
              </a:rPr>
              <a:t>zety</a:t>
            </a:r>
          </a:p>
        </p:txBody>
      </p:sp>
      <p:sp>
        <p:nvSpPr>
          <p:cNvPr id="82" name="Rectangle 81"/>
          <p:cNvSpPr/>
          <p:nvPr/>
        </p:nvSpPr>
        <p:spPr>
          <a:xfrm>
            <a:off x="2880360" y="2560320"/>
            <a:ext cx="9144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944368" y="2587751"/>
            <a:ext cx="822960" cy="265176"/>
          </a:xfrm>
          <a:prstGeom prst="rect">
            <a:avLst/>
          </a:prstGeom>
          <a:noFill/>
        </p:spPr>
        <p:txBody>
          <a:bodyPr wrap="square">
            <a:spAutoFit/>
          </a:bodyPr>
          <a:lstStyle/>
          <a:p>
            <a:pPr algn="ctr"/>
            <a:r>
              <a:rPr sz="850" b="0" i="0">
                <a:solidFill>
                  <a:srgbClr val="1A1A2E"/>
                </a:solidFill>
              </a:rPr>
              <a:t>5,571</a:t>
            </a:r>
          </a:p>
        </p:txBody>
      </p:sp>
      <p:sp>
        <p:nvSpPr>
          <p:cNvPr id="84" name="Rectangle 83"/>
          <p:cNvSpPr/>
          <p:nvPr/>
        </p:nvSpPr>
        <p:spPr>
          <a:xfrm>
            <a:off x="3794760" y="2560320"/>
            <a:ext cx="13716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858768" y="2587751"/>
            <a:ext cx="1280160" cy="265176"/>
          </a:xfrm>
          <a:prstGeom prst="rect">
            <a:avLst/>
          </a:prstGeom>
          <a:noFill/>
        </p:spPr>
        <p:txBody>
          <a:bodyPr wrap="square">
            <a:spAutoFit/>
          </a:bodyPr>
          <a:lstStyle/>
          <a:p>
            <a:pPr algn="ctr"/>
            <a:r>
              <a:rPr sz="850" b="0" i="0">
                <a:solidFill>
                  <a:srgbClr val="1A1A2E"/>
                </a:solidFill>
              </a:rPr>
              <a:t>12,003,450</a:t>
            </a:r>
          </a:p>
        </p:txBody>
      </p:sp>
      <p:sp>
        <p:nvSpPr>
          <p:cNvPr id="86" name="Rectangle 85"/>
          <p:cNvSpPr/>
          <p:nvPr/>
        </p:nvSpPr>
        <p:spPr>
          <a:xfrm>
            <a:off x="5166360" y="2560320"/>
            <a:ext cx="77724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230368" y="2587751"/>
            <a:ext cx="685800" cy="265176"/>
          </a:xfrm>
          <a:prstGeom prst="rect">
            <a:avLst/>
          </a:prstGeom>
          <a:noFill/>
        </p:spPr>
        <p:txBody>
          <a:bodyPr wrap="square">
            <a:spAutoFit/>
          </a:bodyPr>
          <a:lstStyle/>
          <a:p>
            <a:pPr algn="ctr"/>
            <a:r>
              <a:rPr sz="850" b="0" i="0">
                <a:solidFill>
                  <a:srgbClr val="1A1A2E"/>
                </a:solidFill>
              </a:rPr>
              <a:t>19.8</a:t>
            </a:r>
          </a:p>
        </p:txBody>
      </p:sp>
      <p:sp>
        <p:nvSpPr>
          <p:cNvPr id="88" name="Rectangle 87"/>
          <p:cNvSpPr/>
          <p:nvPr/>
        </p:nvSpPr>
        <p:spPr>
          <a:xfrm>
            <a:off x="5943600" y="2560320"/>
            <a:ext cx="64008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007608" y="2587751"/>
            <a:ext cx="548640" cy="265176"/>
          </a:xfrm>
          <a:prstGeom prst="rect">
            <a:avLst/>
          </a:prstGeom>
          <a:noFill/>
        </p:spPr>
        <p:txBody>
          <a:bodyPr wrap="square">
            <a:spAutoFit/>
          </a:bodyPr>
          <a:lstStyle/>
          <a:p>
            <a:pPr algn="ctr"/>
            <a:r>
              <a:rPr sz="850" b="0" i="0">
                <a:solidFill>
                  <a:srgbClr val="1A1A2E"/>
                </a:solidFill>
              </a:rPr>
              <a:t>135</a:t>
            </a:r>
          </a:p>
        </p:txBody>
      </p:sp>
      <p:sp>
        <p:nvSpPr>
          <p:cNvPr id="90" name="Rectangle 89"/>
          <p:cNvSpPr/>
          <p:nvPr/>
        </p:nvSpPr>
        <p:spPr>
          <a:xfrm>
            <a:off x="6583680" y="2560320"/>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647688" y="2587751"/>
            <a:ext cx="594360" cy="265176"/>
          </a:xfrm>
          <a:prstGeom prst="rect">
            <a:avLst/>
          </a:prstGeom>
          <a:noFill/>
        </p:spPr>
        <p:txBody>
          <a:bodyPr wrap="square">
            <a:spAutoFit/>
          </a:bodyPr>
          <a:lstStyle/>
          <a:p>
            <a:pPr algn="ctr"/>
            <a:r>
              <a:rPr sz="850" b="0" i="0">
                <a:solidFill>
                  <a:srgbClr val="1A1A2E"/>
                </a:solidFill>
              </a:rPr>
              <a:t>1,015</a:t>
            </a:r>
          </a:p>
        </p:txBody>
      </p:sp>
      <p:sp>
        <p:nvSpPr>
          <p:cNvPr id="92" name="Rectangle 91"/>
          <p:cNvSpPr/>
          <p:nvPr/>
        </p:nvSpPr>
        <p:spPr>
          <a:xfrm>
            <a:off x="7269480" y="2560320"/>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33488" y="2587751"/>
            <a:ext cx="594360" cy="265176"/>
          </a:xfrm>
          <a:prstGeom prst="rect">
            <a:avLst/>
          </a:prstGeom>
          <a:noFill/>
        </p:spPr>
        <p:txBody>
          <a:bodyPr wrap="square">
            <a:spAutoFit/>
          </a:bodyPr>
          <a:lstStyle/>
          <a:p>
            <a:pPr algn="ctr"/>
            <a:r>
              <a:rPr sz="850" b="0" i="0">
                <a:solidFill>
                  <a:srgbClr val="1A1A2E"/>
                </a:solidFill>
              </a:rPr>
              <a:t>2,959</a:t>
            </a:r>
          </a:p>
        </p:txBody>
      </p:sp>
      <p:sp>
        <p:nvSpPr>
          <p:cNvPr id="94" name="Rectangle 93"/>
          <p:cNvSpPr/>
          <p:nvPr/>
        </p:nvSpPr>
        <p:spPr>
          <a:xfrm>
            <a:off x="7955279" y="2560320"/>
            <a:ext cx="14173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19288" y="2587751"/>
            <a:ext cx="1325880" cy="265176"/>
          </a:xfrm>
          <a:prstGeom prst="rect">
            <a:avLst/>
          </a:prstGeom>
          <a:noFill/>
        </p:spPr>
        <p:txBody>
          <a:bodyPr wrap="square">
            <a:spAutoFit/>
          </a:bodyPr>
          <a:lstStyle/>
          <a:p>
            <a:pPr algn="ctr"/>
            <a:r>
              <a:rPr sz="850" b="0" i="0">
                <a:solidFill>
                  <a:srgbClr val="1A1A2E"/>
                </a:solidFill>
              </a:rPr>
              <a:t>90,305</a:t>
            </a:r>
          </a:p>
        </p:txBody>
      </p:sp>
      <p:sp>
        <p:nvSpPr>
          <p:cNvPr id="96" name="Rectangle 95"/>
          <p:cNvSpPr/>
          <p:nvPr/>
        </p:nvSpPr>
        <p:spPr>
          <a:xfrm>
            <a:off x="274320" y="2871216"/>
            <a:ext cx="5029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38328" y="2898648"/>
            <a:ext cx="411480" cy="265176"/>
          </a:xfrm>
          <a:prstGeom prst="rect">
            <a:avLst/>
          </a:prstGeom>
          <a:noFill/>
        </p:spPr>
        <p:txBody>
          <a:bodyPr wrap="square">
            <a:spAutoFit/>
          </a:bodyPr>
          <a:lstStyle/>
          <a:p>
            <a:pPr algn="l"/>
            <a:r>
              <a:rPr sz="850" b="0" i="0">
                <a:solidFill>
                  <a:srgbClr val="1A1A2E"/>
                </a:solidFill>
              </a:rPr>
              <a:t>#5</a:t>
            </a:r>
          </a:p>
        </p:txBody>
      </p:sp>
      <p:sp>
        <p:nvSpPr>
          <p:cNvPr id="98" name="Rectangle 97"/>
          <p:cNvSpPr/>
          <p:nvPr/>
        </p:nvSpPr>
        <p:spPr>
          <a:xfrm>
            <a:off x="777240" y="2871216"/>
            <a:ext cx="21031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41248" y="2898648"/>
            <a:ext cx="2011679" cy="265176"/>
          </a:xfrm>
          <a:prstGeom prst="rect">
            <a:avLst/>
          </a:prstGeom>
          <a:noFill/>
        </p:spPr>
        <p:txBody>
          <a:bodyPr wrap="square">
            <a:spAutoFit/>
          </a:bodyPr>
          <a:lstStyle/>
          <a:p>
            <a:pPr algn="ctr"/>
            <a:r>
              <a:rPr sz="850" b="0" i="0">
                <a:solidFill>
                  <a:srgbClr val="1A1A2E"/>
                </a:solidFill>
              </a:rPr>
              <a:t>Novoresume</a:t>
            </a:r>
          </a:p>
        </p:txBody>
      </p:sp>
      <p:sp>
        <p:nvSpPr>
          <p:cNvPr id="100" name="Rectangle 99"/>
          <p:cNvSpPr/>
          <p:nvPr/>
        </p:nvSpPr>
        <p:spPr>
          <a:xfrm>
            <a:off x="2880360" y="2871216"/>
            <a:ext cx="9144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944368" y="2898648"/>
            <a:ext cx="822960" cy="265176"/>
          </a:xfrm>
          <a:prstGeom prst="rect">
            <a:avLst/>
          </a:prstGeom>
          <a:noFill/>
        </p:spPr>
        <p:txBody>
          <a:bodyPr wrap="square">
            <a:spAutoFit/>
          </a:bodyPr>
          <a:lstStyle/>
          <a:p>
            <a:pPr algn="ctr"/>
            <a:r>
              <a:rPr sz="850" b="0" i="0">
                <a:solidFill>
                  <a:srgbClr val="1A1A2E"/>
                </a:solidFill>
              </a:rPr>
              <a:t>2,667</a:t>
            </a:r>
          </a:p>
        </p:txBody>
      </p:sp>
      <p:sp>
        <p:nvSpPr>
          <p:cNvPr id="102" name="Rectangle 101"/>
          <p:cNvSpPr/>
          <p:nvPr/>
        </p:nvSpPr>
        <p:spPr>
          <a:xfrm>
            <a:off x="3794760" y="2871216"/>
            <a:ext cx="13716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858768" y="2898648"/>
            <a:ext cx="1280160" cy="265176"/>
          </a:xfrm>
          <a:prstGeom prst="rect">
            <a:avLst/>
          </a:prstGeom>
          <a:noFill/>
        </p:spPr>
        <p:txBody>
          <a:bodyPr wrap="square">
            <a:spAutoFit/>
          </a:bodyPr>
          <a:lstStyle/>
          <a:p>
            <a:pPr algn="ctr"/>
            <a:r>
              <a:rPr sz="850" b="0" i="0">
                <a:solidFill>
                  <a:srgbClr val="1A1A2E"/>
                </a:solidFill>
              </a:rPr>
              <a:t>3,718,340</a:t>
            </a:r>
          </a:p>
        </p:txBody>
      </p:sp>
      <p:sp>
        <p:nvSpPr>
          <p:cNvPr id="104" name="Rectangle 103"/>
          <p:cNvSpPr/>
          <p:nvPr/>
        </p:nvSpPr>
        <p:spPr>
          <a:xfrm>
            <a:off x="5166360" y="2871216"/>
            <a:ext cx="77724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230368" y="2898648"/>
            <a:ext cx="685800" cy="265176"/>
          </a:xfrm>
          <a:prstGeom prst="rect">
            <a:avLst/>
          </a:prstGeom>
          <a:noFill/>
        </p:spPr>
        <p:txBody>
          <a:bodyPr wrap="square">
            <a:spAutoFit/>
          </a:bodyPr>
          <a:lstStyle/>
          <a:p>
            <a:pPr algn="ctr"/>
            <a:r>
              <a:rPr sz="850" b="0" i="0">
                <a:solidFill>
                  <a:srgbClr val="1A1A2E"/>
                </a:solidFill>
              </a:rPr>
              <a:t>21.2</a:t>
            </a:r>
          </a:p>
        </p:txBody>
      </p:sp>
      <p:sp>
        <p:nvSpPr>
          <p:cNvPr id="106" name="Rectangle 105"/>
          <p:cNvSpPr/>
          <p:nvPr/>
        </p:nvSpPr>
        <p:spPr>
          <a:xfrm>
            <a:off x="5943600" y="2871216"/>
            <a:ext cx="64008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007608" y="2898648"/>
            <a:ext cx="548640" cy="265176"/>
          </a:xfrm>
          <a:prstGeom prst="rect">
            <a:avLst/>
          </a:prstGeom>
          <a:noFill/>
        </p:spPr>
        <p:txBody>
          <a:bodyPr wrap="square">
            <a:spAutoFit/>
          </a:bodyPr>
          <a:lstStyle/>
          <a:p>
            <a:pPr algn="ctr"/>
            <a:r>
              <a:rPr sz="850" b="0" i="0">
                <a:solidFill>
                  <a:srgbClr val="1A1A2E"/>
                </a:solidFill>
              </a:rPr>
              <a:t>98</a:t>
            </a:r>
          </a:p>
        </p:txBody>
      </p:sp>
      <p:sp>
        <p:nvSpPr>
          <p:cNvPr id="108" name="Rectangle 107"/>
          <p:cNvSpPr/>
          <p:nvPr/>
        </p:nvSpPr>
        <p:spPr>
          <a:xfrm>
            <a:off x="6583680" y="2871216"/>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647688" y="2898648"/>
            <a:ext cx="594360" cy="265176"/>
          </a:xfrm>
          <a:prstGeom prst="rect">
            <a:avLst/>
          </a:prstGeom>
          <a:noFill/>
        </p:spPr>
        <p:txBody>
          <a:bodyPr wrap="square">
            <a:spAutoFit/>
          </a:bodyPr>
          <a:lstStyle/>
          <a:p>
            <a:pPr algn="ctr"/>
            <a:r>
              <a:rPr sz="850" b="0" i="0">
                <a:solidFill>
                  <a:srgbClr val="1A1A2E"/>
                </a:solidFill>
              </a:rPr>
              <a:t>449</a:t>
            </a:r>
          </a:p>
        </p:txBody>
      </p:sp>
      <p:sp>
        <p:nvSpPr>
          <p:cNvPr id="110" name="Rectangle 109"/>
          <p:cNvSpPr/>
          <p:nvPr/>
        </p:nvSpPr>
        <p:spPr>
          <a:xfrm>
            <a:off x="7269480" y="2871216"/>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333488" y="2898648"/>
            <a:ext cx="594360" cy="265176"/>
          </a:xfrm>
          <a:prstGeom prst="rect">
            <a:avLst/>
          </a:prstGeom>
          <a:noFill/>
        </p:spPr>
        <p:txBody>
          <a:bodyPr wrap="square">
            <a:spAutoFit/>
          </a:bodyPr>
          <a:lstStyle/>
          <a:p>
            <a:pPr algn="ctr"/>
            <a:r>
              <a:rPr sz="850" b="0" i="0">
                <a:solidFill>
                  <a:srgbClr val="1A1A2E"/>
                </a:solidFill>
              </a:rPr>
              <a:t>1,221</a:t>
            </a:r>
          </a:p>
        </p:txBody>
      </p:sp>
      <p:sp>
        <p:nvSpPr>
          <p:cNvPr id="112" name="Rectangle 111"/>
          <p:cNvSpPr/>
          <p:nvPr/>
        </p:nvSpPr>
        <p:spPr>
          <a:xfrm>
            <a:off x="7955279" y="2871216"/>
            <a:ext cx="14173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019288" y="2898648"/>
            <a:ext cx="1325880" cy="265176"/>
          </a:xfrm>
          <a:prstGeom prst="rect">
            <a:avLst/>
          </a:prstGeom>
          <a:noFill/>
        </p:spPr>
        <p:txBody>
          <a:bodyPr wrap="square">
            <a:spAutoFit/>
          </a:bodyPr>
          <a:lstStyle/>
          <a:p>
            <a:pPr algn="ctr"/>
            <a:r>
              <a:rPr sz="850" b="0" i="0">
                <a:solidFill>
                  <a:srgbClr val="1A1A2E"/>
                </a:solidFill>
              </a:rPr>
              <a:t>69,179</a:t>
            </a:r>
          </a:p>
        </p:txBody>
      </p:sp>
      <p:sp>
        <p:nvSpPr>
          <p:cNvPr id="114" name="Rectangle 113"/>
          <p:cNvSpPr/>
          <p:nvPr/>
        </p:nvSpPr>
        <p:spPr>
          <a:xfrm>
            <a:off x="274320" y="3182112"/>
            <a:ext cx="5029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38328" y="3209544"/>
            <a:ext cx="411480" cy="265176"/>
          </a:xfrm>
          <a:prstGeom prst="rect">
            <a:avLst/>
          </a:prstGeom>
          <a:noFill/>
        </p:spPr>
        <p:txBody>
          <a:bodyPr wrap="square">
            <a:spAutoFit/>
          </a:bodyPr>
          <a:lstStyle/>
          <a:p>
            <a:pPr algn="l"/>
            <a:r>
              <a:rPr sz="850" b="0" i="0">
                <a:solidFill>
                  <a:srgbClr val="1A1A2E"/>
                </a:solidFill>
              </a:rPr>
              <a:t>#6</a:t>
            </a:r>
          </a:p>
        </p:txBody>
      </p:sp>
      <p:sp>
        <p:nvSpPr>
          <p:cNvPr id="116" name="Rectangle 115"/>
          <p:cNvSpPr/>
          <p:nvPr/>
        </p:nvSpPr>
        <p:spPr>
          <a:xfrm>
            <a:off x="777240" y="3182112"/>
            <a:ext cx="21031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41248" y="3209544"/>
            <a:ext cx="2011679" cy="265176"/>
          </a:xfrm>
          <a:prstGeom prst="rect">
            <a:avLst/>
          </a:prstGeom>
          <a:noFill/>
        </p:spPr>
        <p:txBody>
          <a:bodyPr wrap="square">
            <a:spAutoFit/>
          </a:bodyPr>
          <a:lstStyle/>
          <a:p>
            <a:pPr algn="ctr"/>
            <a:r>
              <a:rPr sz="850" b="0" i="0">
                <a:solidFill>
                  <a:srgbClr val="1A1A2E"/>
                </a:solidFill>
              </a:rPr>
              <a:t>Myperfectresume</a:t>
            </a:r>
          </a:p>
        </p:txBody>
      </p:sp>
      <p:sp>
        <p:nvSpPr>
          <p:cNvPr id="118" name="Rectangle 117"/>
          <p:cNvSpPr/>
          <p:nvPr/>
        </p:nvSpPr>
        <p:spPr>
          <a:xfrm>
            <a:off x="2880360" y="3182112"/>
            <a:ext cx="9144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944368" y="3209544"/>
            <a:ext cx="822960" cy="265176"/>
          </a:xfrm>
          <a:prstGeom prst="rect">
            <a:avLst/>
          </a:prstGeom>
          <a:noFill/>
        </p:spPr>
        <p:txBody>
          <a:bodyPr wrap="square">
            <a:spAutoFit/>
          </a:bodyPr>
          <a:lstStyle/>
          <a:p>
            <a:pPr algn="ctr"/>
            <a:r>
              <a:rPr sz="850" b="0" i="0">
                <a:solidFill>
                  <a:srgbClr val="1A1A2E"/>
                </a:solidFill>
              </a:rPr>
              <a:t>405</a:t>
            </a:r>
          </a:p>
        </p:txBody>
      </p:sp>
      <p:sp>
        <p:nvSpPr>
          <p:cNvPr id="120" name="Rectangle 119"/>
          <p:cNvSpPr/>
          <p:nvPr/>
        </p:nvSpPr>
        <p:spPr>
          <a:xfrm>
            <a:off x="3794760" y="3182112"/>
            <a:ext cx="13716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858768" y="3209544"/>
            <a:ext cx="1280160" cy="265176"/>
          </a:xfrm>
          <a:prstGeom prst="rect">
            <a:avLst/>
          </a:prstGeom>
          <a:noFill/>
        </p:spPr>
        <p:txBody>
          <a:bodyPr wrap="square">
            <a:spAutoFit/>
          </a:bodyPr>
          <a:lstStyle/>
          <a:p>
            <a:pPr algn="ctr"/>
            <a:r>
              <a:rPr sz="850" b="0" i="0">
                <a:solidFill>
                  <a:srgbClr val="1A1A2E"/>
                </a:solidFill>
              </a:rPr>
              <a:t>777,960</a:t>
            </a:r>
          </a:p>
        </p:txBody>
      </p:sp>
      <p:sp>
        <p:nvSpPr>
          <p:cNvPr id="122" name="Rectangle 121"/>
          <p:cNvSpPr/>
          <p:nvPr/>
        </p:nvSpPr>
        <p:spPr>
          <a:xfrm>
            <a:off x="5166360" y="3182112"/>
            <a:ext cx="77724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230368" y="3209544"/>
            <a:ext cx="685800" cy="265176"/>
          </a:xfrm>
          <a:prstGeom prst="rect">
            <a:avLst/>
          </a:prstGeom>
          <a:noFill/>
        </p:spPr>
        <p:txBody>
          <a:bodyPr wrap="square">
            <a:spAutoFit/>
          </a:bodyPr>
          <a:lstStyle/>
          <a:p>
            <a:pPr algn="ctr"/>
            <a:r>
              <a:rPr sz="850" b="0" i="0">
                <a:solidFill>
                  <a:srgbClr val="1A1A2E"/>
                </a:solidFill>
              </a:rPr>
              <a:t>4.8</a:t>
            </a:r>
          </a:p>
        </p:txBody>
      </p:sp>
      <p:sp>
        <p:nvSpPr>
          <p:cNvPr id="124" name="Rectangle 123"/>
          <p:cNvSpPr/>
          <p:nvPr/>
        </p:nvSpPr>
        <p:spPr>
          <a:xfrm>
            <a:off x="5943600" y="3182112"/>
            <a:ext cx="64008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007608" y="3209544"/>
            <a:ext cx="548640" cy="265176"/>
          </a:xfrm>
          <a:prstGeom prst="rect">
            <a:avLst/>
          </a:prstGeom>
          <a:noFill/>
        </p:spPr>
        <p:txBody>
          <a:bodyPr wrap="square">
            <a:spAutoFit/>
          </a:bodyPr>
          <a:lstStyle/>
          <a:p>
            <a:pPr algn="ctr"/>
            <a:r>
              <a:rPr sz="850" b="0" i="0">
                <a:solidFill>
                  <a:srgbClr val="1A1A2E"/>
                </a:solidFill>
              </a:rPr>
              <a:t>193</a:t>
            </a:r>
          </a:p>
        </p:txBody>
      </p:sp>
      <p:sp>
        <p:nvSpPr>
          <p:cNvPr id="126" name="Rectangle 125"/>
          <p:cNvSpPr/>
          <p:nvPr/>
        </p:nvSpPr>
        <p:spPr>
          <a:xfrm>
            <a:off x="6583680" y="3182112"/>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647688" y="3209544"/>
            <a:ext cx="594360" cy="265176"/>
          </a:xfrm>
          <a:prstGeom prst="rect">
            <a:avLst/>
          </a:prstGeom>
          <a:noFill/>
        </p:spPr>
        <p:txBody>
          <a:bodyPr wrap="square">
            <a:spAutoFit/>
          </a:bodyPr>
          <a:lstStyle/>
          <a:p>
            <a:pPr algn="ctr"/>
            <a:r>
              <a:rPr sz="850" b="0" i="0">
                <a:solidFill>
                  <a:srgbClr val="1A1A2E"/>
                </a:solidFill>
              </a:rPr>
              <a:t>383</a:t>
            </a:r>
          </a:p>
        </p:txBody>
      </p:sp>
      <p:sp>
        <p:nvSpPr>
          <p:cNvPr id="128" name="Rectangle 127"/>
          <p:cNvSpPr/>
          <p:nvPr/>
        </p:nvSpPr>
        <p:spPr>
          <a:xfrm>
            <a:off x="7269480" y="3182112"/>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333488" y="3209544"/>
            <a:ext cx="594360" cy="265176"/>
          </a:xfrm>
          <a:prstGeom prst="rect">
            <a:avLst/>
          </a:prstGeom>
          <a:noFill/>
        </p:spPr>
        <p:txBody>
          <a:bodyPr wrap="square">
            <a:spAutoFit/>
          </a:bodyPr>
          <a:lstStyle/>
          <a:p>
            <a:pPr algn="ctr"/>
            <a:r>
              <a:rPr sz="850" b="0" i="0">
                <a:solidFill>
                  <a:srgbClr val="1A1A2E"/>
                </a:solidFill>
              </a:rPr>
              <a:t>405</a:t>
            </a:r>
          </a:p>
        </p:txBody>
      </p:sp>
      <p:sp>
        <p:nvSpPr>
          <p:cNvPr id="130" name="Rectangle 129"/>
          <p:cNvSpPr/>
          <p:nvPr/>
        </p:nvSpPr>
        <p:spPr>
          <a:xfrm>
            <a:off x="7955279" y="3182112"/>
            <a:ext cx="14173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8019288" y="3209544"/>
            <a:ext cx="1325880" cy="265176"/>
          </a:xfrm>
          <a:prstGeom prst="rect">
            <a:avLst/>
          </a:prstGeom>
          <a:noFill/>
        </p:spPr>
        <p:txBody>
          <a:bodyPr wrap="square">
            <a:spAutoFit/>
          </a:bodyPr>
          <a:lstStyle/>
          <a:p>
            <a:pPr algn="ctr"/>
            <a:r>
              <a:rPr sz="850" b="0" i="0">
                <a:solidFill>
                  <a:srgbClr val="1A1A2E"/>
                </a:solidFill>
              </a:rPr>
              <a:t>66,887</a:t>
            </a:r>
          </a:p>
        </p:txBody>
      </p:sp>
      <p:sp>
        <p:nvSpPr>
          <p:cNvPr id="132" name="Rectangle 131"/>
          <p:cNvSpPr/>
          <p:nvPr/>
        </p:nvSpPr>
        <p:spPr>
          <a:xfrm>
            <a:off x="274320" y="3493008"/>
            <a:ext cx="5029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338328" y="3520440"/>
            <a:ext cx="411480" cy="265176"/>
          </a:xfrm>
          <a:prstGeom prst="rect">
            <a:avLst/>
          </a:prstGeom>
          <a:noFill/>
        </p:spPr>
        <p:txBody>
          <a:bodyPr wrap="square">
            <a:spAutoFit/>
          </a:bodyPr>
          <a:lstStyle/>
          <a:p>
            <a:pPr algn="l"/>
            <a:r>
              <a:rPr sz="850" b="0" i="0">
                <a:solidFill>
                  <a:srgbClr val="1A1A2E"/>
                </a:solidFill>
              </a:rPr>
              <a:t>#7</a:t>
            </a:r>
          </a:p>
        </p:txBody>
      </p:sp>
      <p:sp>
        <p:nvSpPr>
          <p:cNvPr id="134" name="Rectangle 133"/>
          <p:cNvSpPr/>
          <p:nvPr/>
        </p:nvSpPr>
        <p:spPr>
          <a:xfrm>
            <a:off x="777240" y="3493008"/>
            <a:ext cx="21031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41248" y="3520440"/>
            <a:ext cx="2011679" cy="265176"/>
          </a:xfrm>
          <a:prstGeom prst="rect">
            <a:avLst/>
          </a:prstGeom>
          <a:noFill/>
        </p:spPr>
        <p:txBody>
          <a:bodyPr wrap="square">
            <a:spAutoFit/>
          </a:bodyPr>
          <a:lstStyle/>
          <a:p>
            <a:pPr algn="ctr"/>
            <a:r>
              <a:rPr sz="850" b="0" i="0">
                <a:solidFill>
                  <a:srgbClr val="1A1A2E"/>
                </a:solidFill>
              </a:rPr>
              <a:t>Finalroundai</a:t>
            </a:r>
          </a:p>
        </p:txBody>
      </p:sp>
      <p:sp>
        <p:nvSpPr>
          <p:cNvPr id="136" name="Rectangle 135"/>
          <p:cNvSpPr/>
          <p:nvPr/>
        </p:nvSpPr>
        <p:spPr>
          <a:xfrm>
            <a:off x="2880360" y="3493008"/>
            <a:ext cx="9144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944368" y="3520440"/>
            <a:ext cx="822960" cy="265176"/>
          </a:xfrm>
          <a:prstGeom prst="rect">
            <a:avLst/>
          </a:prstGeom>
          <a:noFill/>
        </p:spPr>
        <p:txBody>
          <a:bodyPr wrap="square">
            <a:spAutoFit/>
          </a:bodyPr>
          <a:lstStyle/>
          <a:p>
            <a:pPr algn="ctr"/>
            <a:r>
              <a:rPr sz="850" b="0" i="0">
                <a:solidFill>
                  <a:srgbClr val="1A1A2E"/>
                </a:solidFill>
              </a:rPr>
              <a:t>2,256</a:t>
            </a:r>
          </a:p>
        </p:txBody>
      </p:sp>
      <p:sp>
        <p:nvSpPr>
          <p:cNvPr id="138" name="Rectangle 137"/>
          <p:cNvSpPr/>
          <p:nvPr/>
        </p:nvSpPr>
        <p:spPr>
          <a:xfrm>
            <a:off x="3794760" y="3493008"/>
            <a:ext cx="13716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8768" y="3520440"/>
            <a:ext cx="1280160" cy="265176"/>
          </a:xfrm>
          <a:prstGeom prst="rect">
            <a:avLst/>
          </a:prstGeom>
          <a:noFill/>
        </p:spPr>
        <p:txBody>
          <a:bodyPr wrap="square">
            <a:spAutoFit/>
          </a:bodyPr>
          <a:lstStyle/>
          <a:p>
            <a:pPr algn="ctr"/>
            <a:r>
              <a:rPr sz="850" b="0" i="0">
                <a:solidFill>
                  <a:srgbClr val="1A1A2E"/>
                </a:solidFill>
              </a:rPr>
              <a:t>1,744,210</a:t>
            </a:r>
          </a:p>
        </p:txBody>
      </p:sp>
      <p:sp>
        <p:nvSpPr>
          <p:cNvPr id="140" name="Rectangle 139"/>
          <p:cNvSpPr/>
          <p:nvPr/>
        </p:nvSpPr>
        <p:spPr>
          <a:xfrm>
            <a:off x="5166360" y="3493008"/>
            <a:ext cx="77724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230368" y="3520440"/>
            <a:ext cx="685800" cy="265176"/>
          </a:xfrm>
          <a:prstGeom prst="rect">
            <a:avLst/>
          </a:prstGeom>
          <a:noFill/>
        </p:spPr>
        <p:txBody>
          <a:bodyPr wrap="square">
            <a:spAutoFit/>
          </a:bodyPr>
          <a:lstStyle/>
          <a:p>
            <a:pPr algn="ctr"/>
            <a:r>
              <a:rPr sz="850" b="0" i="0">
                <a:solidFill>
                  <a:srgbClr val="1A1A2E"/>
                </a:solidFill>
              </a:rPr>
              <a:t>17.8</a:t>
            </a:r>
          </a:p>
        </p:txBody>
      </p:sp>
      <p:sp>
        <p:nvSpPr>
          <p:cNvPr id="142" name="Rectangle 141"/>
          <p:cNvSpPr/>
          <p:nvPr/>
        </p:nvSpPr>
        <p:spPr>
          <a:xfrm>
            <a:off x="5943600" y="3493008"/>
            <a:ext cx="64008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007608" y="3520440"/>
            <a:ext cx="548640" cy="265176"/>
          </a:xfrm>
          <a:prstGeom prst="rect">
            <a:avLst/>
          </a:prstGeom>
          <a:noFill/>
        </p:spPr>
        <p:txBody>
          <a:bodyPr wrap="square">
            <a:spAutoFit/>
          </a:bodyPr>
          <a:lstStyle/>
          <a:p>
            <a:pPr algn="ctr"/>
            <a:r>
              <a:rPr sz="850" b="0" i="0">
                <a:solidFill>
                  <a:srgbClr val="1A1A2E"/>
                </a:solidFill>
              </a:rPr>
              <a:t>176</a:t>
            </a:r>
          </a:p>
        </p:txBody>
      </p:sp>
      <p:sp>
        <p:nvSpPr>
          <p:cNvPr id="144" name="Rectangle 143"/>
          <p:cNvSpPr/>
          <p:nvPr/>
        </p:nvSpPr>
        <p:spPr>
          <a:xfrm>
            <a:off x="6583680" y="3493008"/>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647688" y="3520440"/>
            <a:ext cx="594360" cy="265176"/>
          </a:xfrm>
          <a:prstGeom prst="rect">
            <a:avLst/>
          </a:prstGeom>
          <a:noFill/>
        </p:spPr>
        <p:txBody>
          <a:bodyPr wrap="square">
            <a:spAutoFit/>
          </a:bodyPr>
          <a:lstStyle/>
          <a:p>
            <a:pPr algn="ctr"/>
            <a:r>
              <a:rPr sz="850" b="0" i="0">
                <a:solidFill>
                  <a:srgbClr val="1A1A2E"/>
                </a:solidFill>
              </a:rPr>
              <a:t>637</a:t>
            </a:r>
          </a:p>
        </p:txBody>
      </p:sp>
      <p:sp>
        <p:nvSpPr>
          <p:cNvPr id="146" name="Rectangle 145"/>
          <p:cNvSpPr/>
          <p:nvPr/>
        </p:nvSpPr>
        <p:spPr>
          <a:xfrm>
            <a:off x="7269480" y="3493008"/>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7333488" y="3520440"/>
            <a:ext cx="594360" cy="265176"/>
          </a:xfrm>
          <a:prstGeom prst="rect">
            <a:avLst/>
          </a:prstGeom>
          <a:noFill/>
        </p:spPr>
        <p:txBody>
          <a:bodyPr wrap="square">
            <a:spAutoFit/>
          </a:bodyPr>
          <a:lstStyle/>
          <a:p>
            <a:pPr algn="ctr"/>
            <a:r>
              <a:rPr sz="850" b="0" i="0">
                <a:solidFill>
                  <a:srgbClr val="1A1A2E"/>
                </a:solidFill>
              </a:rPr>
              <a:t>1,364</a:t>
            </a:r>
          </a:p>
        </p:txBody>
      </p:sp>
      <p:sp>
        <p:nvSpPr>
          <p:cNvPr id="148" name="Rectangle 147"/>
          <p:cNvSpPr/>
          <p:nvPr/>
        </p:nvSpPr>
        <p:spPr>
          <a:xfrm>
            <a:off x="7955279" y="3493008"/>
            <a:ext cx="14173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8019288" y="3520440"/>
            <a:ext cx="1325880" cy="265176"/>
          </a:xfrm>
          <a:prstGeom prst="rect">
            <a:avLst/>
          </a:prstGeom>
          <a:noFill/>
        </p:spPr>
        <p:txBody>
          <a:bodyPr wrap="square">
            <a:spAutoFit/>
          </a:bodyPr>
          <a:lstStyle/>
          <a:p>
            <a:pPr algn="ctr"/>
            <a:r>
              <a:rPr sz="850" b="0" i="0">
                <a:solidFill>
                  <a:srgbClr val="1A1A2E"/>
                </a:solidFill>
              </a:rPr>
              <a:t>55,057</a:t>
            </a:r>
          </a:p>
        </p:txBody>
      </p:sp>
      <p:sp>
        <p:nvSpPr>
          <p:cNvPr id="150" name="Rectangle 149"/>
          <p:cNvSpPr/>
          <p:nvPr/>
        </p:nvSpPr>
        <p:spPr>
          <a:xfrm>
            <a:off x="274320" y="3803904"/>
            <a:ext cx="5029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338328" y="3831336"/>
            <a:ext cx="411480" cy="265176"/>
          </a:xfrm>
          <a:prstGeom prst="rect">
            <a:avLst/>
          </a:prstGeom>
          <a:noFill/>
        </p:spPr>
        <p:txBody>
          <a:bodyPr wrap="square">
            <a:spAutoFit/>
          </a:bodyPr>
          <a:lstStyle/>
          <a:p>
            <a:pPr algn="l"/>
            <a:r>
              <a:rPr sz="850" b="0" i="0">
                <a:solidFill>
                  <a:srgbClr val="1A1A2E"/>
                </a:solidFill>
              </a:rPr>
              <a:t>#8</a:t>
            </a:r>
          </a:p>
        </p:txBody>
      </p:sp>
      <p:sp>
        <p:nvSpPr>
          <p:cNvPr id="152" name="Rectangle 151"/>
          <p:cNvSpPr/>
          <p:nvPr/>
        </p:nvSpPr>
        <p:spPr>
          <a:xfrm>
            <a:off x="777240" y="3803904"/>
            <a:ext cx="21031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41248" y="3831336"/>
            <a:ext cx="2011679" cy="265176"/>
          </a:xfrm>
          <a:prstGeom prst="rect">
            <a:avLst/>
          </a:prstGeom>
          <a:noFill/>
        </p:spPr>
        <p:txBody>
          <a:bodyPr wrap="square">
            <a:spAutoFit/>
          </a:bodyPr>
          <a:lstStyle/>
          <a:p>
            <a:pPr algn="ctr"/>
            <a:r>
              <a:rPr sz="850" b="0" i="0">
                <a:solidFill>
                  <a:srgbClr val="1A1A2E"/>
                </a:solidFill>
              </a:rPr>
              <a:t>Pramp</a:t>
            </a:r>
          </a:p>
        </p:txBody>
      </p:sp>
      <p:sp>
        <p:nvSpPr>
          <p:cNvPr id="154" name="Rectangle 153"/>
          <p:cNvSpPr/>
          <p:nvPr/>
        </p:nvSpPr>
        <p:spPr>
          <a:xfrm>
            <a:off x="2880360" y="3803904"/>
            <a:ext cx="9144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944368" y="3831336"/>
            <a:ext cx="822960" cy="265176"/>
          </a:xfrm>
          <a:prstGeom prst="rect">
            <a:avLst/>
          </a:prstGeom>
          <a:noFill/>
        </p:spPr>
        <p:txBody>
          <a:bodyPr wrap="square">
            <a:spAutoFit/>
          </a:bodyPr>
          <a:lstStyle/>
          <a:p>
            <a:pPr algn="ctr"/>
            <a:r>
              <a:rPr sz="850" b="0" i="0">
                <a:solidFill>
                  <a:srgbClr val="1A1A2E"/>
                </a:solidFill>
              </a:rPr>
              <a:t>278</a:t>
            </a:r>
          </a:p>
        </p:txBody>
      </p:sp>
      <p:sp>
        <p:nvSpPr>
          <p:cNvPr id="156" name="Rectangle 155"/>
          <p:cNvSpPr/>
          <p:nvPr/>
        </p:nvSpPr>
        <p:spPr>
          <a:xfrm>
            <a:off x="3794760" y="3803904"/>
            <a:ext cx="13716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858768" y="3831336"/>
            <a:ext cx="1280160" cy="265176"/>
          </a:xfrm>
          <a:prstGeom prst="rect">
            <a:avLst/>
          </a:prstGeom>
          <a:noFill/>
        </p:spPr>
        <p:txBody>
          <a:bodyPr wrap="square">
            <a:spAutoFit/>
          </a:bodyPr>
          <a:lstStyle/>
          <a:p>
            <a:pPr algn="ctr"/>
            <a:r>
              <a:rPr sz="850" b="0" i="0">
                <a:solidFill>
                  <a:srgbClr val="1A1A2E"/>
                </a:solidFill>
              </a:rPr>
              <a:t>290,590</a:t>
            </a:r>
          </a:p>
        </p:txBody>
      </p:sp>
      <p:sp>
        <p:nvSpPr>
          <p:cNvPr id="158" name="Rectangle 157"/>
          <p:cNvSpPr/>
          <p:nvPr/>
        </p:nvSpPr>
        <p:spPr>
          <a:xfrm>
            <a:off x="5166360" y="3803904"/>
            <a:ext cx="77724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30368" y="3831336"/>
            <a:ext cx="685800" cy="265176"/>
          </a:xfrm>
          <a:prstGeom prst="rect">
            <a:avLst/>
          </a:prstGeom>
          <a:noFill/>
        </p:spPr>
        <p:txBody>
          <a:bodyPr wrap="square">
            <a:spAutoFit/>
          </a:bodyPr>
          <a:lstStyle/>
          <a:p>
            <a:pPr algn="ctr"/>
            <a:r>
              <a:rPr sz="850" b="0" i="0">
                <a:solidFill>
                  <a:srgbClr val="1A1A2E"/>
                </a:solidFill>
              </a:rPr>
              <a:t>17.1</a:t>
            </a:r>
          </a:p>
        </p:txBody>
      </p:sp>
      <p:sp>
        <p:nvSpPr>
          <p:cNvPr id="160" name="Rectangle 159"/>
          <p:cNvSpPr/>
          <p:nvPr/>
        </p:nvSpPr>
        <p:spPr>
          <a:xfrm>
            <a:off x="5943600" y="3803904"/>
            <a:ext cx="64008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007608" y="3831336"/>
            <a:ext cx="548640" cy="265176"/>
          </a:xfrm>
          <a:prstGeom prst="rect">
            <a:avLst/>
          </a:prstGeom>
          <a:noFill/>
        </p:spPr>
        <p:txBody>
          <a:bodyPr wrap="square">
            <a:spAutoFit/>
          </a:bodyPr>
          <a:lstStyle/>
          <a:p>
            <a:pPr algn="ctr"/>
            <a:r>
              <a:rPr sz="850" b="0" i="0">
                <a:solidFill>
                  <a:srgbClr val="1A1A2E"/>
                </a:solidFill>
              </a:rPr>
              <a:t>42</a:t>
            </a:r>
          </a:p>
        </p:txBody>
      </p:sp>
      <p:sp>
        <p:nvSpPr>
          <p:cNvPr id="162" name="Rectangle 161"/>
          <p:cNvSpPr/>
          <p:nvPr/>
        </p:nvSpPr>
        <p:spPr>
          <a:xfrm>
            <a:off x="6583680" y="3803904"/>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647688" y="3831336"/>
            <a:ext cx="594360" cy="265176"/>
          </a:xfrm>
          <a:prstGeom prst="rect">
            <a:avLst/>
          </a:prstGeom>
          <a:noFill/>
        </p:spPr>
        <p:txBody>
          <a:bodyPr wrap="square">
            <a:spAutoFit/>
          </a:bodyPr>
          <a:lstStyle/>
          <a:p>
            <a:pPr algn="ctr"/>
            <a:r>
              <a:rPr sz="850" b="0" i="0">
                <a:solidFill>
                  <a:srgbClr val="1A1A2E"/>
                </a:solidFill>
              </a:rPr>
              <a:t>84</a:t>
            </a:r>
          </a:p>
        </p:txBody>
      </p:sp>
      <p:sp>
        <p:nvSpPr>
          <p:cNvPr id="164" name="Rectangle 163"/>
          <p:cNvSpPr/>
          <p:nvPr/>
        </p:nvSpPr>
        <p:spPr>
          <a:xfrm>
            <a:off x="7269480" y="3803904"/>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333488" y="3831336"/>
            <a:ext cx="594360" cy="265176"/>
          </a:xfrm>
          <a:prstGeom prst="rect">
            <a:avLst/>
          </a:prstGeom>
          <a:noFill/>
        </p:spPr>
        <p:txBody>
          <a:bodyPr wrap="square">
            <a:spAutoFit/>
          </a:bodyPr>
          <a:lstStyle/>
          <a:p>
            <a:pPr algn="ctr"/>
            <a:r>
              <a:rPr sz="850" b="0" i="0">
                <a:solidFill>
                  <a:srgbClr val="1A1A2E"/>
                </a:solidFill>
              </a:rPr>
              <a:t>163</a:t>
            </a:r>
          </a:p>
        </p:txBody>
      </p:sp>
      <p:sp>
        <p:nvSpPr>
          <p:cNvPr id="166" name="Rectangle 165"/>
          <p:cNvSpPr/>
          <p:nvPr/>
        </p:nvSpPr>
        <p:spPr>
          <a:xfrm>
            <a:off x="7955279" y="3803904"/>
            <a:ext cx="14173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019288" y="3831336"/>
            <a:ext cx="1325880" cy="265176"/>
          </a:xfrm>
          <a:prstGeom prst="rect">
            <a:avLst/>
          </a:prstGeom>
          <a:noFill/>
        </p:spPr>
        <p:txBody>
          <a:bodyPr wrap="square">
            <a:spAutoFit/>
          </a:bodyPr>
          <a:lstStyle/>
          <a:p>
            <a:pPr algn="ctr"/>
            <a:r>
              <a:rPr sz="850" b="0" i="0">
                <a:solidFill>
                  <a:srgbClr val="1A1A2E"/>
                </a:solidFill>
              </a:rPr>
              <a:t>7,133</a:t>
            </a:r>
          </a:p>
        </p:txBody>
      </p:sp>
      <p:sp>
        <p:nvSpPr>
          <p:cNvPr id="168" name="Rectangle 167"/>
          <p:cNvSpPr/>
          <p:nvPr/>
        </p:nvSpPr>
        <p:spPr>
          <a:xfrm>
            <a:off x="274320" y="4114800"/>
            <a:ext cx="5029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38328" y="4142232"/>
            <a:ext cx="411480" cy="265176"/>
          </a:xfrm>
          <a:prstGeom prst="rect">
            <a:avLst/>
          </a:prstGeom>
          <a:noFill/>
        </p:spPr>
        <p:txBody>
          <a:bodyPr wrap="square">
            <a:spAutoFit/>
          </a:bodyPr>
          <a:lstStyle/>
          <a:p>
            <a:pPr algn="l"/>
            <a:r>
              <a:rPr sz="850" b="0" i="0">
                <a:solidFill>
                  <a:srgbClr val="1A1A2E"/>
                </a:solidFill>
              </a:rPr>
              <a:t>#9</a:t>
            </a:r>
          </a:p>
        </p:txBody>
      </p:sp>
      <p:sp>
        <p:nvSpPr>
          <p:cNvPr id="170" name="Rectangle 169"/>
          <p:cNvSpPr/>
          <p:nvPr/>
        </p:nvSpPr>
        <p:spPr>
          <a:xfrm>
            <a:off x="777240" y="4114800"/>
            <a:ext cx="21031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841248" y="4142232"/>
            <a:ext cx="2011679" cy="265176"/>
          </a:xfrm>
          <a:prstGeom prst="rect">
            <a:avLst/>
          </a:prstGeom>
          <a:noFill/>
        </p:spPr>
        <p:txBody>
          <a:bodyPr wrap="square">
            <a:spAutoFit/>
          </a:bodyPr>
          <a:lstStyle/>
          <a:p>
            <a:pPr algn="ctr"/>
            <a:r>
              <a:rPr sz="850" b="0" i="0">
                <a:solidFill>
                  <a:srgbClr val="1A1A2E"/>
                </a:solidFill>
              </a:rPr>
              <a:t>interviewsby</a:t>
            </a:r>
          </a:p>
        </p:txBody>
      </p:sp>
      <p:sp>
        <p:nvSpPr>
          <p:cNvPr id="172" name="Rectangle 171"/>
          <p:cNvSpPr/>
          <p:nvPr/>
        </p:nvSpPr>
        <p:spPr>
          <a:xfrm>
            <a:off x="2880360" y="4114800"/>
            <a:ext cx="9144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2944368" y="4142232"/>
            <a:ext cx="822960" cy="265176"/>
          </a:xfrm>
          <a:prstGeom prst="rect">
            <a:avLst/>
          </a:prstGeom>
          <a:noFill/>
        </p:spPr>
        <p:txBody>
          <a:bodyPr wrap="square">
            <a:spAutoFit/>
          </a:bodyPr>
          <a:lstStyle/>
          <a:p>
            <a:pPr algn="ctr"/>
            <a:r>
              <a:rPr sz="850" b="0" i="0">
                <a:solidFill>
                  <a:srgbClr val="1A1A2E"/>
                </a:solidFill>
              </a:rPr>
              <a:t>278</a:t>
            </a:r>
          </a:p>
        </p:txBody>
      </p:sp>
      <p:sp>
        <p:nvSpPr>
          <p:cNvPr id="174" name="Rectangle 173"/>
          <p:cNvSpPr/>
          <p:nvPr/>
        </p:nvSpPr>
        <p:spPr>
          <a:xfrm>
            <a:off x="3794760" y="4114800"/>
            <a:ext cx="13716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858768" y="4142232"/>
            <a:ext cx="1280160" cy="265176"/>
          </a:xfrm>
          <a:prstGeom prst="rect">
            <a:avLst/>
          </a:prstGeom>
          <a:noFill/>
        </p:spPr>
        <p:txBody>
          <a:bodyPr wrap="square">
            <a:spAutoFit/>
          </a:bodyPr>
          <a:lstStyle/>
          <a:p>
            <a:pPr algn="ctr"/>
            <a:r>
              <a:rPr sz="850" b="0" i="0">
                <a:solidFill>
                  <a:srgbClr val="1A1A2E"/>
                </a:solidFill>
              </a:rPr>
              <a:t>160,600</a:t>
            </a:r>
          </a:p>
        </p:txBody>
      </p:sp>
      <p:sp>
        <p:nvSpPr>
          <p:cNvPr id="176" name="Rectangle 175"/>
          <p:cNvSpPr/>
          <p:nvPr/>
        </p:nvSpPr>
        <p:spPr>
          <a:xfrm>
            <a:off x="5166360" y="4114800"/>
            <a:ext cx="77724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5230368" y="4142232"/>
            <a:ext cx="685800" cy="265176"/>
          </a:xfrm>
          <a:prstGeom prst="rect">
            <a:avLst/>
          </a:prstGeom>
          <a:noFill/>
        </p:spPr>
        <p:txBody>
          <a:bodyPr wrap="square">
            <a:spAutoFit/>
          </a:bodyPr>
          <a:lstStyle/>
          <a:p>
            <a:pPr algn="ctr"/>
            <a:r>
              <a:rPr sz="850" b="0" i="0">
                <a:solidFill>
                  <a:srgbClr val="1A1A2E"/>
                </a:solidFill>
              </a:rPr>
              <a:t>15.7</a:t>
            </a:r>
          </a:p>
        </p:txBody>
      </p:sp>
      <p:sp>
        <p:nvSpPr>
          <p:cNvPr id="178" name="Rectangle 177"/>
          <p:cNvSpPr/>
          <p:nvPr/>
        </p:nvSpPr>
        <p:spPr>
          <a:xfrm>
            <a:off x="5943600" y="4114800"/>
            <a:ext cx="64008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6007608" y="4142232"/>
            <a:ext cx="548640" cy="265176"/>
          </a:xfrm>
          <a:prstGeom prst="rect">
            <a:avLst/>
          </a:prstGeom>
          <a:noFill/>
        </p:spPr>
        <p:txBody>
          <a:bodyPr wrap="square">
            <a:spAutoFit/>
          </a:bodyPr>
          <a:lstStyle/>
          <a:p>
            <a:pPr algn="ctr"/>
            <a:r>
              <a:rPr sz="850" b="0" i="0">
                <a:solidFill>
                  <a:srgbClr val="1A1A2E"/>
                </a:solidFill>
              </a:rPr>
              <a:t>38</a:t>
            </a:r>
          </a:p>
        </p:txBody>
      </p:sp>
      <p:sp>
        <p:nvSpPr>
          <p:cNvPr id="180" name="Rectangle 179"/>
          <p:cNvSpPr/>
          <p:nvPr/>
        </p:nvSpPr>
        <p:spPr>
          <a:xfrm>
            <a:off x="6583680" y="4114800"/>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647688" y="4142232"/>
            <a:ext cx="594360" cy="265176"/>
          </a:xfrm>
          <a:prstGeom prst="rect">
            <a:avLst/>
          </a:prstGeom>
          <a:noFill/>
        </p:spPr>
        <p:txBody>
          <a:bodyPr wrap="square">
            <a:spAutoFit/>
          </a:bodyPr>
          <a:lstStyle/>
          <a:p>
            <a:pPr algn="ctr"/>
            <a:r>
              <a:rPr sz="850" b="0" i="0">
                <a:solidFill>
                  <a:srgbClr val="1A1A2E"/>
                </a:solidFill>
              </a:rPr>
              <a:t>107</a:t>
            </a:r>
          </a:p>
        </p:txBody>
      </p:sp>
      <p:sp>
        <p:nvSpPr>
          <p:cNvPr id="182" name="Rectangle 181"/>
          <p:cNvSpPr/>
          <p:nvPr/>
        </p:nvSpPr>
        <p:spPr>
          <a:xfrm>
            <a:off x="7269480" y="4114800"/>
            <a:ext cx="68580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7333488" y="4142232"/>
            <a:ext cx="594360" cy="265176"/>
          </a:xfrm>
          <a:prstGeom prst="rect">
            <a:avLst/>
          </a:prstGeom>
          <a:noFill/>
        </p:spPr>
        <p:txBody>
          <a:bodyPr wrap="square">
            <a:spAutoFit/>
          </a:bodyPr>
          <a:lstStyle/>
          <a:p>
            <a:pPr algn="ctr"/>
            <a:r>
              <a:rPr sz="850" b="0" i="0">
                <a:solidFill>
                  <a:srgbClr val="1A1A2E"/>
                </a:solidFill>
              </a:rPr>
              <a:t>183</a:t>
            </a:r>
          </a:p>
        </p:txBody>
      </p:sp>
      <p:sp>
        <p:nvSpPr>
          <p:cNvPr id="184" name="Rectangle 183"/>
          <p:cNvSpPr/>
          <p:nvPr/>
        </p:nvSpPr>
        <p:spPr>
          <a:xfrm>
            <a:off x="7955279" y="4114800"/>
            <a:ext cx="1417320" cy="301752"/>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8019288" y="4142232"/>
            <a:ext cx="1325880" cy="265176"/>
          </a:xfrm>
          <a:prstGeom prst="rect">
            <a:avLst/>
          </a:prstGeom>
          <a:noFill/>
        </p:spPr>
        <p:txBody>
          <a:bodyPr wrap="square">
            <a:spAutoFit/>
          </a:bodyPr>
          <a:lstStyle/>
          <a:p>
            <a:pPr algn="ctr"/>
            <a:r>
              <a:rPr sz="850" b="0" i="0">
                <a:solidFill>
                  <a:srgbClr val="1A1A2E"/>
                </a:solidFill>
              </a:rPr>
              <a:t>6,838</a:t>
            </a:r>
          </a:p>
        </p:txBody>
      </p:sp>
      <p:sp>
        <p:nvSpPr>
          <p:cNvPr id="186" name="Rectangle 185"/>
          <p:cNvSpPr/>
          <p:nvPr/>
        </p:nvSpPr>
        <p:spPr>
          <a:xfrm>
            <a:off x="274320" y="4425696"/>
            <a:ext cx="5029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338328" y="4453128"/>
            <a:ext cx="411480" cy="265176"/>
          </a:xfrm>
          <a:prstGeom prst="rect">
            <a:avLst/>
          </a:prstGeom>
          <a:noFill/>
        </p:spPr>
        <p:txBody>
          <a:bodyPr wrap="square">
            <a:spAutoFit/>
          </a:bodyPr>
          <a:lstStyle/>
          <a:p>
            <a:pPr algn="l"/>
            <a:r>
              <a:rPr sz="850" b="0" i="0">
                <a:solidFill>
                  <a:srgbClr val="1A1A2E"/>
                </a:solidFill>
              </a:rPr>
              <a:t>#10</a:t>
            </a:r>
          </a:p>
        </p:txBody>
      </p:sp>
      <p:sp>
        <p:nvSpPr>
          <p:cNvPr id="188" name="Rectangle 187"/>
          <p:cNvSpPr/>
          <p:nvPr/>
        </p:nvSpPr>
        <p:spPr>
          <a:xfrm>
            <a:off x="777240" y="4425696"/>
            <a:ext cx="21031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841248" y="4453128"/>
            <a:ext cx="2011679" cy="265176"/>
          </a:xfrm>
          <a:prstGeom prst="rect">
            <a:avLst/>
          </a:prstGeom>
          <a:noFill/>
        </p:spPr>
        <p:txBody>
          <a:bodyPr wrap="square">
            <a:spAutoFit/>
          </a:bodyPr>
          <a:lstStyle/>
          <a:p>
            <a:pPr algn="ctr"/>
            <a:r>
              <a:rPr sz="850" b="0" i="0">
                <a:solidFill>
                  <a:srgbClr val="1A1A2E"/>
                </a:solidFill>
              </a:rPr>
              <a:t>MyInterviewPractice</a:t>
            </a:r>
          </a:p>
        </p:txBody>
      </p:sp>
      <p:sp>
        <p:nvSpPr>
          <p:cNvPr id="190" name="Rectangle 189"/>
          <p:cNvSpPr/>
          <p:nvPr/>
        </p:nvSpPr>
        <p:spPr>
          <a:xfrm>
            <a:off x="2880360" y="4425696"/>
            <a:ext cx="9144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2944368" y="4453128"/>
            <a:ext cx="822960" cy="265176"/>
          </a:xfrm>
          <a:prstGeom prst="rect">
            <a:avLst/>
          </a:prstGeom>
          <a:noFill/>
        </p:spPr>
        <p:txBody>
          <a:bodyPr wrap="square">
            <a:spAutoFit/>
          </a:bodyPr>
          <a:lstStyle/>
          <a:p>
            <a:pPr algn="ctr"/>
            <a:r>
              <a:rPr sz="850" b="0" i="0">
                <a:solidFill>
                  <a:srgbClr val="1A1A2E"/>
                </a:solidFill>
              </a:rPr>
              <a:t>127</a:t>
            </a:r>
          </a:p>
        </p:txBody>
      </p:sp>
      <p:sp>
        <p:nvSpPr>
          <p:cNvPr id="192" name="Rectangle 191"/>
          <p:cNvSpPr/>
          <p:nvPr/>
        </p:nvSpPr>
        <p:spPr>
          <a:xfrm>
            <a:off x="3794760" y="4425696"/>
            <a:ext cx="13716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3858768" y="4453128"/>
            <a:ext cx="1280160" cy="265176"/>
          </a:xfrm>
          <a:prstGeom prst="rect">
            <a:avLst/>
          </a:prstGeom>
          <a:noFill/>
        </p:spPr>
        <p:txBody>
          <a:bodyPr wrap="square">
            <a:spAutoFit/>
          </a:bodyPr>
          <a:lstStyle/>
          <a:p>
            <a:pPr algn="ctr"/>
            <a:r>
              <a:rPr sz="850" b="0" i="0">
                <a:solidFill>
                  <a:srgbClr val="1A1A2E"/>
                </a:solidFill>
              </a:rPr>
              <a:t>73,380</a:t>
            </a:r>
          </a:p>
        </p:txBody>
      </p:sp>
      <p:sp>
        <p:nvSpPr>
          <p:cNvPr id="194" name="Rectangle 193"/>
          <p:cNvSpPr/>
          <p:nvPr/>
        </p:nvSpPr>
        <p:spPr>
          <a:xfrm>
            <a:off x="5166360" y="4425696"/>
            <a:ext cx="77724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5230368" y="4453128"/>
            <a:ext cx="685800" cy="265176"/>
          </a:xfrm>
          <a:prstGeom prst="rect">
            <a:avLst/>
          </a:prstGeom>
          <a:noFill/>
        </p:spPr>
        <p:txBody>
          <a:bodyPr wrap="square">
            <a:spAutoFit/>
          </a:bodyPr>
          <a:lstStyle/>
          <a:p>
            <a:pPr algn="ctr"/>
            <a:r>
              <a:rPr sz="850" b="0" i="0">
                <a:solidFill>
                  <a:srgbClr val="1A1A2E"/>
                </a:solidFill>
              </a:rPr>
              <a:t>18.2</a:t>
            </a:r>
          </a:p>
        </p:txBody>
      </p:sp>
      <p:sp>
        <p:nvSpPr>
          <p:cNvPr id="196" name="Rectangle 195"/>
          <p:cNvSpPr/>
          <p:nvPr/>
        </p:nvSpPr>
        <p:spPr>
          <a:xfrm>
            <a:off x="5943600" y="4425696"/>
            <a:ext cx="64008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007608" y="4453128"/>
            <a:ext cx="548640" cy="265176"/>
          </a:xfrm>
          <a:prstGeom prst="rect">
            <a:avLst/>
          </a:prstGeom>
          <a:noFill/>
        </p:spPr>
        <p:txBody>
          <a:bodyPr wrap="square">
            <a:spAutoFit/>
          </a:bodyPr>
          <a:lstStyle/>
          <a:p>
            <a:pPr algn="ctr"/>
            <a:r>
              <a:rPr sz="850" b="0" i="0">
                <a:solidFill>
                  <a:srgbClr val="1A1A2E"/>
                </a:solidFill>
              </a:rPr>
              <a:t>8</a:t>
            </a:r>
          </a:p>
        </p:txBody>
      </p:sp>
      <p:sp>
        <p:nvSpPr>
          <p:cNvPr id="198" name="Rectangle 197"/>
          <p:cNvSpPr/>
          <p:nvPr/>
        </p:nvSpPr>
        <p:spPr>
          <a:xfrm>
            <a:off x="6583680" y="4425696"/>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647688" y="4453128"/>
            <a:ext cx="594360" cy="265176"/>
          </a:xfrm>
          <a:prstGeom prst="rect">
            <a:avLst/>
          </a:prstGeom>
          <a:noFill/>
        </p:spPr>
        <p:txBody>
          <a:bodyPr wrap="square">
            <a:spAutoFit/>
          </a:bodyPr>
          <a:lstStyle/>
          <a:p>
            <a:pPr algn="ctr"/>
            <a:r>
              <a:rPr sz="850" b="0" i="0">
                <a:solidFill>
                  <a:srgbClr val="1A1A2E"/>
                </a:solidFill>
              </a:rPr>
              <a:t>36</a:t>
            </a:r>
          </a:p>
        </p:txBody>
      </p:sp>
      <p:sp>
        <p:nvSpPr>
          <p:cNvPr id="200" name="Rectangle 199"/>
          <p:cNvSpPr/>
          <p:nvPr/>
        </p:nvSpPr>
        <p:spPr>
          <a:xfrm>
            <a:off x="7269480" y="4425696"/>
            <a:ext cx="68580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7333488" y="4453128"/>
            <a:ext cx="594360" cy="265176"/>
          </a:xfrm>
          <a:prstGeom prst="rect">
            <a:avLst/>
          </a:prstGeom>
          <a:noFill/>
        </p:spPr>
        <p:txBody>
          <a:bodyPr wrap="square">
            <a:spAutoFit/>
          </a:bodyPr>
          <a:lstStyle/>
          <a:p>
            <a:pPr algn="ctr"/>
            <a:r>
              <a:rPr sz="850" b="0" i="0">
                <a:solidFill>
                  <a:srgbClr val="1A1A2E"/>
                </a:solidFill>
              </a:rPr>
              <a:t>75</a:t>
            </a:r>
          </a:p>
        </p:txBody>
      </p:sp>
      <p:sp>
        <p:nvSpPr>
          <p:cNvPr id="202" name="Rectangle 201"/>
          <p:cNvSpPr/>
          <p:nvPr/>
        </p:nvSpPr>
        <p:spPr>
          <a:xfrm>
            <a:off x="7955279" y="4425696"/>
            <a:ext cx="1417320" cy="301752"/>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8019288" y="4453128"/>
            <a:ext cx="1325880" cy="265176"/>
          </a:xfrm>
          <a:prstGeom prst="rect">
            <a:avLst/>
          </a:prstGeom>
          <a:noFill/>
        </p:spPr>
        <p:txBody>
          <a:bodyPr wrap="square">
            <a:spAutoFit/>
          </a:bodyPr>
          <a:lstStyle/>
          <a:p>
            <a:pPr algn="ctr"/>
            <a:r>
              <a:rPr sz="850" b="0" i="0">
                <a:solidFill>
                  <a:srgbClr val="1A1A2E"/>
                </a:solidFill>
              </a:rPr>
              <a:t>1,608</a:t>
            </a:r>
          </a:p>
        </p:txBody>
      </p:sp>
      <p:sp>
        <p:nvSpPr>
          <p:cNvPr id="204" name="Rectangle 203"/>
          <p:cNvSpPr/>
          <p:nvPr/>
        </p:nvSpPr>
        <p:spPr>
          <a:xfrm>
            <a:off x="274320" y="5285232"/>
            <a:ext cx="11612880" cy="1389888"/>
          </a:xfrm>
          <a:prstGeom prst="rect">
            <a:avLst/>
          </a:prstGeom>
          <a:solidFill>
            <a:srgbClr val="FFF5E6"/>
          </a:solidFill>
          <a:ln w="1905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502920" y="5349240"/>
            <a:ext cx="2743200" cy="274320"/>
          </a:xfrm>
          <a:prstGeom prst="rect">
            <a:avLst/>
          </a:prstGeom>
          <a:noFill/>
        </p:spPr>
        <p:txBody>
          <a:bodyPr wrap="square">
            <a:spAutoFit/>
          </a:bodyPr>
          <a:lstStyle/>
          <a:p>
            <a:pPr algn="l"/>
            <a:r>
              <a:rPr sz="1000" b="1" i="0">
                <a:solidFill>
                  <a:srgbClr val="FF6B00"/>
                </a:solidFill>
              </a:rPr>
              <a:t>Key Insight</a:t>
            </a:r>
          </a:p>
        </p:txBody>
      </p:sp>
      <p:sp>
        <p:nvSpPr>
          <p:cNvPr id="206" name="TextBox 205"/>
          <p:cNvSpPr txBox="1"/>
          <p:nvPr/>
        </p:nvSpPr>
        <p:spPr>
          <a:xfrm>
            <a:off x="502920" y="5623560"/>
            <a:ext cx="11155680" cy="868680"/>
          </a:xfrm>
          <a:prstGeom prst="rect">
            <a:avLst/>
          </a:prstGeom>
          <a:noFill/>
        </p:spPr>
        <p:txBody>
          <a:bodyPr wrap="square">
            <a:spAutoFit/>
          </a:bodyPr>
          <a:lstStyle/>
          <a:p>
            <a:pPr algn="l"/>
            <a:r>
              <a:rPr sz="1050" b="0" i="0">
                <a:solidFill>
                  <a:srgbClr val="1A1A2E"/>
                </a:solidFill>
              </a:rPr>
              <a:t>Indeed generates 63% more traffic than Naukri with 1.7× more keywords — the gap is position quality, not content volume.  Myperfectresume with only 405 keywords achieves avg position 4.8 — the best efficiency ratio of any brand.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03 — Naukri.com Performance</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Position distribution across 18,630 ranked keywords</a:t>
            </a:r>
          </a:p>
        </p:txBody>
      </p:sp>
      <p:sp>
        <p:nvSpPr>
          <p:cNvPr id="6" name="Rectangle 5"/>
          <p:cNvSpPr/>
          <p:nvPr/>
        </p:nvSpPr>
        <p:spPr>
          <a:xfrm>
            <a:off x="274320"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1719072" cy="553212"/>
          </a:xfrm>
          <a:prstGeom prst="rect">
            <a:avLst/>
          </a:prstGeom>
          <a:noFill/>
        </p:spPr>
        <p:txBody>
          <a:bodyPr wrap="square">
            <a:spAutoFit/>
          </a:bodyPr>
          <a:lstStyle/>
          <a:p>
            <a:pPr algn="ctr"/>
            <a:r>
              <a:rPr sz="2600" b="1" i="0">
                <a:solidFill>
                  <a:srgbClr val="003E8A"/>
                </a:solidFill>
              </a:rPr>
              <a:t>18,630</a:t>
            </a:r>
          </a:p>
        </p:txBody>
      </p:sp>
      <p:sp>
        <p:nvSpPr>
          <p:cNvPr id="8" name="TextBox 7"/>
          <p:cNvSpPr txBox="1"/>
          <p:nvPr/>
        </p:nvSpPr>
        <p:spPr>
          <a:xfrm>
            <a:off x="320040" y="1861718"/>
            <a:ext cx="1810512" cy="382219"/>
          </a:xfrm>
          <a:prstGeom prst="rect">
            <a:avLst/>
          </a:prstGeom>
          <a:noFill/>
        </p:spPr>
        <p:txBody>
          <a:bodyPr wrap="square">
            <a:spAutoFit/>
          </a:bodyPr>
          <a:lstStyle/>
          <a:p>
            <a:pPr algn="ctr"/>
            <a:r>
              <a:rPr sz="950" b="0" i="0">
                <a:solidFill>
                  <a:srgbClr val="5A6A85"/>
                </a:solidFill>
              </a:rPr>
              <a:t>Total Keywords Ranked</a:t>
            </a:r>
          </a:p>
        </p:txBody>
      </p:sp>
      <p:sp>
        <p:nvSpPr>
          <p:cNvPr id="9" name="Rectangle 8"/>
          <p:cNvSpPr/>
          <p:nvPr/>
        </p:nvSpPr>
        <p:spPr>
          <a:xfrm>
            <a:off x="2258568"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50008" y="1371600"/>
            <a:ext cx="1719072" cy="553212"/>
          </a:xfrm>
          <a:prstGeom prst="rect">
            <a:avLst/>
          </a:prstGeom>
          <a:noFill/>
        </p:spPr>
        <p:txBody>
          <a:bodyPr wrap="square">
            <a:spAutoFit/>
          </a:bodyPr>
          <a:lstStyle/>
          <a:p>
            <a:pPr algn="ctr"/>
            <a:r>
              <a:rPr sz="2600" b="1" i="0">
                <a:solidFill>
                  <a:srgbClr val="FF6B00"/>
                </a:solidFill>
              </a:rPr>
              <a:t>24.5M</a:t>
            </a:r>
          </a:p>
        </p:txBody>
      </p:sp>
      <p:sp>
        <p:nvSpPr>
          <p:cNvPr id="11" name="TextBox 10"/>
          <p:cNvSpPr txBox="1"/>
          <p:nvPr/>
        </p:nvSpPr>
        <p:spPr>
          <a:xfrm>
            <a:off x="2304287" y="1861718"/>
            <a:ext cx="1810512" cy="382219"/>
          </a:xfrm>
          <a:prstGeom prst="rect">
            <a:avLst/>
          </a:prstGeom>
          <a:noFill/>
        </p:spPr>
        <p:txBody>
          <a:bodyPr wrap="square">
            <a:spAutoFit/>
          </a:bodyPr>
          <a:lstStyle/>
          <a:p>
            <a:pPr algn="ctr"/>
            <a:r>
              <a:rPr sz="950" b="0" i="0">
                <a:solidFill>
                  <a:srgbClr val="5A6A85"/>
                </a:solidFill>
              </a:rPr>
              <a:t>Total Search Volume</a:t>
            </a:r>
          </a:p>
        </p:txBody>
      </p:sp>
      <p:sp>
        <p:nvSpPr>
          <p:cNvPr id="12" name="Rectangle 11"/>
          <p:cNvSpPr/>
          <p:nvPr/>
        </p:nvSpPr>
        <p:spPr>
          <a:xfrm>
            <a:off x="4242816"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34255" y="1371600"/>
            <a:ext cx="1719072" cy="553212"/>
          </a:xfrm>
          <a:prstGeom prst="rect">
            <a:avLst/>
          </a:prstGeom>
          <a:noFill/>
        </p:spPr>
        <p:txBody>
          <a:bodyPr wrap="square">
            <a:spAutoFit/>
          </a:bodyPr>
          <a:lstStyle/>
          <a:p>
            <a:pPr algn="ctr"/>
            <a:r>
              <a:rPr sz="2600" b="1" i="0">
                <a:solidFill>
                  <a:srgbClr val="009BA5"/>
                </a:solidFill>
              </a:rPr>
              <a:t>15.3</a:t>
            </a:r>
          </a:p>
        </p:txBody>
      </p:sp>
      <p:sp>
        <p:nvSpPr>
          <p:cNvPr id="14" name="TextBox 13"/>
          <p:cNvSpPr txBox="1"/>
          <p:nvPr/>
        </p:nvSpPr>
        <p:spPr>
          <a:xfrm>
            <a:off x="4288536" y="1861718"/>
            <a:ext cx="1810512" cy="382219"/>
          </a:xfrm>
          <a:prstGeom prst="rect">
            <a:avLst/>
          </a:prstGeom>
          <a:noFill/>
        </p:spPr>
        <p:txBody>
          <a:bodyPr wrap="square">
            <a:spAutoFit/>
          </a:bodyPr>
          <a:lstStyle/>
          <a:p>
            <a:pPr algn="ctr"/>
            <a:r>
              <a:rPr sz="950" b="0" i="0">
                <a:solidFill>
                  <a:srgbClr val="5A6A85"/>
                </a:solidFill>
              </a:rPr>
              <a:t>Average Position</a:t>
            </a:r>
          </a:p>
        </p:txBody>
      </p:sp>
      <p:sp>
        <p:nvSpPr>
          <p:cNvPr id="15" name="Rectangle 14"/>
          <p:cNvSpPr/>
          <p:nvPr/>
        </p:nvSpPr>
        <p:spPr>
          <a:xfrm>
            <a:off x="6227064"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3" y="1371600"/>
            <a:ext cx="1719072" cy="553212"/>
          </a:xfrm>
          <a:prstGeom prst="rect">
            <a:avLst/>
          </a:prstGeom>
          <a:noFill/>
        </p:spPr>
        <p:txBody>
          <a:bodyPr wrap="square">
            <a:spAutoFit/>
          </a:bodyPr>
          <a:lstStyle/>
          <a:p>
            <a:pPr algn="ctr"/>
            <a:r>
              <a:rPr sz="2600" b="1" i="0">
                <a:solidFill>
                  <a:srgbClr val="27AE60"/>
                </a:solidFill>
              </a:rPr>
              <a:t>2,145</a:t>
            </a:r>
          </a:p>
        </p:txBody>
      </p:sp>
      <p:sp>
        <p:nvSpPr>
          <p:cNvPr id="17" name="TextBox 16"/>
          <p:cNvSpPr txBox="1"/>
          <p:nvPr/>
        </p:nvSpPr>
        <p:spPr>
          <a:xfrm>
            <a:off x="6272783" y="1861718"/>
            <a:ext cx="1810512" cy="382219"/>
          </a:xfrm>
          <a:prstGeom prst="rect">
            <a:avLst/>
          </a:prstGeom>
          <a:noFill/>
        </p:spPr>
        <p:txBody>
          <a:bodyPr wrap="square">
            <a:spAutoFit/>
          </a:bodyPr>
          <a:lstStyle/>
          <a:p>
            <a:pPr algn="ctr"/>
            <a:r>
              <a:rPr sz="950" b="0" i="0">
                <a:solidFill>
                  <a:srgbClr val="5A6A85"/>
                </a:solidFill>
              </a:rPr>
              <a:t>Keywords in Top 3</a:t>
            </a:r>
          </a:p>
        </p:txBody>
      </p:sp>
      <p:sp>
        <p:nvSpPr>
          <p:cNvPr id="18" name="Rectangle 17"/>
          <p:cNvSpPr/>
          <p:nvPr/>
        </p:nvSpPr>
        <p:spPr>
          <a:xfrm>
            <a:off x="8211312"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1371600"/>
            <a:ext cx="1719072" cy="553212"/>
          </a:xfrm>
          <a:prstGeom prst="rect">
            <a:avLst/>
          </a:prstGeom>
          <a:noFill/>
        </p:spPr>
        <p:txBody>
          <a:bodyPr wrap="square">
            <a:spAutoFit/>
          </a:bodyPr>
          <a:lstStyle/>
          <a:p>
            <a:pPr algn="ctr"/>
            <a:r>
              <a:rPr sz="2600" b="1" i="0">
                <a:solidFill>
                  <a:srgbClr val="003E8A"/>
                </a:solidFill>
              </a:rPr>
              <a:t>7,636</a:t>
            </a:r>
          </a:p>
        </p:txBody>
      </p:sp>
      <p:sp>
        <p:nvSpPr>
          <p:cNvPr id="20" name="TextBox 19"/>
          <p:cNvSpPr txBox="1"/>
          <p:nvPr/>
        </p:nvSpPr>
        <p:spPr>
          <a:xfrm>
            <a:off x="8257032" y="1861718"/>
            <a:ext cx="1810512" cy="382219"/>
          </a:xfrm>
          <a:prstGeom prst="rect">
            <a:avLst/>
          </a:prstGeom>
          <a:noFill/>
        </p:spPr>
        <p:txBody>
          <a:bodyPr wrap="square">
            <a:spAutoFit/>
          </a:bodyPr>
          <a:lstStyle/>
          <a:p>
            <a:pPr algn="ctr"/>
            <a:r>
              <a:rPr sz="950" b="0" i="0">
                <a:solidFill>
                  <a:srgbClr val="5A6A85"/>
                </a:solidFill>
              </a:rPr>
              <a:t>Keywords in Top 10</a:t>
            </a:r>
          </a:p>
        </p:txBody>
      </p:sp>
      <p:sp>
        <p:nvSpPr>
          <p:cNvPr id="21" name="Rectangle 20"/>
          <p:cNvSpPr/>
          <p:nvPr/>
        </p:nvSpPr>
        <p:spPr>
          <a:xfrm>
            <a:off x="10195560" y="1298448"/>
            <a:ext cx="1901952" cy="100584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87000" y="1371600"/>
            <a:ext cx="1719072" cy="553212"/>
          </a:xfrm>
          <a:prstGeom prst="rect">
            <a:avLst/>
          </a:prstGeom>
          <a:noFill/>
        </p:spPr>
        <p:txBody>
          <a:bodyPr wrap="square">
            <a:spAutoFit/>
          </a:bodyPr>
          <a:lstStyle/>
          <a:p>
            <a:pPr algn="ctr"/>
            <a:r>
              <a:rPr sz="2600" b="1" i="0">
                <a:solidFill>
                  <a:srgbClr val="C0392B"/>
                </a:solidFill>
              </a:rPr>
              <a:t>5,635</a:t>
            </a:r>
          </a:p>
        </p:txBody>
      </p:sp>
      <p:sp>
        <p:nvSpPr>
          <p:cNvPr id="23" name="TextBox 22"/>
          <p:cNvSpPr txBox="1"/>
          <p:nvPr/>
        </p:nvSpPr>
        <p:spPr>
          <a:xfrm>
            <a:off x="10241280" y="1861718"/>
            <a:ext cx="1810512" cy="382219"/>
          </a:xfrm>
          <a:prstGeom prst="rect">
            <a:avLst/>
          </a:prstGeom>
          <a:noFill/>
        </p:spPr>
        <p:txBody>
          <a:bodyPr wrap="square">
            <a:spAutoFit/>
          </a:bodyPr>
          <a:lstStyle/>
          <a:p>
            <a:pPr algn="ctr"/>
            <a:r>
              <a:rPr sz="950" b="0" i="0">
                <a:solidFill>
                  <a:srgbClr val="5A6A85"/>
                </a:solidFill>
              </a:rPr>
              <a:t>Keywords Beyond Pos 20</a:t>
            </a:r>
          </a:p>
        </p:txBody>
      </p:sp>
      <p:sp>
        <p:nvSpPr>
          <p:cNvPr id="24" name="Rectangle 23"/>
          <p:cNvSpPr/>
          <p:nvPr/>
        </p:nvSpPr>
        <p:spPr>
          <a:xfrm>
            <a:off x="274320" y="2487168"/>
            <a:ext cx="54864" cy="3200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2487168"/>
            <a:ext cx="3657600" cy="320040"/>
          </a:xfrm>
          <a:prstGeom prst="rect">
            <a:avLst/>
          </a:prstGeom>
          <a:noFill/>
        </p:spPr>
        <p:txBody>
          <a:bodyPr wrap="square">
            <a:spAutoFit/>
          </a:bodyPr>
          <a:lstStyle/>
          <a:p>
            <a:pPr algn="l"/>
            <a:r>
              <a:rPr sz="1100" b="1" i="0">
                <a:solidFill>
                  <a:srgbClr val="FF6B00"/>
                </a:solidFill>
              </a:rPr>
              <a:t>Keyword Position Distribution</a:t>
            </a:r>
          </a:p>
        </p:txBody>
      </p:sp>
      <p:sp>
        <p:nvSpPr>
          <p:cNvPr id="26" name="Rectangle 25"/>
          <p:cNvSpPr/>
          <p:nvPr/>
        </p:nvSpPr>
        <p:spPr>
          <a:xfrm>
            <a:off x="274320" y="2880360"/>
            <a:ext cx="18288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2916936"/>
            <a:ext cx="1737360" cy="484632"/>
          </a:xfrm>
          <a:prstGeom prst="rect">
            <a:avLst/>
          </a:prstGeom>
          <a:noFill/>
        </p:spPr>
        <p:txBody>
          <a:bodyPr wrap="square">
            <a:spAutoFit/>
          </a:bodyPr>
          <a:lstStyle/>
          <a:p>
            <a:pPr algn="ctr"/>
            <a:r>
              <a:rPr sz="850" b="1" i="0">
                <a:solidFill>
                  <a:srgbClr val="FFFFFF"/>
                </a:solidFill>
              </a:rPr>
              <a:t>Top 3
2,145 KWs
11.5%</a:t>
            </a:r>
          </a:p>
        </p:txBody>
      </p:sp>
      <p:sp>
        <p:nvSpPr>
          <p:cNvPr id="28" name="Rectangle 27"/>
          <p:cNvSpPr/>
          <p:nvPr/>
        </p:nvSpPr>
        <p:spPr>
          <a:xfrm>
            <a:off x="2103120" y="2880360"/>
            <a:ext cx="4937760" cy="50292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76272" y="2916936"/>
            <a:ext cx="4846320" cy="484632"/>
          </a:xfrm>
          <a:prstGeom prst="rect">
            <a:avLst/>
          </a:prstGeom>
          <a:noFill/>
        </p:spPr>
        <p:txBody>
          <a:bodyPr wrap="square">
            <a:spAutoFit/>
          </a:bodyPr>
          <a:lstStyle/>
          <a:p>
            <a:pPr algn="ctr"/>
            <a:r>
              <a:rPr sz="850" b="1" i="0">
                <a:solidFill>
                  <a:srgbClr val="FFFFFF"/>
                </a:solidFill>
              </a:rPr>
              <a:t>4–10
5,491 KWs
29.5%</a:t>
            </a:r>
          </a:p>
        </p:txBody>
      </p:sp>
      <p:sp>
        <p:nvSpPr>
          <p:cNvPr id="30" name="Rectangle 29"/>
          <p:cNvSpPr/>
          <p:nvPr/>
        </p:nvSpPr>
        <p:spPr>
          <a:xfrm>
            <a:off x="7040880" y="2880360"/>
            <a:ext cx="466344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14032" y="2916936"/>
            <a:ext cx="4572000" cy="484632"/>
          </a:xfrm>
          <a:prstGeom prst="rect">
            <a:avLst/>
          </a:prstGeom>
          <a:noFill/>
        </p:spPr>
        <p:txBody>
          <a:bodyPr wrap="square">
            <a:spAutoFit/>
          </a:bodyPr>
          <a:lstStyle/>
          <a:p>
            <a:pPr algn="ctr"/>
            <a:r>
              <a:rPr sz="850" b="1" i="0">
                <a:solidFill>
                  <a:srgbClr val="FFFFFF"/>
                </a:solidFill>
              </a:rPr>
              <a:t>11–20
5,157 KWs
27.7%</a:t>
            </a:r>
          </a:p>
        </p:txBody>
      </p:sp>
      <p:sp>
        <p:nvSpPr>
          <p:cNvPr id="32" name="Rectangle 31"/>
          <p:cNvSpPr/>
          <p:nvPr/>
        </p:nvSpPr>
        <p:spPr>
          <a:xfrm>
            <a:off x="11704320" y="2880360"/>
            <a:ext cx="50292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777472" y="2916936"/>
            <a:ext cx="4937760" cy="484632"/>
          </a:xfrm>
          <a:prstGeom prst="rect">
            <a:avLst/>
          </a:prstGeom>
          <a:noFill/>
        </p:spPr>
        <p:txBody>
          <a:bodyPr wrap="square">
            <a:spAutoFit/>
          </a:bodyPr>
          <a:lstStyle/>
          <a:p>
            <a:pPr algn="ctr"/>
            <a:r>
              <a:rPr sz="850" b="1" i="0">
                <a:solidFill>
                  <a:srgbClr val="FFFFFF"/>
                </a:solidFill>
              </a:rPr>
              <a:t>Beyond 20
5,635 KWs
30.2%</a:t>
            </a:r>
          </a:p>
        </p:txBody>
      </p:sp>
      <p:sp>
        <p:nvSpPr>
          <p:cNvPr id="34" name="Rectangle 33"/>
          <p:cNvSpPr/>
          <p:nvPr/>
        </p:nvSpPr>
        <p:spPr>
          <a:xfrm>
            <a:off x="274320" y="3566160"/>
            <a:ext cx="54864" cy="3200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79" y="3566160"/>
            <a:ext cx="3657600" cy="320040"/>
          </a:xfrm>
          <a:prstGeom prst="rect">
            <a:avLst/>
          </a:prstGeom>
          <a:noFill/>
        </p:spPr>
        <p:txBody>
          <a:bodyPr wrap="square">
            <a:spAutoFit/>
          </a:bodyPr>
          <a:lstStyle/>
          <a:p>
            <a:pPr algn="l"/>
            <a:r>
              <a:rPr sz="1100" b="1" i="0">
                <a:solidFill>
                  <a:srgbClr val="FF6B00"/>
                </a:solidFill>
              </a:rPr>
              <a:t>Top 5 Strongest vs Weakest Clusters for Naukri</a:t>
            </a:r>
          </a:p>
        </p:txBody>
      </p:sp>
      <p:sp>
        <p:nvSpPr>
          <p:cNvPr id="36" name="TextBox 35"/>
          <p:cNvSpPr txBox="1"/>
          <p:nvPr/>
        </p:nvSpPr>
        <p:spPr>
          <a:xfrm>
            <a:off x="274320" y="3840480"/>
            <a:ext cx="5486400" cy="274320"/>
          </a:xfrm>
          <a:prstGeom prst="rect">
            <a:avLst/>
          </a:prstGeom>
          <a:noFill/>
        </p:spPr>
        <p:txBody>
          <a:bodyPr wrap="square">
            <a:spAutoFit/>
          </a:bodyPr>
          <a:lstStyle/>
          <a:p>
            <a:pPr algn="l"/>
            <a:r>
              <a:rPr sz="1000" b="1" i="0">
                <a:solidFill>
                  <a:srgbClr val="27AE60"/>
                </a:solidFill>
              </a:rPr>
              <a:t>STRONGEST (Best Avg Position)</a:t>
            </a:r>
          </a:p>
        </p:txBody>
      </p:sp>
      <p:sp>
        <p:nvSpPr>
          <p:cNvPr id="37" name="Rectangle 36"/>
          <p:cNvSpPr/>
          <p:nvPr/>
        </p:nvSpPr>
        <p:spPr>
          <a:xfrm>
            <a:off x="274320" y="4133087"/>
            <a:ext cx="5760720" cy="265176"/>
          </a:xfrm>
          <a:prstGeom prst="rect">
            <a:avLst/>
          </a:prstGeom>
          <a:solidFill>
            <a:srgbClr val="E8F8EE"/>
          </a:solidFill>
          <a:ln w="5080">
            <a:solidFill>
              <a:srgbClr val="CCD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4151376"/>
            <a:ext cx="2103120" cy="228600"/>
          </a:xfrm>
          <a:prstGeom prst="rect">
            <a:avLst/>
          </a:prstGeom>
          <a:noFill/>
        </p:spPr>
        <p:txBody>
          <a:bodyPr wrap="square">
            <a:spAutoFit/>
          </a:bodyPr>
          <a:lstStyle/>
          <a:p>
            <a:pPr algn="l"/>
            <a:r>
              <a:rPr sz="900" b="0" i="0">
                <a:solidFill>
                  <a:srgbClr val="1A1A2E"/>
                </a:solidFill>
              </a:rPr>
              <a:t>Full Forms</a:t>
            </a:r>
          </a:p>
        </p:txBody>
      </p:sp>
      <p:sp>
        <p:nvSpPr>
          <p:cNvPr id="39" name="TextBox 38"/>
          <p:cNvSpPr txBox="1"/>
          <p:nvPr/>
        </p:nvSpPr>
        <p:spPr>
          <a:xfrm>
            <a:off x="2468880" y="4151376"/>
            <a:ext cx="1554480" cy="228600"/>
          </a:xfrm>
          <a:prstGeom prst="rect">
            <a:avLst/>
          </a:prstGeom>
          <a:noFill/>
        </p:spPr>
        <p:txBody>
          <a:bodyPr wrap="square">
            <a:spAutoFit/>
          </a:bodyPr>
          <a:lstStyle/>
          <a:p>
            <a:pPr algn="ctr"/>
            <a:r>
              <a:rPr sz="900" b="0" i="0">
                <a:solidFill>
                  <a:srgbClr val="1A1A2E"/>
                </a:solidFill>
              </a:rPr>
              <a:t>1,312,230</a:t>
            </a:r>
          </a:p>
        </p:txBody>
      </p:sp>
      <p:sp>
        <p:nvSpPr>
          <p:cNvPr id="40" name="TextBox 39"/>
          <p:cNvSpPr txBox="1"/>
          <p:nvPr/>
        </p:nvSpPr>
        <p:spPr>
          <a:xfrm>
            <a:off x="4023360" y="4151376"/>
            <a:ext cx="822960" cy="228600"/>
          </a:xfrm>
          <a:prstGeom prst="rect">
            <a:avLst/>
          </a:prstGeom>
          <a:noFill/>
        </p:spPr>
        <p:txBody>
          <a:bodyPr wrap="square">
            <a:spAutoFit/>
          </a:bodyPr>
          <a:lstStyle/>
          <a:p>
            <a:pPr algn="ctr"/>
            <a:r>
              <a:rPr sz="900" b="1" i="0">
                <a:solidFill>
                  <a:srgbClr val="27AE60"/>
                </a:solidFill>
              </a:rPr>
              <a:t>13.3</a:t>
            </a:r>
          </a:p>
        </p:txBody>
      </p:sp>
      <p:sp>
        <p:nvSpPr>
          <p:cNvPr id="41" name="TextBox 40"/>
          <p:cNvSpPr txBox="1"/>
          <p:nvPr/>
        </p:nvSpPr>
        <p:spPr>
          <a:xfrm>
            <a:off x="4846320" y="4151376"/>
            <a:ext cx="1097280" cy="228600"/>
          </a:xfrm>
          <a:prstGeom prst="rect">
            <a:avLst/>
          </a:prstGeom>
          <a:noFill/>
        </p:spPr>
        <p:txBody>
          <a:bodyPr wrap="square">
            <a:spAutoFit/>
          </a:bodyPr>
          <a:lstStyle/>
          <a:p>
            <a:pPr algn="ctr"/>
            <a:r>
              <a:rPr sz="900" b="0" i="0">
                <a:solidFill>
                  <a:srgbClr val="5A6A85"/>
                </a:solidFill>
              </a:rPr>
              <a:t>#1</a:t>
            </a:r>
          </a:p>
        </p:txBody>
      </p:sp>
      <p:sp>
        <p:nvSpPr>
          <p:cNvPr id="42" name="Rectangle 41"/>
          <p:cNvSpPr/>
          <p:nvPr/>
        </p:nvSpPr>
        <p:spPr>
          <a:xfrm>
            <a:off x="274320" y="4416551"/>
            <a:ext cx="5760720" cy="265176"/>
          </a:xfrm>
          <a:prstGeom prst="rect">
            <a:avLst/>
          </a:prstGeom>
          <a:solidFill>
            <a:srgbClr val="FFFFFF"/>
          </a:solidFill>
          <a:ln w="5080">
            <a:solidFill>
              <a:srgbClr val="CCD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434840"/>
            <a:ext cx="2103120" cy="228600"/>
          </a:xfrm>
          <a:prstGeom prst="rect">
            <a:avLst/>
          </a:prstGeom>
          <a:noFill/>
        </p:spPr>
        <p:txBody>
          <a:bodyPr wrap="square">
            <a:spAutoFit/>
          </a:bodyPr>
          <a:lstStyle/>
          <a:p>
            <a:pPr algn="l"/>
            <a:r>
              <a:rPr sz="900" b="0" i="0">
                <a:solidFill>
                  <a:srgbClr val="1A1A2E"/>
                </a:solidFill>
              </a:rPr>
              <a:t>Fresher &amp; Internship</a:t>
            </a:r>
          </a:p>
        </p:txBody>
      </p:sp>
      <p:sp>
        <p:nvSpPr>
          <p:cNvPr id="44" name="TextBox 43"/>
          <p:cNvSpPr txBox="1"/>
          <p:nvPr/>
        </p:nvSpPr>
        <p:spPr>
          <a:xfrm>
            <a:off x="2468880" y="4434840"/>
            <a:ext cx="1554480" cy="228600"/>
          </a:xfrm>
          <a:prstGeom prst="rect">
            <a:avLst/>
          </a:prstGeom>
          <a:noFill/>
        </p:spPr>
        <p:txBody>
          <a:bodyPr wrap="square">
            <a:spAutoFit/>
          </a:bodyPr>
          <a:lstStyle/>
          <a:p>
            <a:pPr algn="ctr"/>
            <a:r>
              <a:rPr sz="900" b="0" i="0">
                <a:solidFill>
                  <a:srgbClr val="1A1A2E"/>
                </a:solidFill>
              </a:rPr>
              <a:t>349,960</a:t>
            </a:r>
          </a:p>
        </p:txBody>
      </p:sp>
      <p:sp>
        <p:nvSpPr>
          <p:cNvPr id="45" name="TextBox 44"/>
          <p:cNvSpPr txBox="1"/>
          <p:nvPr/>
        </p:nvSpPr>
        <p:spPr>
          <a:xfrm>
            <a:off x="4023360" y="4434840"/>
            <a:ext cx="822960" cy="228600"/>
          </a:xfrm>
          <a:prstGeom prst="rect">
            <a:avLst/>
          </a:prstGeom>
          <a:noFill/>
        </p:spPr>
        <p:txBody>
          <a:bodyPr wrap="square">
            <a:spAutoFit/>
          </a:bodyPr>
          <a:lstStyle/>
          <a:p>
            <a:pPr algn="ctr"/>
            <a:r>
              <a:rPr sz="900" b="1" i="0">
                <a:solidFill>
                  <a:srgbClr val="27AE60"/>
                </a:solidFill>
              </a:rPr>
              <a:t>13.1</a:t>
            </a:r>
          </a:p>
        </p:txBody>
      </p:sp>
      <p:sp>
        <p:nvSpPr>
          <p:cNvPr id="46" name="TextBox 45"/>
          <p:cNvSpPr txBox="1"/>
          <p:nvPr/>
        </p:nvSpPr>
        <p:spPr>
          <a:xfrm>
            <a:off x="4846320" y="4434840"/>
            <a:ext cx="1097280" cy="228600"/>
          </a:xfrm>
          <a:prstGeom prst="rect">
            <a:avLst/>
          </a:prstGeom>
          <a:noFill/>
        </p:spPr>
        <p:txBody>
          <a:bodyPr wrap="square">
            <a:spAutoFit/>
          </a:bodyPr>
          <a:lstStyle/>
          <a:p>
            <a:pPr algn="ctr"/>
            <a:r>
              <a:rPr sz="900" b="0" i="0">
                <a:solidFill>
                  <a:srgbClr val="5A6A85"/>
                </a:solidFill>
              </a:rPr>
              <a:t>#2</a:t>
            </a:r>
          </a:p>
        </p:txBody>
      </p:sp>
      <p:sp>
        <p:nvSpPr>
          <p:cNvPr id="47" name="Rectangle 46"/>
          <p:cNvSpPr/>
          <p:nvPr/>
        </p:nvSpPr>
        <p:spPr>
          <a:xfrm>
            <a:off x="274320" y="4700016"/>
            <a:ext cx="5760720" cy="265176"/>
          </a:xfrm>
          <a:prstGeom prst="rect">
            <a:avLst/>
          </a:prstGeom>
          <a:solidFill>
            <a:srgbClr val="E8F8EE"/>
          </a:solidFill>
          <a:ln w="5080">
            <a:solidFill>
              <a:srgbClr val="CCD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4718304"/>
            <a:ext cx="2103120" cy="228600"/>
          </a:xfrm>
          <a:prstGeom prst="rect">
            <a:avLst/>
          </a:prstGeom>
          <a:noFill/>
        </p:spPr>
        <p:txBody>
          <a:bodyPr wrap="square">
            <a:spAutoFit/>
          </a:bodyPr>
          <a:lstStyle/>
          <a:p>
            <a:pPr algn="l"/>
            <a:r>
              <a:rPr sz="900" b="0" i="0">
                <a:solidFill>
                  <a:srgbClr val="1A1A2E"/>
                </a:solidFill>
              </a:rPr>
              <a:t>HR &amp; Workplace</a:t>
            </a:r>
          </a:p>
        </p:txBody>
      </p:sp>
      <p:sp>
        <p:nvSpPr>
          <p:cNvPr id="49" name="TextBox 48"/>
          <p:cNvSpPr txBox="1"/>
          <p:nvPr/>
        </p:nvSpPr>
        <p:spPr>
          <a:xfrm>
            <a:off x="2468880" y="4718304"/>
            <a:ext cx="1554480" cy="228600"/>
          </a:xfrm>
          <a:prstGeom prst="rect">
            <a:avLst/>
          </a:prstGeom>
          <a:noFill/>
        </p:spPr>
        <p:txBody>
          <a:bodyPr wrap="square">
            <a:spAutoFit/>
          </a:bodyPr>
          <a:lstStyle/>
          <a:p>
            <a:pPr algn="ctr"/>
            <a:r>
              <a:rPr sz="900" b="0" i="0">
                <a:solidFill>
                  <a:srgbClr val="1A1A2E"/>
                </a:solidFill>
              </a:rPr>
              <a:t>208,640</a:t>
            </a:r>
          </a:p>
        </p:txBody>
      </p:sp>
      <p:sp>
        <p:nvSpPr>
          <p:cNvPr id="50" name="TextBox 49"/>
          <p:cNvSpPr txBox="1"/>
          <p:nvPr/>
        </p:nvSpPr>
        <p:spPr>
          <a:xfrm>
            <a:off x="4023360" y="4718304"/>
            <a:ext cx="822960" cy="228600"/>
          </a:xfrm>
          <a:prstGeom prst="rect">
            <a:avLst/>
          </a:prstGeom>
          <a:noFill/>
        </p:spPr>
        <p:txBody>
          <a:bodyPr wrap="square">
            <a:spAutoFit/>
          </a:bodyPr>
          <a:lstStyle/>
          <a:p>
            <a:pPr algn="ctr"/>
            <a:r>
              <a:rPr sz="900" b="1" i="0">
                <a:solidFill>
                  <a:srgbClr val="27AE60"/>
                </a:solidFill>
              </a:rPr>
              <a:t>13.1</a:t>
            </a:r>
          </a:p>
        </p:txBody>
      </p:sp>
      <p:sp>
        <p:nvSpPr>
          <p:cNvPr id="51" name="TextBox 50"/>
          <p:cNvSpPr txBox="1"/>
          <p:nvPr/>
        </p:nvSpPr>
        <p:spPr>
          <a:xfrm>
            <a:off x="4846320" y="4718304"/>
            <a:ext cx="1097280" cy="228600"/>
          </a:xfrm>
          <a:prstGeom prst="rect">
            <a:avLst/>
          </a:prstGeom>
          <a:noFill/>
        </p:spPr>
        <p:txBody>
          <a:bodyPr wrap="square">
            <a:spAutoFit/>
          </a:bodyPr>
          <a:lstStyle/>
          <a:p>
            <a:pPr algn="ctr"/>
            <a:r>
              <a:rPr sz="900" b="0" i="0">
                <a:solidFill>
                  <a:srgbClr val="5A6A85"/>
                </a:solidFill>
              </a:rPr>
              <a:t>#3</a:t>
            </a:r>
          </a:p>
        </p:txBody>
      </p:sp>
      <p:sp>
        <p:nvSpPr>
          <p:cNvPr id="52" name="Rectangle 51"/>
          <p:cNvSpPr/>
          <p:nvPr/>
        </p:nvSpPr>
        <p:spPr>
          <a:xfrm>
            <a:off x="274320" y="4983479"/>
            <a:ext cx="5760720" cy="265176"/>
          </a:xfrm>
          <a:prstGeom prst="rect">
            <a:avLst/>
          </a:prstGeom>
          <a:solidFill>
            <a:srgbClr val="FFFFFF"/>
          </a:solidFill>
          <a:ln w="5080">
            <a:solidFill>
              <a:srgbClr val="CCD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5001768"/>
            <a:ext cx="2103120" cy="228600"/>
          </a:xfrm>
          <a:prstGeom prst="rect">
            <a:avLst/>
          </a:prstGeom>
          <a:noFill/>
        </p:spPr>
        <p:txBody>
          <a:bodyPr wrap="square">
            <a:spAutoFit/>
          </a:bodyPr>
          <a:lstStyle/>
          <a:p>
            <a:pPr algn="l"/>
            <a:r>
              <a:rPr sz="900" b="0" i="0">
                <a:solidFill>
                  <a:srgbClr val="1A1A2E"/>
                </a:solidFill>
              </a:rPr>
              <a:t>Job Search</a:t>
            </a:r>
          </a:p>
        </p:txBody>
      </p:sp>
      <p:sp>
        <p:nvSpPr>
          <p:cNvPr id="54" name="TextBox 53"/>
          <p:cNvSpPr txBox="1"/>
          <p:nvPr/>
        </p:nvSpPr>
        <p:spPr>
          <a:xfrm>
            <a:off x="2468880" y="5001768"/>
            <a:ext cx="1554480" cy="228600"/>
          </a:xfrm>
          <a:prstGeom prst="rect">
            <a:avLst/>
          </a:prstGeom>
          <a:noFill/>
        </p:spPr>
        <p:txBody>
          <a:bodyPr wrap="square">
            <a:spAutoFit/>
          </a:bodyPr>
          <a:lstStyle/>
          <a:p>
            <a:pPr algn="ctr"/>
            <a:r>
              <a:rPr sz="900" b="0" i="0">
                <a:solidFill>
                  <a:srgbClr val="1A1A2E"/>
                </a:solidFill>
              </a:rPr>
              <a:t>689,590</a:t>
            </a:r>
          </a:p>
        </p:txBody>
      </p:sp>
      <p:sp>
        <p:nvSpPr>
          <p:cNvPr id="55" name="TextBox 54"/>
          <p:cNvSpPr txBox="1"/>
          <p:nvPr/>
        </p:nvSpPr>
        <p:spPr>
          <a:xfrm>
            <a:off x="4023360" y="5001768"/>
            <a:ext cx="822960" cy="228600"/>
          </a:xfrm>
          <a:prstGeom prst="rect">
            <a:avLst/>
          </a:prstGeom>
          <a:noFill/>
        </p:spPr>
        <p:txBody>
          <a:bodyPr wrap="square">
            <a:spAutoFit/>
          </a:bodyPr>
          <a:lstStyle/>
          <a:p>
            <a:pPr algn="ctr"/>
            <a:r>
              <a:rPr sz="900" b="1" i="0">
                <a:solidFill>
                  <a:srgbClr val="27AE60"/>
                </a:solidFill>
              </a:rPr>
              <a:t>13.8</a:t>
            </a:r>
          </a:p>
        </p:txBody>
      </p:sp>
      <p:sp>
        <p:nvSpPr>
          <p:cNvPr id="56" name="TextBox 55"/>
          <p:cNvSpPr txBox="1"/>
          <p:nvPr/>
        </p:nvSpPr>
        <p:spPr>
          <a:xfrm>
            <a:off x="4846320" y="5001768"/>
            <a:ext cx="1097280" cy="228600"/>
          </a:xfrm>
          <a:prstGeom prst="rect">
            <a:avLst/>
          </a:prstGeom>
          <a:noFill/>
        </p:spPr>
        <p:txBody>
          <a:bodyPr wrap="square">
            <a:spAutoFit/>
          </a:bodyPr>
          <a:lstStyle/>
          <a:p>
            <a:pPr algn="ctr"/>
            <a:r>
              <a:rPr sz="900" b="0" i="0">
                <a:solidFill>
                  <a:srgbClr val="5A6A85"/>
                </a:solidFill>
              </a:rPr>
              <a:t>#2</a:t>
            </a:r>
          </a:p>
        </p:txBody>
      </p:sp>
      <p:sp>
        <p:nvSpPr>
          <p:cNvPr id="57" name="Rectangle 56"/>
          <p:cNvSpPr/>
          <p:nvPr/>
        </p:nvSpPr>
        <p:spPr>
          <a:xfrm>
            <a:off x="274320" y="5266944"/>
            <a:ext cx="5760720" cy="265176"/>
          </a:xfrm>
          <a:prstGeom prst="rect">
            <a:avLst/>
          </a:prstGeom>
          <a:solidFill>
            <a:srgbClr val="E8F8EE"/>
          </a:solidFill>
          <a:ln w="5080">
            <a:solidFill>
              <a:srgbClr val="CCD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5760" y="5285232"/>
            <a:ext cx="2103120" cy="228600"/>
          </a:xfrm>
          <a:prstGeom prst="rect">
            <a:avLst/>
          </a:prstGeom>
          <a:noFill/>
        </p:spPr>
        <p:txBody>
          <a:bodyPr wrap="square">
            <a:spAutoFit/>
          </a:bodyPr>
          <a:lstStyle/>
          <a:p>
            <a:pPr algn="l"/>
            <a:r>
              <a:rPr sz="900" b="0" i="0">
                <a:solidFill>
                  <a:srgbClr val="1A1A2E"/>
                </a:solidFill>
              </a:rPr>
              <a:t>Courses &amp; Certs</a:t>
            </a:r>
          </a:p>
        </p:txBody>
      </p:sp>
      <p:sp>
        <p:nvSpPr>
          <p:cNvPr id="59" name="TextBox 58"/>
          <p:cNvSpPr txBox="1"/>
          <p:nvPr/>
        </p:nvSpPr>
        <p:spPr>
          <a:xfrm>
            <a:off x="2468880" y="5285232"/>
            <a:ext cx="1554480" cy="228600"/>
          </a:xfrm>
          <a:prstGeom prst="rect">
            <a:avLst/>
          </a:prstGeom>
          <a:noFill/>
        </p:spPr>
        <p:txBody>
          <a:bodyPr wrap="square">
            <a:spAutoFit/>
          </a:bodyPr>
          <a:lstStyle/>
          <a:p>
            <a:pPr algn="ctr"/>
            <a:r>
              <a:rPr sz="900" b="0" i="0">
                <a:solidFill>
                  <a:srgbClr val="1A1A2E"/>
                </a:solidFill>
              </a:rPr>
              <a:t>401,430</a:t>
            </a:r>
          </a:p>
        </p:txBody>
      </p:sp>
      <p:sp>
        <p:nvSpPr>
          <p:cNvPr id="60" name="TextBox 59"/>
          <p:cNvSpPr txBox="1"/>
          <p:nvPr/>
        </p:nvSpPr>
        <p:spPr>
          <a:xfrm>
            <a:off x="4023360" y="5285232"/>
            <a:ext cx="822960" cy="228600"/>
          </a:xfrm>
          <a:prstGeom prst="rect">
            <a:avLst/>
          </a:prstGeom>
          <a:noFill/>
        </p:spPr>
        <p:txBody>
          <a:bodyPr wrap="square">
            <a:spAutoFit/>
          </a:bodyPr>
          <a:lstStyle/>
          <a:p>
            <a:pPr algn="ctr"/>
            <a:r>
              <a:rPr sz="900" b="1" i="0">
                <a:solidFill>
                  <a:srgbClr val="27AE60"/>
                </a:solidFill>
              </a:rPr>
              <a:t>14.8</a:t>
            </a:r>
          </a:p>
        </p:txBody>
      </p:sp>
      <p:sp>
        <p:nvSpPr>
          <p:cNvPr id="61" name="TextBox 60"/>
          <p:cNvSpPr txBox="1"/>
          <p:nvPr/>
        </p:nvSpPr>
        <p:spPr>
          <a:xfrm>
            <a:off x="4846320" y="5285232"/>
            <a:ext cx="1097280" cy="228600"/>
          </a:xfrm>
          <a:prstGeom prst="rect">
            <a:avLst/>
          </a:prstGeom>
          <a:noFill/>
        </p:spPr>
        <p:txBody>
          <a:bodyPr wrap="square">
            <a:spAutoFit/>
          </a:bodyPr>
          <a:lstStyle/>
          <a:p>
            <a:pPr algn="ctr"/>
            <a:r>
              <a:rPr sz="900" b="0" i="0">
                <a:solidFill>
                  <a:srgbClr val="5A6A85"/>
                </a:solidFill>
              </a:rPr>
              <a:t>#2</a:t>
            </a:r>
          </a:p>
        </p:txBody>
      </p:sp>
      <p:sp>
        <p:nvSpPr>
          <p:cNvPr id="62" name="TextBox 61"/>
          <p:cNvSpPr txBox="1"/>
          <p:nvPr/>
        </p:nvSpPr>
        <p:spPr>
          <a:xfrm>
            <a:off x="6217920" y="3840480"/>
            <a:ext cx="5486400" cy="274320"/>
          </a:xfrm>
          <a:prstGeom prst="rect">
            <a:avLst/>
          </a:prstGeom>
          <a:noFill/>
        </p:spPr>
        <p:txBody>
          <a:bodyPr wrap="square">
            <a:spAutoFit/>
          </a:bodyPr>
          <a:lstStyle/>
          <a:p>
            <a:pPr algn="l"/>
            <a:r>
              <a:rPr sz="1000" b="1" i="0">
                <a:solidFill>
                  <a:srgbClr val="C0392B"/>
                </a:solidFill>
              </a:rPr>
              <a:t>WEAKEST (Highest Avg Position)</a:t>
            </a:r>
          </a:p>
        </p:txBody>
      </p:sp>
      <p:sp>
        <p:nvSpPr>
          <p:cNvPr id="63" name="Rectangle 62"/>
          <p:cNvSpPr/>
          <p:nvPr/>
        </p:nvSpPr>
        <p:spPr>
          <a:xfrm>
            <a:off x="6217920" y="4133087"/>
            <a:ext cx="5669280" cy="265176"/>
          </a:xfrm>
          <a:prstGeom prst="rect">
            <a:avLst/>
          </a:prstGeom>
          <a:solidFill>
            <a:srgbClr val="FEF0EE"/>
          </a:solidFill>
          <a:ln w="5080">
            <a:solidFill>
              <a:srgbClr val="DD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09360" y="4151376"/>
            <a:ext cx="2103120" cy="228600"/>
          </a:xfrm>
          <a:prstGeom prst="rect">
            <a:avLst/>
          </a:prstGeom>
          <a:noFill/>
        </p:spPr>
        <p:txBody>
          <a:bodyPr wrap="square">
            <a:spAutoFit/>
          </a:bodyPr>
          <a:lstStyle/>
          <a:p>
            <a:pPr algn="l"/>
            <a:r>
              <a:rPr sz="900" b="0" i="0">
                <a:solidFill>
                  <a:srgbClr val="1A1A2E"/>
                </a:solidFill>
              </a:rPr>
              <a:t>Finance &amp; Accounting</a:t>
            </a:r>
          </a:p>
        </p:txBody>
      </p:sp>
      <p:sp>
        <p:nvSpPr>
          <p:cNvPr id="65" name="TextBox 64"/>
          <p:cNvSpPr txBox="1"/>
          <p:nvPr/>
        </p:nvSpPr>
        <p:spPr>
          <a:xfrm>
            <a:off x="8412480" y="4151376"/>
            <a:ext cx="1371600" cy="228600"/>
          </a:xfrm>
          <a:prstGeom prst="rect">
            <a:avLst/>
          </a:prstGeom>
          <a:noFill/>
        </p:spPr>
        <p:txBody>
          <a:bodyPr wrap="square">
            <a:spAutoFit/>
          </a:bodyPr>
          <a:lstStyle/>
          <a:p>
            <a:pPr algn="ctr"/>
            <a:r>
              <a:rPr sz="900" b="0" i="0">
                <a:solidFill>
                  <a:srgbClr val="1A1A2E"/>
                </a:solidFill>
              </a:rPr>
              <a:t>150,610</a:t>
            </a:r>
          </a:p>
        </p:txBody>
      </p:sp>
      <p:sp>
        <p:nvSpPr>
          <p:cNvPr id="66" name="TextBox 65"/>
          <p:cNvSpPr txBox="1"/>
          <p:nvPr/>
        </p:nvSpPr>
        <p:spPr>
          <a:xfrm>
            <a:off x="9784080" y="4151376"/>
            <a:ext cx="822960" cy="228600"/>
          </a:xfrm>
          <a:prstGeom prst="rect">
            <a:avLst/>
          </a:prstGeom>
          <a:noFill/>
        </p:spPr>
        <p:txBody>
          <a:bodyPr wrap="square">
            <a:spAutoFit/>
          </a:bodyPr>
          <a:lstStyle/>
          <a:p>
            <a:pPr algn="ctr"/>
            <a:r>
              <a:rPr sz="900" b="1" i="0">
                <a:solidFill>
                  <a:srgbClr val="C0392B"/>
                </a:solidFill>
              </a:rPr>
              <a:t>19.5</a:t>
            </a:r>
          </a:p>
        </p:txBody>
      </p:sp>
      <p:sp>
        <p:nvSpPr>
          <p:cNvPr id="67" name="TextBox 66"/>
          <p:cNvSpPr txBox="1"/>
          <p:nvPr/>
        </p:nvSpPr>
        <p:spPr>
          <a:xfrm>
            <a:off x="10607040" y="4151376"/>
            <a:ext cx="1188720" cy="228600"/>
          </a:xfrm>
          <a:prstGeom prst="rect">
            <a:avLst/>
          </a:prstGeom>
          <a:noFill/>
        </p:spPr>
        <p:txBody>
          <a:bodyPr wrap="square">
            <a:spAutoFit/>
          </a:bodyPr>
          <a:lstStyle/>
          <a:p>
            <a:pPr algn="ctr"/>
            <a:r>
              <a:rPr sz="900" b="0" i="0">
                <a:solidFill>
                  <a:srgbClr val="5A6A85"/>
                </a:solidFill>
              </a:rPr>
              <a:t>#2</a:t>
            </a:r>
          </a:p>
        </p:txBody>
      </p:sp>
      <p:sp>
        <p:nvSpPr>
          <p:cNvPr id="68" name="Rectangle 67"/>
          <p:cNvSpPr/>
          <p:nvPr/>
        </p:nvSpPr>
        <p:spPr>
          <a:xfrm>
            <a:off x="6217920" y="4416551"/>
            <a:ext cx="5669280" cy="265176"/>
          </a:xfrm>
          <a:prstGeom prst="rect">
            <a:avLst/>
          </a:prstGeom>
          <a:solidFill>
            <a:srgbClr val="FFFFFF"/>
          </a:solidFill>
          <a:ln w="5080">
            <a:solidFill>
              <a:srgbClr val="DD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09360" y="4434840"/>
            <a:ext cx="2103120" cy="228600"/>
          </a:xfrm>
          <a:prstGeom prst="rect">
            <a:avLst/>
          </a:prstGeom>
          <a:noFill/>
        </p:spPr>
        <p:txBody>
          <a:bodyPr wrap="square">
            <a:spAutoFit/>
          </a:bodyPr>
          <a:lstStyle/>
          <a:p>
            <a:pPr algn="l"/>
            <a:r>
              <a:rPr sz="900" b="0" i="0">
                <a:solidFill>
                  <a:srgbClr val="1A1A2E"/>
                </a:solidFill>
              </a:rPr>
              <a:t>Technology &amp; IT</a:t>
            </a:r>
          </a:p>
        </p:txBody>
      </p:sp>
      <p:sp>
        <p:nvSpPr>
          <p:cNvPr id="70" name="TextBox 69"/>
          <p:cNvSpPr txBox="1"/>
          <p:nvPr/>
        </p:nvSpPr>
        <p:spPr>
          <a:xfrm>
            <a:off x="8412480" y="4434840"/>
            <a:ext cx="1371600" cy="228600"/>
          </a:xfrm>
          <a:prstGeom prst="rect">
            <a:avLst/>
          </a:prstGeom>
          <a:noFill/>
        </p:spPr>
        <p:txBody>
          <a:bodyPr wrap="square">
            <a:spAutoFit/>
          </a:bodyPr>
          <a:lstStyle/>
          <a:p>
            <a:pPr algn="ctr"/>
            <a:r>
              <a:rPr sz="900" b="0" i="0">
                <a:solidFill>
                  <a:srgbClr val="1A1A2E"/>
                </a:solidFill>
              </a:rPr>
              <a:t>143,850</a:t>
            </a:r>
          </a:p>
        </p:txBody>
      </p:sp>
      <p:sp>
        <p:nvSpPr>
          <p:cNvPr id="71" name="TextBox 70"/>
          <p:cNvSpPr txBox="1"/>
          <p:nvPr/>
        </p:nvSpPr>
        <p:spPr>
          <a:xfrm>
            <a:off x="9784080" y="4434840"/>
            <a:ext cx="822960" cy="228600"/>
          </a:xfrm>
          <a:prstGeom prst="rect">
            <a:avLst/>
          </a:prstGeom>
          <a:noFill/>
        </p:spPr>
        <p:txBody>
          <a:bodyPr wrap="square">
            <a:spAutoFit/>
          </a:bodyPr>
          <a:lstStyle/>
          <a:p>
            <a:pPr algn="ctr"/>
            <a:r>
              <a:rPr sz="900" b="1" i="0">
                <a:solidFill>
                  <a:srgbClr val="C0392B"/>
                </a:solidFill>
              </a:rPr>
              <a:t>18.7</a:t>
            </a:r>
          </a:p>
        </p:txBody>
      </p:sp>
      <p:sp>
        <p:nvSpPr>
          <p:cNvPr id="72" name="TextBox 71"/>
          <p:cNvSpPr txBox="1"/>
          <p:nvPr/>
        </p:nvSpPr>
        <p:spPr>
          <a:xfrm>
            <a:off x="10607040" y="4434840"/>
            <a:ext cx="1188720" cy="228600"/>
          </a:xfrm>
          <a:prstGeom prst="rect">
            <a:avLst/>
          </a:prstGeom>
          <a:noFill/>
        </p:spPr>
        <p:txBody>
          <a:bodyPr wrap="square">
            <a:spAutoFit/>
          </a:bodyPr>
          <a:lstStyle/>
          <a:p>
            <a:pPr algn="ctr"/>
            <a:r>
              <a:rPr sz="900" b="0" i="0">
                <a:solidFill>
                  <a:srgbClr val="5A6A85"/>
                </a:solidFill>
              </a:rPr>
              <a:t>#4</a:t>
            </a:r>
          </a:p>
        </p:txBody>
      </p:sp>
      <p:sp>
        <p:nvSpPr>
          <p:cNvPr id="73" name="Rectangle 72"/>
          <p:cNvSpPr/>
          <p:nvPr/>
        </p:nvSpPr>
        <p:spPr>
          <a:xfrm>
            <a:off x="6217920" y="4700016"/>
            <a:ext cx="5669280" cy="265176"/>
          </a:xfrm>
          <a:prstGeom prst="rect">
            <a:avLst/>
          </a:prstGeom>
          <a:solidFill>
            <a:srgbClr val="FEF0EE"/>
          </a:solidFill>
          <a:ln w="5080">
            <a:solidFill>
              <a:srgbClr val="DD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09360" y="4718304"/>
            <a:ext cx="2103120" cy="228600"/>
          </a:xfrm>
          <a:prstGeom prst="rect">
            <a:avLst/>
          </a:prstGeom>
          <a:noFill/>
        </p:spPr>
        <p:txBody>
          <a:bodyPr wrap="square">
            <a:spAutoFit/>
          </a:bodyPr>
          <a:lstStyle/>
          <a:p>
            <a:pPr algn="l"/>
            <a:r>
              <a:rPr sz="900" b="0" i="0">
                <a:solidFill>
                  <a:srgbClr val="1A1A2E"/>
                </a:solidFill>
              </a:rPr>
              <a:t>Skills</a:t>
            </a:r>
          </a:p>
        </p:txBody>
      </p:sp>
      <p:sp>
        <p:nvSpPr>
          <p:cNvPr id="75" name="TextBox 74"/>
          <p:cNvSpPr txBox="1"/>
          <p:nvPr/>
        </p:nvSpPr>
        <p:spPr>
          <a:xfrm>
            <a:off x="8412480" y="4718304"/>
            <a:ext cx="1371600" cy="228600"/>
          </a:xfrm>
          <a:prstGeom prst="rect">
            <a:avLst/>
          </a:prstGeom>
          <a:noFill/>
        </p:spPr>
        <p:txBody>
          <a:bodyPr wrap="square">
            <a:spAutoFit/>
          </a:bodyPr>
          <a:lstStyle/>
          <a:p>
            <a:pPr algn="ctr"/>
            <a:r>
              <a:rPr sz="900" b="0" i="0">
                <a:solidFill>
                  <a:srgbClr val="1A1A2E"/>
                </a:solidFill>
              </a:rPr>
              <a:t>84,280</a:t>
            </a:r>
          </a:p>
        </p:txBody>
      </p:sp>
      <p:sp>
        <p:nvSpPr>
          <p:cNvPr id="76" name="TextBox 75"/>
          <p:cNvSpPr txBox="1"/>
          <p:nvPr/>
        </p:nvSpPr>
        <p:spPr>
          <a:xfrm>
            <a:off x="9784080" y="4718304"/>
            <a:ext cx="822960" cy="228600"/>
          </a:xfrm>
          <a:prstGeom prst="rect">
            <a:avLst/>
          </a:prstGeom>
          <a:noFill/>
        </p:spPr>
        <p:txBody>
          <a:bodyPr wrap="square">
            <a:spAutoFit/>
          </a:bodyPr>
          <a:lstStyle/>
          <a:p>
            <a:pPr algn="ctr"/>
            <a:r>
              <a:rPr sz="900" b="1" i="0">
                <a:solidFill>
                  <a:srgbClr val="C0392B"/>
                </a:solidFill>
              </a:rPr>
              <a:t>17.2</a:t>
            </a:r>
          </a:p>
        </p:txBody>
      </p:sp>
      <p:sp>
        <p:nvSpPr>
          <p:cNvPr id="77" name="TextBox 76"/>
          <p:cNvSpPr txBox="1"/>
          <p:nvPr/>
        </p:nvSpPr>
        <p:spPr>
          <a:xfrm>
            <a:off x="10607040" y="4718304"/>
            <a:ext cx="1188720" cy="228600"/>
          </a:xfrm>
          <a:prstGeom prst="rect">
            <a:avLst/>
          </a:prstGeom>
          <a:noFill/>
        </p:spPr>
        <p:txBody>
          <a:bodyPr wrap="square">
            <a:spAutoFit/>
          </a:bodyPr>
          <a:lstStyle/>
          <a:p>
            <a:pPr algn="ctr"/>
            <a:r>
              <a:rPr sz="900" b="0" i="0">
                <a:solidFill>
                  <a:srgbClr val="5A6A85"/>
                </a:solidFill>
              </a:rPr>
              <a:t>#3</a:t>
            </a:r>
          </a:p>
        </p:txBody>
      </p:sp>
      <p:sp>
        <p:nvSpPr>
          <p:cNvPr id="78" name="Rectangle 77"/>
          <p:cNvSpPr/>
          <p:nvPr/>
        </p:nvSpPr>
        <p:spPr>
          <a:xfrm>
            <a:off x="6217920" y="4983479"/>
            <a:ext cx="5669280" cy="265176"/>
          </a:xfrm>
          <a:prstGeom prst="rect">
            <a:avLst/>
          </a:prstGeom>
          <a:solidFill>
            <a:srgbClr val="FFFFFF"/>
          </a:solidFill>
          <a:ln w="5080">
            <a:solidFill>
              <a:srgbClr val="DD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09360" y="5001768"/>
            <a:ext cx="2103120" cy="228600"/>
          </a:xfrm>
          <a:prstGeom prst="rect">
            <a:avLst/>
          </a:prstGeom>
          <a:noFill/>
        </p:spPr>
        <p:txBody>
          <a:bodyPr wrap="square">
            <a:spAutoFit/>
          </a:bodyPr>
          <a:lstStyle/>
          <a:p>
            <a:pPr algn="l"/>
            <a:r>
              <a:rPr sz="900" b="0" i="0">
                <a:solidFill>
                  <a:srgbClr val="1A1A2E"/>
                </a:solidFill>
              </a:rPr>
              <a:t>Marketing &amp; Digital</a:t>
            </a:r>
          </a:p>
        </p:txBody>
      </p:sp>
      <p:sp>
        <p:nvSpPr>
          <p:cNvPr id="80" name="TextBox 79"/>
          <p:cNvSpPr txBox="1"/>
          <p:nvPr/>
        </p:nvSpPr>
        <p:spPr>
          <a:xfrm>
            <a:off x="8412480" y="5001768"/>
            <a:ext cx="1371600" cy="228600"/>
          </a:xfrm>
          <a:prstGeom prst="rect">
            <a:avLst/>
          </a:prstGeom>
          <a:noFill/>
        </p:spPr>
        <p:txBody>
          <a:bodyPr wrap="square">
            <a:spAutoFit/>
          </a:bodyPr>
          <a:lstStyle/>
          <a:p>
            <a:pPr algn="ctr"/>
            <a:r>
              <a:rPr sz="900" b="0" i="0">
                <a:solidFill>
                  <a:srgbClr val="1A1A2E"/>
                </a:solidFill>
              </a:rPr>
              <a:t>196,230</a:t>
            </a:r>
          </a:p>
        </p:txBody>
      </p:sp>
      <p:sp>
        <p:nvSpPr>
          <p:cNvPr id="81" name="TextBox 80"/>
          <p:cNvSpPr txBox="1"/>
          <p:nvPr/>
        </p:nvSpPr>
        <p:spPr>
          <a:xfrm>
            <a:off x="9784080" y="5001768"/>
            <a:ext cx="822960" cy="228600"/>
          </a:xfrm>
          <a:prstGeom prst="rect">
            <a:avLst/>
          </a:prstGeom>
          <a:noFill/>
        </p:spPr>
        <p:txBody>
          <a:bodyPr wrap="square">
            <a:spAutoFit/>
          </a:bodyPr>
          <a:lstStyle/>
          <a:p>
            <a:pPr algn="ctr"/>
            <a:r>
              <a:rPr sz="900" b="1" i="0">
                <a:solidFill>
                  <a:srgbClr val="C0392B"/>
                </a:solidFill>
              </a:rPr>
              <a:t>17.4</a:t>
            </a:r>
          </a:p>
        </p:txBody>
      </p:sp>
      <p:sp>
        <p:nvSpPr>
          <p:cNvPr id="82" name="TextBox 81"/>
          <p:cNvSpPr txBox="1"/>
          <p:nvPr/>
        </p:nvSpPr>
        <p:spPr>
          <a:xfrm>
            <a:off x="10607040" y="5001768"/>
            <a:ext cx="1188720" cy="228600"/>
          </a:xfrm>
          <a:prstGeom prst="rect">
            <a:avLst/>
          </a:prstGeom>
          <a:noFill/>
        </p:spPr>
        <p:txBody>
          <a:bodyPr wrap="square">
            <a:spAutoFit/>
          </a:bodyPr>
          <a:lstStyle/>
          <a:p>
            <a:pPr algn="ctr"/>
            <a:r>
              <a:rPr sz="900" b="0" i="0">
                <a:solidFill>
                  <a:srgbClr val="5A6A85"/>
                </a:solidFill>
              </a:rPr>
              <a:t>#3</a:t>
            </a:r>
          </a:p>
        </p:txBody>
      </p:sp>
      <p:sp>
        <p:nvSpPr>
          <p:cNvPr id="83" name="Rectangle 82"/>
          <p:cNvSpPr/>
          <p:nvPr/>
        </p:nvSpPr>
        <p:spPr>
          <a:xfrm>
            <a:off x="6217920" y="5266944"/>
            <a:ext cx="5669280" cy="265176"/>
          </a:xfrm>
          <a:prstGeom prst="rect">
            <a:avLst/>
          </a:prstGeom>
          <a:solidFill>
            <a:srgbClr val="FEF0EE"/>
          </a:solidFill>
          <a:ln w="5080">
            <a:solidFill>
              <a:srgbClr val="DD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309360" y="5285232"/>
            <a:ext cx="2103120" cy="228600"/>
          </a:xfrm>
          <a:prstGeom prst="rect">
            <a:avLst/>
          </a:prstGeom>
          <a:noFill/>
        </p:spPr>
        <p:txBody>
          <a:bodyPr wrap="square">
            <a:spAutoFit/>
          </a:bodyPr>
          <a:lstStyle/>
          <a:p>
            <a:pPr algn="l"/>
            <a:r>
              <a:rPr sz="900" b="0" i="0">
                <a:solidFill>
                  <a:srgbClr val="1A1A2E"/>
                </a:solidFill>
              </a:rPr>
              <a:t>Career Growth &amp; Dev</a:t>
            </a:r>
          </a:p>
        </p:txBody>
      </p:sp>
      <p:sp>
        <p:nvSpPr>
          <p:cNvPr id="85" name="TextBox 84"/>
          <p:cNvSpPr txBox="1"/>
          <p:nvPr/>
        </p:nvSpPr>
        <p:spPr>
          <a:xfrm>
            <a:off x="8412480" y="5285232"/>
            <a:ext cx="1371600" cy="228600"/>
          </a:xfrm>
          <a:prstGeom prst="rect">
            <a:avLst/>
          </a:prstGeom>
          <a:noFill/>
        </p:spPr>
        <p:txBody>
          <a:bodyPr wrap="square">
            <a:spAutoFit/>
          </a:bodyPr>
          <a:lstStyle/>
          <a:p>
            <a:pPr algn="ctr"/>
            <a:r>
              <a:rPr sz="900" b="0" i="0">
                <a:solidFill>
                  <a:srgbClr val="1A1A2E"/>
                </a:solidFill>
              </a:rPr>
              <a:t>216,120</a:t>
            </a:r>
          </a:p>
        </p:txBody>
      </p:sp>
      <p:sp>
        <p:nvSpPr>
          <p:cNvPr id="86" name="TextBox 85"/>
          <p:cNvSpPr txBox="1"/>
          <p:nvPr/>
        </p:nvSpPr>
        <p:spPr>
          <a:xfrm>
            <a:off x="9784080" y="5285232"/>
            <a:ext cx="822960" cy="228600"/>
          </a:xfrm>
          <a:prstGeom prst="rect">
            <a:avLst/>
          </a:prstGeom>
          <a:noFill/>
        </p:spPr>
        <p:txBody>
          <a:bodyPr wrap="square">
            <a:spAutoFit/>
          </a:bodyPr>
          <a:lstStyle/>
          <a:p>
            <a:pPr algn="ctr"/>
            <a:r>
              <a:rPr sz="900" b="1" i="0">
                <a:solidFill>
                  <a:srgbClr val="C0392B"/>
                </a:solidFill>
              </a:rPr>
              <a:t>17.3</a:t>
            </a:r>
          </a:p>
        </p:txBody>
      </p:sp>
      <p:sp>
        <p:nvSpPr>
          <p:cNvPr id="87" name="TextBox 86"/>
          <p:cNvSpPr txBox="1"/>
          <p:nvPr/>
        </p:nvSpPr>
        <p:spPr>
          <a:xfrm>
            <a:off x="10607040" y="5285232"/>
            <a:ext cx="1188720" cy="228600"/>
          </a:xfrm>
          <a:prstGeom prst="rect">
            <a:avLst/>
          </a:prstGeom>
          <a:noFill/>
        </p:spPr>
        <p:txBody>
          <a:bodyPr wrap="square">
            <a:spAutoFit/>
          </a:bodyPr>
          <a:lstStyle/>
          <a:p>
            <a:pPr algn="ctr"/>
            <a:r>
              <a:rPr sz="900" b="0" i="0">
                <a:solidFill>
                  <a:srgbClr val="5A6A85"/>
                </a:solidFill>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04 — Competitor Gap Analysis</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Naukri's rank vs market leader per cluster</a:t>
            </a:r>
          </a:p>
        </p:txBody>
      </p:sp>
      <p:sp>
        <p:nvSpPr>
          <p:cNvPr id="6" name="Rectangle 5"/>
          <p:cNvSpPr/>
          <p:nvPr/>
        </p:nvSpPr>
        <p:spPr>
          <a:xfrm>
            <a:off x="274320" y="1325880"/>
            <a:ext cx="228600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1362456"/>
            <a:ext cx="2194560" cy="246888"/>
          </a:xfrm>
          <a:prstGeom prst="rect">
            <a:avLst/>
          </a:prstGeom>
          <a:noFill/>
        </p:spPr>
        <p:txBody>
          <a:bodyPr wrap="square">
            <a:spAutoFit/>
          </a:bodyPr>
          <a:lstStyle/>
          <a:p>
            <a:pPr algn="l"/>
            <a:r>
              <a:rPr sz="900" b="1" i="0">
                <a:solidFill>
                  <a:srgbClr val="FFFFFF"/>
                </a:solidFill>
              </a:rPr>
              <a:t>Cluster</a:t>
            </a:r>
          </a:p>
        </p:txBody>
      </p:sp>
      <p:sp>
        <p:nvSpPr>
          <p:cNvPr id="8" name="Rectangle 7"/>
          <p:cNvSpPr/>
          <p:nvPr/>
        </p:nvSpPr>
        <p:spPr>
          <a:xfrm>
            <a:off x="2560320" y="1325880"/>
            <a:ext cx="182880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24327" y="1362456"/>
            <a:ext cx="1737360" cy="246888"/>
          </a:xfrm>
          <a:prstGeom prst="rect">
            <a:avLst/>
          </a:prstGeom>
          <a:noFill/>
        </p:spPr>
        <p:txBody>
          <a:bodyPr wrap="square">
            <a:spAutoFit/>
          </a:bodyPr>
          <a:lstStyle/>
          <a:p>
            <a:pPr algn="ctr"/>
            <a:r>
              <a:rPr sz="900" b="1" i="0">
                <a:solidFill>
                  <a:srgbClr val="FFFFFF"/>
                </a:solidFill>
              </a:rPr>
              <a:t>Leader</a:t>
            </a:r>
          </a:p>
        </p:txBody>
      </p:sp>
      <p:sp>
        <p:nvSpPr>
          <p:cNvPr id="10" name="Rectangle 9"/>
          <p:cNvSpPr/>
          <p:nvPr/>
        </p:nvSpPr>
        <p:spPr>
          <a:xfrm>
            <a:off x="4389120" y="1325880"/>
            <a:ext cx="100584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1362456"/>
            <a:ext cx="914400" cy="246888"/>
          </a:xfrm>
          <a:prstGeom prst="rect">
            <a:avLst/>
          </a:prstGeom>
          <a:noFill/>
        </p:spPr>
        <p:txBody>
          <a:bodyPr wrap="square">
            <a:spAutoFit/>
          </a:bodyPr>
          <a:lstStyle/>
          <a:p>
            <a:pPr algn="ctr"/>
            <a:r>
              <a:rPr sz="900" b="1" i="0">
                <a:solidFill>
                  <a:srgbClr val="FFFFFF"/>
                </a:solidFill>
              </a:rPr>
              <a:t>Leader Pos</a:t>
            </a:r>
          </a:p>
        </p:txBody>
      </p:sp>
      <p:sp>
        <p:nvSpPr>
          <p:cNvPr id="12" name="Rectangle 11"/>
          <p:cNvSpPr/>
          <p:nvPr/>
        </p:nvSpPr>
        <p:spPr>
          <a:xfrm>
            <a:off x="5394960" y="1325880"/>
            <a:ext cx="192024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58968" y="1362456"/>
            <a:ext cx="1828800" cy="246888"/>
          </a:xfrm>
          <a:prstGeom prst="rect">
            <a:avLst/>
          </a:prstGeom>
          <a:noFill/>
        </p:spPr>
        <p:txBody>
          <a:bodyPr wrap="square">
            <a:spAutoFit/>
          </a:bodyPr>
          <a:lstStyle/>
          <a:p>
            <a:pPr algn="ctr"/>
            <a:r>
              <a:rPr sz="900" b="1" i="0">
                <a:solidFill>
                  <a:srgbClr val="FFFFFF"/>
                </a:solidFill>
              </a:rPr>
              <a:t>2nd Place</a:t>
            </a:r>
          </a:p>
        </p:txBody>
      </p:sp>
      <p:sp>
        <p:nvSpPr>
          <p:cNvPr id="14" name="Rectangle 13"/>
          <p:cNvSpPr/>
          <p:nvPr/>
        </p:nvSpPr>
        <p:spPr>
          <a:xfrm>
            <a:off x="7315200" y="1325880"/>
            <a:ext cx="91440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79208" y="1362456"/>
            <a:ext cx="822960" cy="246888"/>
          </a:xfrm>
          <a:prstGeom prst="rect">
            <a:avLst/>
          </a:prstGeom>
          <a:noFill/>
        </p:spPr>
        <p:txBody>
          <a:bodyPr wrap="square">
            <a:spAutoFit/>
          </a:bodyPr>
          <a:lstStyle/>
          <a:p>
            <a:pPr algn="ctr"/>
            <a:r>
              <a:rPr sz="900" b="1" i="0">
                <a:solidFill>
                  <a:srgbClr val="FFFFFF"/>
                </a:solidFill>
              </a:rPr>
              <a:t>2nd Pos</a:t>
            </a:r>
          </a:p>
        </p:txBody>
      </p:sp>
      <p:sp>
        <p:nvSpPr>
          <p:cNvPr id="16" name="Rectangle 15"/>
          <p:cNvSpPr/>
          <p:nvPr/>
        </p:nvSpPr>
        <p:spPr>
          <a:xfrm>
            <a:off x="8229600" y="1325880"/>
            <a:ext cx="100584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362456"/>
            <a:ext cx="914400" cy="246888"/>
          </a:xfrm>
          <a:prstGeom prst="rect">
            <a:avLst/>
          </a:prstGeom>
          <a:noFill/>
        </p:spPr>
        <p:txBody>
          <a:bodyPr wrap="square">
            <a:spAutoFit/>
          </a:bodyPr>
          <a:lstStyle/>
          <a:p>
            <a:pPr algn="ctr"/>
            <a:r>
              <a:rPr sz="900" b="1" i="0">
                <a:solidFill>
                  <a:srgbClr val="FFFFFF"/>
                </a:solidFill>
              </a:rPr>
              <a:t>Naukri Pos</a:t>
            </a:r>
          </a:p>
        </p:txBody>
      </p:sp>
      <p:sp>
        <p:nvSpPr>
          <p:cNvPr id="18" name="Rectangle 17"/>
          <p:cNvSpPr/>
          <p:nvPr/>
        </p:nvSpPr>
        <p:spPr>
          <a:xfrm>
            <a:off x="9235440" y="1325880"/>
            <a:ext cx="100584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1362456"/>
            <a:ext cx="914400" cy="246888"/>
          </a:xfrm>
          <a:prstGeom prst="rect">
            <a:avLst/>
          </a:prstGeom>
          <a:noFill/>
        </p:spPr>
        <p:txBody>
          <a:bodyPr wrap="square">
            <a:spAutoFit/>
          </a:bodyPr>
          <a:lstStyle/>
          <a:p>
            <a:pPr algn="ctr"/>
            <a:r>
              <a:rPr sz="900" b="1" i="0">
                <a:solidFill>
                  <a:srgbClr val="FFFFFF"/>
                </a:solidFill>
              </a:rPr>
              <a:t>Naukri Rank</a:t>
            </a:r>
          </a:p>
        </p:txBody>
      </p:sp>
      <p:sp>
        <p:nvSpPr>
          <p:cNvPr id="20" name="Rectangle 19"/>
          <p:cNvSpPr/>
          <p:nvPr/>
        </p:nvSpPr>
        <p:spPr>
          <a:xfrm>
            <a:off x="10241280" y="1325880"/>
            <a:ext cx="731520"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05288" y="1362456"/>
            <a:ext cx="640080" cy="246888"/>
          </a:xfrm>
          <a:prstGeom prst="rect">
            <a:avLst/>
          </a:prstGeom>
          <a:noFill/>
        </p:spPr>
        <p:txBody>
          <a:bodyPr wrap="square">
            <a:spAutoFit/>
          </a:bodyPr>
          <a:lstStyle/>
          <a:p>
            <a:pPr algn="ctr"/>
            <a:r>
              <a:rPr sz="900" b="1" i="0">
                <a:solidFill>
                  <a:srgbClr val="FFFFFF"/>
                </a:solidFill>
              </a:rPr>
              <a:t>Gap</a:t>
            </a:r>
          </a:p>
        </p:txBody>
      </p:sp>
      <p:sp>
        <p:nvSpPr>
          <p:cNvPr id="22" name="Rectangle 21"/>
          <p:cNvSpPr/>
          <p:nvPr/>
        </p:nvSpPr>
        <p:spPr>
          <a:xfrm>
            <a:off x="274320" y="161848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 y="1645920"/>
            <a:ext cx="2194560" cy="233172"/>
          </a:xfrm>
          <a:prstGeom prst="rect">
            <a:avLst/>
          </a:prstGeom>
          <a:noFill/>
        </p:spPr>
        <p:txBody>
          <a:bodyPr wrap="square">
            <a:spAutoFit/>
          </a:bodyPr>
          <a:lstStyle/>
          <a:p>
            <a:pPr algn="l"/>
            <a:r>
              <a:rPr sz="850" b="0" i="0">
                <a:solidFill>
                  <a:srgbClr val="1A1A2E"/>
                </a:solidFill>
              </a:rPr>
              <a:t>Full Forms</a:t>
            </a:r>
          </a:p>
        </p:txBody>
      </p:sp>
      <p:sp>
        <p:nvSpPr>
          <p:cNvPr id="24" name="Rectangle 23"/>
          <p:cNvSpPr/>
          <p:nvPr/>
        </p:nvSpPr>
        <p:spPr>
          <a:xfrm>
            <a:off x="2560320" y="161848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24327" y="1645920"/>
            <a:ext cx="1737360" cy="233172"/>
          </a:xfrm>
          <a:prstGeom prst="rect">
            <a:avLst/>
          </a:prstGeom>
          <a:noFill/>
        </p:spPr>
        <p:txBody>
          <a:bodyPr wrap="square">
            <a:spAutoFit/>
          </a:bodyPr>
          <a:lstStyle/>
          <a:p>
            <a:pPr algn="ctr"/>
            <a:r>
              <a:rPr sz="850" b="0" i="0">
                <a:solidFill>
                  <a:srgbClr val="1A1A2E"/>
                </a:solidFill>
              </a:rPr>
              <a:t>Naukri</a:t>
            </a:r>
          </a:p>
        </p:txBody>
      </p:sp>
      <p:sp>
        <p:nvSpPr>
          <p:cNvPr id="26" name="Rectangle 25"/>
          <p:cNvSpPr/>
          <p:nvPr/>
        </p:nvSpPr>
        <p:spPr>
          <a:xfrm>
            <a:off x="4389120" y="16184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53128" y="1645920"/>
            <a:ext cx="914400" cy="233172"/>
          </a:xfrm>
          <a:prstGeom prst="rect">
            <a:avLst/>
          </a:prstGeom>
          <a:noFill/>
        </p:spPr>
        <p:txBody>
          <a:bodyPr wrap="square">
            <a:spAutoFit/>
          </a:bodyPr>
          <a:lstStyle/>
          <a:p>
            <a:pPr algn="ctr"/>
            <a:r>
              <a:rPr sz="850" b="0" i="0">
                <a:solidFill>
                  <a:srgbClr val="1A1A2E"/>
                </a:solidFill>
              </a:rPr>
              <a:t>13.3</a:t>
            </a:r>
          </a:p>
        </p:txBody>
      </p:sp>
      <p:sp>
        <p:nvSpPr>
          <p:cNvPr id="28" name="Rectangle 27"/>
          <p:cNvSpPr/>
          <p:nvPr/>
        </p:nvSpPr>
        <p:spPr>
          <a:xfrm>
            <a:off x="5394960" y="161848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58968" y="1645920"/>
            <a:ext cx="1828800" cy="233172"/>
          </a:xfrm>
          <a:prstGeom prst="rect">
            <a:avLst/>
          </a:prstGeom>
          <a:noFill/>
        </p:spPr>
        <p:txBody>
          <a:bodyPr wrap="square">
            <a:spAutoFit/>
          </a:bodyPr>
          <a:lstStyle/>
          <a:p>
            <a:pPr algn="ctr"/>
            <a:r>
              <a:rPr sz="850" b="0" i="0">
                <a:solidFill>
                  <a:srgbClr val="1A1A2E"/>
                </a:solidFill>
              </a:rPr>
              <a:t>Indeed</a:t>
            </a:r>
          </a:p>
        </p:txBody>
      </p:sp>
      <p:sp>
        <p:nvSpPr>
          <p:cNvPr id="30" name="Rectangle 29"/>
          <p:cNvSpPr/>
          <p:nvPr/>
        </p:nvSpPr>
        <p:spPr>
          <a:xfrm>
            <a:off x="7315200" y="161848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79208" y="1645920"/>
            <a:ext cx="822960" cy="233172"/>
          </a:xfrm>
          <a:prstGeom prst="rect">
            <a:avLst/>
          </a:prstGeom>
          <a:noFill/>
        </p:spPr>
        <p:txBody>
          <a:bodyPr wrap="square">
            <a:spAutoFit/>
          </a:bodyPr>
          <a:lstStyle/>
          <a:p>
            <a:pPr algn="ctr"/>
            <a:r>
              <a:rPr sz="850" b="0" i="0">
                <a:solidFill>
                  <a:srgbClr val="1A1A2E"/>
                </a:solidFill>
              </a:rPr>
              <a:t>15.3</a:t>
            </a:r>
          </a:p>
        </p:txBody>
      </p:sp>
      <p:sp>
        <p:nvSpPr>
          <p:cNvPr id="32" name="Rectangle 31"/>
          <p:cNvSpPr/>
          <p:nvPr/>
        </p:nvSpPr>
        <p:spPr>
          <a:xfrm>
            <a:off x="8229600" y="16184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3608" y="1645920"/>
            <a:ext cx="914400" cy="233172"/>
          </a:xfrm>
          <a:prstGeom prst="rect">
            <a:avLst/>
          </a:prstGeom>
          <a:noFill/>
        </p:spPr>
        <p:txBody>
          <a:bodyPr wrap="square">
            <a:spAutoFit/>
          </a:bodyPr>
          <a:lstStyle/>
          <a:p>
            <a:pPr algn="ctr"/>
            <a:r>
              <a:rPr sz="850" b="0" i="0">
                <a:solidFill>
                  <a:srgbClr val="1A1A2E"/>
                </a:solidFill>
              </a:rPr>
              <a:t>13.3</a:t>
            </a:r>
          </a:p>
        </p:txBody>
      </p:sp>
      <p:sp>
        <p:nvSpPr>
          <p:cNvPr id="34" name="Rectangle 33"/>
          <p:cNvSpPr/>
          <p:nvPr/>
        </p:nvSpPr>
        <p:spPr>
          <a:xfrm>
            <a:off x="9235440" y="16184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99448" y="1645920"/>
            <a:ext cx="914400" cy="233172"/>
          </a:xfrm>
          <a:prstGeom prst="rect">
            <a:avLst/>
          </a:prstGeom>
          <a:noFill/>
        </p:spPr>
        <p:txBody>
          <a:bodyPr wrap="square">
            <a:spAutoFit/>
          </a:bodyPr>
          <a:lstStyle/>
          <a:p>
            <a:pPr algn="ctr"/>
            <a:r>
              <a:rPr sz="850" b="0" i="0">
                <a:solidFill>
                  <a:srgbClr val="1A1A2E"/>
                </a:solidFill>
              </a:rPr>
              <a:t>#1 ★</a:t>
            </a:r>
          </a:p>
        </p:txBody>
      </p:sp>
      <p:sp>
        <p:nvSpPr>
          <p:cNvPr id="36" name="Rectangle 35"/>
          <p:cNvSpPr/>
          <p:nvPr/>
        </p:nvSpPr>
        <p:spPr>
          <a:xfrm>
            <a:off x="10241280" y="161848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05288" y="1645920"/>
            <a:ext cx="640080" cy="233172"/>
          </a:xfrm>
          <a:prstGeom prst="rect">
            <a:avLst/>
          </a:prstGeom>
          <a:noFill/>
        </p:spPr>
        <p:txBody>
          <a:bodyPr wrap="square">
            <a:spAutoFit/>
          </a:bodyPr>
          <a:lstStyle/>
          <a:p>
            <a:pPr algn="ctr"/>
            <a:r>
              <a:rPr sz="850" b="0" i="0">
                <a:solidFill>
                  <a:srgbClr val="1A1A2E"/>
                </a:solidFill>
              </a:rPr>
              <a:t>—</a:t>
            </a:r>
          </a:p>
        </p:txBody>
      </p:sp>
      <p:sp>
        <p:nvSpPr>
          <p:cNvPr id="38" name="Rectangle 37"/>
          <p:cNvSpPr/>
          <p:nvPr/>
        </p:nvSpPr>
        <p:spPr>
          <a:xfrm>
            <a:off x="9235440" y="1618488"/>
            <a:ext cx="1005840" cy="269748"/>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81160" y="1645920"/>
            <a:ext cx="932688" cy="219456"/>
          </a:xfrm>
          <a:prstGeom prst="rect">
            <a:avLst/>
          </a:prstGeom>
          <a:noFill/>
        </p:spPr>
        <p:txBody>
          <a:bodyPr wrap="square">
            <a:spAutoFit/>
          </a:bodyPr>
          <a:lstStyle/>
          <a:p>
            <a:pPr algn="ctr"/>
            <a:r>
              <a:rPr sz="850" b="1" i="0">
                <a:solidFill>
                  <a:srgbClr val="27AE60"/>
                </a:solidFill>
              </a:rPr>
              <a:t>#1 ★</a:t>
            </a:r>
          </a:p>
        </p:txBody>
      </p:sp>
      <p:sp>
        <p:nvSpPr>
          <p:cNvPr id="40" name="Rectangle 39"/>
          <p:cNvSpPr/>
          <p:nvPr/>
        </p:nvSpPr>
        <p:spPr>
          <a:xfrm>
            <a:off x="274320" y="1892807"/>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8328" y="1920239"/>
            <a:ext cx="2194560" cy="233172"/>
          </a:xfrm>
          <a:prstGeom prst="rect">
            <a:avLst/>
          </a:prstGeom>
          <a:noFill/>
        </p:spPr>
        <p:txBody>
          <a:bodyPr wrap="square">
            <a:spAutoFit/>
          </a:bodyPr>
          <a:lstStyle/>
          <a:p>
            <a:pPr algn="l"/>
            <a:r>
              <a:rPr sz="850" b="0" i="0">
                <a:solidFill>
                  <a:srgbClr val="1A1A2E"/>
                </a:solidFill>
              </a:rPr>
              <a:t>Fresher &amp; Internship</a:t>
            </a:r>
          </a:p>
        </p:txBody>
      </p:sp>
      <p:sp>
        <p:nvSpPr>
          <p:cNvPr id="42" name="Rectangle 41"/>
          <p:cNvSpPr/>
          <p:nvPr/>
        </p:nvSpPr>
        <p:spPr>
          <a:xfrm>
            <a:off x="2560320" y="1892807"/>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24327" y="1920239"/>
            <a:ext cx="1737360" cy="233172"/>
          </a:xfrm>
          <a:prstGeom prst="rect">
            <a:avLst/>
          </a:prstGeom>
          <a:noFill/>
        </p:spPr>
        <p:txBody>
          <a:bodyPr wrap="square">
            <a:spAutoFit/>
          </a:bodyPr>
          <a:lstStyle/>
          <a:p>
            <a:pPr algn="ctr"/>
            <a:r>
              <a:rPr sz="850" b="0" i="0">
                <a:solidFill>
                  <a:srgbClr val="1A1A2E"/>
                </a:solidFill>
              </a:rPr>
              <a:t>Indeed</a:t>
            </a:r>
          </a:p>
        </p:txBody>
      </p:sp>
      <p:sp>
        <p:nvSpPr>
          <p:cNvPr id="44" name="Rectangle 43"/>
          <p:cNvSpPr/>
          <p:nvPr/>
        </p:nvSpPr>
        <p:spPr>
          <a:xfrm>
            <a:off x="4389120" y="1892807"/>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53128" y="1920239"/>
            <a:ext cx="914400" cy="233172"/>
          </a:xfrm>
          <a:prstGeom prst="rect">
            <a:avLst/>
          </a:prstGeom>
          <a:noFill/>
        </p:spPr>
        <p:txBody>
          <a:bodyPr wrap="square">
            <a:spAutoFit/>
          </a:bodyPr>
          <a:lstStyle/>
          <a:p>
            <a:pPr algn="ctr"/>
            <a:r>
              <a:rPr sz="850" b="0" i="0">
                <a:solidFill>
                  <a:srgbClr val="1A1A2E"/>
                </a:solidFill>
              </a:rPr>
              <a:t>9.4</a:t>
            </a:r>
          </a:p>
        </p:txBody>
      </p:sp>
      <p:sp>
        <p:nvSpPr>
          <p:cNvPr id="46" name="Rectangle 45"/>
          <p:cNvSpPr/>
          <p:nvPr/>
        </p:nvSpPr>
        <p:spPr>
          <a:xfrm>
            <a:off x="5394960" y="1892807"/>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58968" y="1920239"/>
            <a:ext cx="1828800" cy="233172"/>
          </a:xfrm>
          <a:prstGeom prst="rect">
            <a:avLst/>
          </a:prstGeom>
          <a:noFill/>
        </p:spPr>
        <p:txBody>
          <a:bodyPr wrap="square">
            <a:spAutoFit/>
          </a:bodyPr>
          <a:lstStyle/>
          <a:p>
            <a:pPr algn="ctr"/>
            <a:r>
              <a:rPr sz="850" b="0" i="0">
                <a:solidFill>
                  <a:srgbClr val="1A1A2E"/>
                </a:solidFill>
              </a:rPr>
              <a:t>Naukri</a:t>
            </a:r>
          </a:p>
        </p:txBody>
      </p:sp>
      <p:sp>
        <p:nvSpPr>
          <p:cNvPr id="48" name="Rectangle 47"/>
          <p:cNvSpPr/>
          <p:nvPr/>
        </p:nvSpPr>
        <p:spPr>
          <a:xfrm>
            <a:off x="7315200" y="1892807"/>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79208" y="1920239"/>
            <a:ext cx="822960" cy="233172"/>
          </a:xfrm>
          <a:prstGeom prst="rect">
            <a:avLst/>
          </a:prstGeom>
          <a:noFill/>
        </p:spPr>
        <p:txBody>
          <a:bodyPr wrap="square">
            <a:spAutoFit/>
          </a:bodyPr>
          <a:lstStyle/>
          <a:p>
            <a:pPr algn="ctr"/>
            <a:r>
              <a:rPr sz="850" b="0" i="0">
                <a:solidFill>
                  <a:srgbClr val="1A1A2E"/>
                </a:solidFill>
              </a:rPr>
              <a:t>13.1</a:t>
            </a:r>
          </a:p>
        </p:txBody>
      </p:sp>
      <p:sp>
        <p:nvSpPr>
          <p:cNvPr id="50" name="Rectangle 49"/>
          <p:cNvSpPr/>
          <p:nvPr/>
        </p:nvSpPr>
        <p:spPr>
          <a:xfrm>
            <a:off x="8229600" y="1892807"/>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93608" y="1920239"/>
            <a:ext cx="914400" cy="233172"/>
          </a:xfrm>
          <a:prstGeom prst="rect">
            <a:avLst/>
          </a:prstGeom>
          <a:noFill/>
        </p:spPr>
        <p:txBody>
          <a:bodyPr wrap="square">
            <a:spAutoFit/>
          </a:bodyPr>
          <a:lstStyle/>
          <a:p>
            <a:pPr algn="ctr"/>
            <a:r>
              <a:rPr sz="850" b="0" i="0">
                <a:solidFill>
                  <a:srgbClr val="1A1A2E"/>
                </a:solidFill>
              </a:rPr>
              <a:t>13.1</a:t>
            </a:r>
          </a:p>
        </p:txBody>
      </p:sp>
      <p:sp>
        <p:nvSpPr>
          <p:cNvPr id="52" name="Rectangle 51"/>
          <p:cNvSpPr/>
          <p:nvPr/>
        </p:nvSpPr>
        <p:spPr>
          <a:xfrm>
            <a:off x="9235440" y="1892807"/>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99448" y="1920239"/>
            <a:ext cx="914400" cy="233172"/>
          </a:xfrm>
          <a:prstGeom prst="rect">
            <a:avLst/>
          </a:prstGeom>
          <a:noFill/>
        </p:spPr>
        <p:txBody>
          <a:bodyPr wrap="square">
            <a:spAutoFit/>
          </a:bodyPr>
          <a:lstStyle/>
          <a:p>
            <a:pPr algn="ctr"/>
            <a:r>
              <a:rPr sz="850" b="0" i="0">
                <a:solidFill>
                  <a:srgbClr val="1A1A2E"/>
                </a:solidFill>
              </a:rPr>
              <a:t>#2</a:t>
            </a:r>
          </a:p>
        </p:txBody>
      </p:sp>
      <p:sp>
        <p:nvSpPr>
          <p:cNvPr id="54" name="Rectangle 53"/>
          <p:cNvSpPr/>
          <p:nvPr/>
        </p:nvSpPr>
        <p:spPr>
          <a:xfrm>
            <a:off x="10241280" y="1892807"/>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05288" y="1920239"/>
            <a:ext cx="640080" cy="233172"/>
          </a:xfrm>
          <a:prstGeom prst="rect">
            <a:avLst/>
          </a:prstGeom>
          <a:noFill/>
        </p:spPr>
        <p:txBody>
          <a:bodyPr wrap="square">
            <a:spAutoFit/>
          </a:bodyPr>
          <a:lstStyle/>
          <a:p>
            <a:pPr algn="ctr"/>
            <a:r>
              <a:rPr sz="850" b="0" i="0">
                <a:solidFill>
                  <a:srgbClr val="1A1A2E"/>
                </a:solidFill>
              </a:rPr>
              <a:t>+3.7</a:t>
            </a:r>
          </a:p>
        </p:txBody>
      </p:sp>
      <p:sp>
        <p:nvSpPr>
          <p:cNvPr id="56" name="Rectangle 55"/>
          <p:cNvSpPr/>
          <p:nvPr/>
        </p:nvSpPr>
        <p:spPr>
          <a:xfrm>
            <a:off x="9235440" y="1892807"/>
            <a:ext cx="1005840" cy="269748"/>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81160" y="1920240"/>
            <a:ext cx="932688" cy="219456"/>
          </a:xfrm>
          <a:prstGeom prst="rect">
            <a:avLst/>
          </a:prstGeom>
          <a:noFill/>
        </p:spPr>
        <p:txBody>
          <a:bodyPr wrap="square">
            <a:spAutoFit/>
          </a:bodyPr>
          <a:lstStyle/>
          <a:p>
            <a:pPr algn="ctr"/>
            <a:r>
              <a:rPr sz="850" b="1" i="0">
                <a:solidFill>
                  <a:srgbClr val="27AE60"/>
                </a:solidFill>
              </a:rPr>
              <a:t>#2</a:t>
            </a:r>
          </a:p>
        </p:txBody>
      </p:sp>
      <p:sp>
        <p:nvSpPr>
          <p:cNvPr id="58" name="Rectangle 57"/>
          <p:cNvSpPr/>
          <p:nvPr/>
        </p:nvSpPr>
        <p:spPr>
          <a:xfrm>
            <a:off x="274320" y="216712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 y="2194560"/>
            <a:ext cx="2194560" cy="233172"/>
          </a:xfrm>
          <a:prstGeom prst="rect">
            <a:avLst/>
          </a:prstGeom>
          <a:noFill/>
        </p:spPr>
        <p:txBody>
          <a:bodyPr wrap="square">
            <a:spAutoFit/>
          </a:bodyPr>
          <a:lstStyle/>
          <a:p>
            <a:pPr algn="l"/>
            <a:r>
              <a:rPr sz="850" b="0" i="0">
                <a:solidFill>
                  <a:srgbClr val="1A1A2E"/>
                </a:solidFill>
              </a:rPr>
              <a:t>Courses &amp; Certs</a:t>
            </a:r>
          </a:p>
        </p:txBody>
      </p:sp>
      <p:sp>
        <p:nvSpPr>
          <p:cNvPr id="60" name="Rectangle 59"/>
          <p:cNvSpPr/>
          <p:nvPr/>
        </p:nvSpPr>
        <p:spPr>
          <a:xfrm>
            <a:off x="2560320" y="216712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24327" y="2194560"/>
            <a:ext cx="1737360" cy="233172"/>
          </a:xfrm>
          <a:prstGeom prst="rect">
            <a:avLst/>
          </a:prstGeom>
          <a:noFill/>
        </p:spPr>
        <p:txBody>
          <a:bodyPr wrap="square">
            <a:spAutoFit/>
          </a:bodyPr>
          <a:lstStyle/>
          <a:p>
            <a:pPr algn="ctr"/>
            <a:r>
              <a:rPr sz="850" b="0" i="0">
                <a:solidFill>
                  <a:srgbClr val="1A1A2E"/>
                </a:solidFill>
              </a:rPr>
              <a:t>Indeed</a:t>
            </a:r>
          </a:p>
        </p:txBody>
      </p:sp>
      <p:sp>
        <p:nvSpPr>
          <p:cNvPr id="62" name="Rectangle 61"/>
          <p:cNvSpPr/>
          <p:nvPr/>
        </p:nvSpPr>
        <p:spPr>
          <a:xfrm>
            <a:off x="4389120" y="216712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453128" y="2194560"/>
            <a:ext cx="914400" cy="233172"/>
          </a:xfrm>
          <a:prstGeom prst="rect">
            <a:avLst/>
          </a:prstGeom>
          <a:noFill/>
        </p:spPr>
        <p:txBody>
          <a:bodyPr wrap="square">
            <a:spAutoFit/>
          </a:bodyPr>
          <a:lstStyle/>
          <a:p>
            <a:pPr algn="ctr"/>
            <a:r>
              <a:rPr sz="850" b="0" i="0">
                <a:solidFill>
                  <a:srgbClr val="1A1A2E"/>
                </a:solidFill>
              </a:rPr>
              <a:t>12.0</a:t>
            </a:r>
          </a:p>
        </p:txBody>
      </p:sp>
      <p:sp>
        <p:nvSpPr>
          <p:cNvPr id="64" name="Rectangle 63"/>
          <p:cNvSpPr/>
          <p:nvPr/>
        </p:nvSpPr>
        <p:spPr>
          <a:xfrm>
            <a:off x="5394960" y="216712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58968" y="2194560"/>
            <a:ext cx="1828800" cy="233172"/>
          </a:xfrm>
          <a:prstGeom prst="rect">
            <a:avLst/>
          </a:prstGeom>
          <a:noFill/>
        </p:spPr>
        <p:txBody>
          <a:bodyPr wrap="square">
            <a:spAutoFit/>
          </a:bodyPr>
          <a:lstStyle/>
          <a:p>
            <a:pPr algn="ctr"/>
            <a:r>
              <a:rPr sz="850" b="0" i="0">
                <a:solidFill>
                  <a:srgbClr val="1A1A2E"/>
                </a:solidFill>
              </a:rPr>
              <a:t>Naukri</a:t>
            </a:r>
          </a:p>
        </p:txBody>
      </p:sp>
      <p:sp>
        <p:nvSpPr>
          <p:cNvPr id="66" name="Rectangle 65"/>
          <p:cNvSpPr/>
          <p:nvPr/>
        </p:nvSpPr>
        <p:spPr>
          <a:xfrm>
            <a:off x="7315200" y="216712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79208" y="2194560"/>
            <a:ext cx="822960" cy="233172"/>
          </a:xfrm>
          <a:prstGeom prst="rect">
            <a:avLst/>
          </a:prstGeom>
          <a:noFill/>
        </p:spPr>
        <p:txBody>
          <a:bodyPr wrap="square">
            <a:spAutoFit/>
          </a:bodyPr>
          <a:lstStyle/>
          <a:p>
            <a:pPr algn="ctr"/>
            <a:r>
              <a:rPr sz="850" b="0" i="0">
                <a:solidFill>
                  <a:srgbClr val="1A1A2E"/>
                </a:solidFill>
              </a:rPr>
              <a:t>14.8</a:t>
            </a:r>
          </a:p>
        </p:txBody>
      </p:sp>
      <p:sp>
        <p:nvSpPr>
          <p:cNvPr id="68" name="Rectangle 67"/>
          <p:cNvSpPr/>
          <p:nvPr/>
        </p:nvSpPr>
        <p:spPr>
          <a:xfrm>
            <a:off x="8229600" y="216712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293608" y="2194560"/>
            <a:ext cx="914400" cy="233172"/>
          </a:xfrm>
          <a:prstGeom prst="rect">
            <a:avLst/>
          </a:prstGeom>
          <a:noFill/>
        </p:spPr>
        <p:txBody>
          <a:bodyPr wrap="square">
            <a:spAutoFit/>
          </a:bodyPr>
          <a:lstStyle/>
          <a:p>
            <a:pPr algn="ctr"/>
            <a:r>
              <a:rPr sz="850" b="0" i="0">
                <a:solidFill>
                  <a:srgbClr val="1A1A2E"/>
                </a:solidFill>
              </a:rPr>
              <a:t>14.8</a:t>
            </a:r>
          </a:p>
        </p:txBody>
      </p:sp>
      <p:sp>
        <p:nvSpPr>
          <p:cNvPr id="70" name="Rectangle 69"/>
          <p:cNvSpPr/>
          <p:nvPr/>
        </p:nvSpPr>
        <p:spPr>
          <a:xfrm>
            <a:off x="9235440" y="216712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299448" y="2194560"/>
            <a:ext cx="914400" cy="233172"/>
          </a:xfrm>
          <a:prstGeom prst="rect">
            <a:avLst/>
          </a:prstGeom>
          <a:noFill/>
        </p:spPr>
        <p:txBody>
          <a:bodyPr wrap="square">
            <a:spAutoFit/>
          </a:bodyPr>
          <a:lstStyle/>
          <a:p>
            <a:pPr algn="ctr"/>
            <a:r>
              <a:rPr sz="850" b="0" i="0">
                <a:solidFill>
                  <a:srgbClr val="1A1A2E"/>
                </a:solidFill>
              </a:rPr>
              <a:t>#2</a:t>
            </a:r>
          </a:p>
        </p:txBody>
      </p:sp>
      <p:sp>
        <p:nvSpPr>
          <p:cNvPr id="72" name="Rectangle 71"/>
          <p:cNvSpPr/>
          <p:nvPr/>
        </p:nvSpPr>
        <p:spPr>
          <a:xfrm>
            <a:off x="10241280" y="216712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305288" y="2194560"/>
            <a:ext cx="640080" cy="233172"/>
          </a:xfrm>
          <a:prstGeom prst="rect">
            <a:avLst/>
          </a:prstGeom>
          <a:noFill/>
        </p:spPr>
        <p:txBody>
          <a:bodyPr wrap="square">
            <a:spAutoFit/>
          </a:bodyPr>
          <a:lstStyle/>
          <a:p>
            <a:pPr algn="ctr"/>
            <a:r>
              <a:rPr sz="850" b="0" i="0">
                <a:solidFill>
                  <a:srgbClr val="1A1A2E"/>
                </a:solidFill>
              </a:rPr>
              <a:t>+2.8</a:t>
            </a:r>
          </a:p>
        </p:txBody>
      </p:sp>
      <p:sp>
        <p:nvSpPr>
          <p:cNvPr id="74" name="Rectangle 73"/>
          <p:cNvSpPr/>
          <p:nvPr/>
        </p:nvSpPr>
        <p:spPr>
          <a:xfrm>
            <a:off x="9235440" y="2167128"/>
            <a:ext cx="1005840" cy="269748"/>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281160" y="2194560"/>
            <a:ext cx="932688" cy="219456"/>
          </a:xfrm>
          <a:prstGeom prst="rect">
            <a:avLst/>
          </a:prstGeom>
          <a:noFill/>
        </p:spPr>
        <p:txBody>
          <a:bodyPr wrap="square">
            <a:spAutoFit/>
          </a:bodyPr>
          <a:lstStyle/>
          <a:p>
            <a:pPr algn="ctr"/>
            <a:r>
              <a:rPr sz="850" b="1" i="0">
                <a:solidFill>
                  <a:srgbClr val="27AE60"/>
                </a:solidFill>
              </a:rPr>
              <a:t>#2</a:t>
            </a:r>
          </a:p>
        </p:txBody>
      </p:sp>
      <p:sp>
        <p:nvSpPr>
          <p:cNvPr id="76" name="Rectangle 75"/>
          <p:cNvSpPr/>
          <p:nvPr/>
        </p:nvSpPr>
        <p:spPr>
          <a:xfrm>
            <a:off x="274320" y="2441448"/>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38328" y="2468879"/>
            <a:ext cx="2194560" cy="233172"/>
          </a:xfrm>
          <a:prstGeom prst="rect">
            <a:avLst/>
          </a:prstGeom>
          <a:noFill/>
        </p:spPr>
        <p:txBody>
          <a:bodyPr wrap="square">
            <a:spAutoFit/>
          </a:bodyPr>
          <a:lstStyle/>
          <a:p>
            <a:pPr algn="l"/>
            <a:r>
              <a:rPr sz="850" b="0" i="0">
                <a:solidFill>
                  <a:srgbClr val="1A1A2E"/>
                </a:solidFill>
              </a:rPr>
              <a:t>HR &amp; Workplace</a:t>
            </a:r>
          </a:p>
        </p:txBody>
      </p:sp>
      <p:sp>
        <p:nvSpPr>
          <p:cNvPr id="78" name="Rectangle 77"/>
          <p:cNvSpPr/>
          <p:nvPr/>
        </p:nvSpPr>
        <p:spPr>
          <a:xfrm>
            <a:off x="2560320" y="2441448"/>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624327" y="2468879"/>
            <a:ext cx="1737360" cy="233172"/>
          </a:xfrm>
          <a:prstGeom prst="rect">
            <a:avLst/>
          </a:prstGeom>
          <a:noFill/>
        </p:spPr>
        <p:txBody>
          <a:bodyPr wrap="square">
            <a:spAutoFit/>
          </a:bodyPr>
          <a:lstStyle/>
          <a:p>
            <a:pPr algn="ctr"/>
            <a:r>
              <a:rPr sz="850" b="0" i="0">
                <a:solidFill>
                  <a:srgbClr val="1A1A2E"/>
                </a:solidFill>
              </a:rPr>
              <a:t>Indeed</a:t>
            </a:r>
          </a:p>
        </p:txBody>
      </p:sp>
      <p:sp>
        <p:nvSpPr>
          <p:cNvPr id="80" name="Rectangle 79"/>
          <p:cNvSpPr/>
          <p:nvPr/>
        </p:nvSpPr>
        <p:spPr>
          <a:xfrm>
            <a:off x="4389120" y="244144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453128" y="2468879"/>
            <a:ext cx="914400" cy="233172"/>
          </a:xfrm>
          <a:prstGeom prst="rect">
            <a:avLst/>
          </a:prstGeom>
          <a:noFill/>
        </p:spPr>
        <p:txBody>
          <a:bodyPr wrap="square">
            <a:spAutoFit/>
          </a:bodyPr>
          <a:lstStyle/>
          <a:p>
            <a:pPr algn="ctr"/>
            <a:r>
              <a:rPr sz="850" b="0" i="0">
                <a:solidFill>
                  <a:srgbClr val="1A1A2E"/>
                </a:solidFill>
              </a:rPr>
              <a:t>10.4</a:t>
            </a:r>
          </a:p>
        </p:txBody>
      </p:sp>
      <p:sp>
        <p:nvSpPr>
          <p:cNvPr id="82" name="Rectangle 81"/>
          <p:cNvSpPr/>
          <p:nvPr/>
        </p:nvSpPr>
        <p:spPr>
          <a:xfrm>
            <a:off x="5394960" y="2441448"/>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458968" y="2468879"/>
            <a:ext cx="1828800" cy="233172"/>
          </a:xfrm>
          <a:prstGeom prst="rect">
            <a:avLst/>
          </a:prstGeom>
          <a:noFill/>
        </p:spPr>
        <p:txBody>
          <a:bodyPr wrap="square">
            <a:spAutoFit/>
          </a:bodyPr>
          <a:lstStyle/>
          <a:p>
            <a:pPr algn="ctr"/>
            <a:r>
              <a:rPr sz="850" b="0" i="0">
                <a:solidFill>
                  <a:srgbClr val="1A1A2E"/>
                </a:solidFill>
              </a:rPr>
              <a:t>Resume.io</a:t>
            </a:r>
          </a:p>
        </p:txBody>
      </p:sp>
      <p:sp>
        <p:nvSpPr>
          <p:cNvPr id="84" name="Rectangle 83"/>
          <p:cNvSpPr/>
          <p:nvPr/>
        </p:nvSpPr>
        <p:spPr>
          <a:xfrm>
            <a:off x="7315200" y="2441448"/>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79208" y="2468879"/>
            <a:ext cx="822960" cy="233172"/>
          </a:xfrm>
          <a:prstGeom prst="rect">
            <a:avLst/>
          </a:prstGeom>
          <a:noFill/>
        </p:spPr>
        <p:txBody>
          <a:bodyPr wrap="square">
            <a:spAutoFit/>
          </a:bodyPr>
          <a:lstStyle/>
          <a:p>
            <a:pPr algn="ctr"/>
            <a:r>
              <a:rPr sz="850" b="0" i="0">
                <a:solidFill>
                  <a:srgbClr val="1A1A2E"/>
                </a:solidFill>
              </a:rPr>
              <a:t>11.8</a:t>
            </a:r>
          </a:p>
        </p:txBody>
      </p:sp>
      <p:sp>
        <p:nvSpPr>
          <p:cNvPr id="86" name="Rectangle 85"/>
          <p:cNvSpPr/>
          <p:nvPr/>
        </p:nvSpPr>
        <p:spPr>
          <a:xfrm>
            <a:off x="8229600" y="244144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293608" y="2468879"/>
            <a:ext cx="914400" cy="233172"/>
          </a:xfrm>
          <a:prstGeom prst="rect">
            <a:avLst/>
          </a:prstGeom>
          <a:noFill/>
        </p:spPr>
        <p:txBody>
          <a:bodyPr wrap="square">
            <a:spAutoFit/>
          </a:bodyPr>
          <a:lstStyle/>
          <a:p>
            <a:pPr algn="ctr"/>
            <a:r>
              <a:rPr sz="850" b="0" i="0">
                <a:solidFill>
                  <a:srgbClr val="1A1A2E"/>
                </a:solidFill>
              </a:rPr>
              <a:t>13.1</a:t>
            </a:r>
          </a:p>
        </p:txBody>
      </p:sp>
      <p:sp>
        <p:nvSpPr>
          <p:cNvPr id="88" name="Rectangle 87"/>
          <p:cNvSpPr/>
          <p:nvPr/>
        </p:nvSpPr>
        <p:spPr>
          <a:xfrm>
            <a:off x="9235440" y="244144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99448" y="2468879"/>
            <a:ext cx="914400" cy="233172"/>
          </a:xfrm>
          <a:prstGeom prst="rect">
            <a:avLst/>
          </a:prstGeom>
          <a:noFill/>
        </p:spPr>
        <p:txBody>
          <a:bodyPr wrap="square">
            <a:spAutoFit/>
          </a:bodyPr>
          <a:lstStyle/>
          <a:p>
            <a:pPr algn="ctr"/>
            <a:r>
              <a:rPr sz="850" b="0" i="0">
                <a:solidFill>
                  <a:srgbClr val="1A1A2E"/>
                </a:solidFill>
              </a:rPr>
              <a:t>#3</a:t>
            </a:r>
          </a:p>
        </p:txBody>
      </p:sp>
      <p:sp>
        <p:nvSpPr>
          <p:cNvPr id="90" name="Rectangle 89"/>
          <p:cNvSpPr/>
          <p:nvPr/>
        </p:nvSpPr>
        <p:spPr>
          <a:xfrm>
            <a:off x="10241280" y="2441448"/>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305288" y="2468879"/>
            <a:ext cx="640080" cy="233172"/>
          </a:xfrm>
          <a:prstGeom prst="rect">
            <a:avLst/>
          </a:prstGeom>
          <a:noFill/>
        </p:spPr>
        <p:txBody>
          <a:bodyPr wrap="square">
            <a:spAutoFit/>
          </a:bodyPr>
          <a:lstStyle/>
          <a:p>
            <a:pPr algn="ctr"/>
            <a:r>
              <a:rPr sz="850" b="0" i="0">
                <a:solidFill>
                  <a:srgbClr val="1A1A2E"/>
                </a:solidFill>
              </a:rPr>
              <a:t>+2.8</a:t>
            </a:r>
          </a:p>
        </p:txBody>
      </p:sp>
      <p:sp>
        <p:nvSpPr>
          <p:cNvPr id="92" name="Rectangle 91"/>
          <p:cNvSpPr/>
          <p:nvPr/>
        </p:nvSpPr>
        <p:spPr>
          <a:xfrm>
            <a:off x="9235440" y="244144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81160" y="2468880"/>
            <a:ext cx="932688" cy="219456"/>
          </a:xfrm>
          <a:prstGeom prst="rect">
            <a:avLst/>
          </a:prstGeom>
          <a:noFill/>
        </p:spPr>
        <p:txBody>
          <a:bodyPr wrap="square">
            <a:spAutoFit/>
          </a:bodyPr>
          <a:lstStyle/>
          <a:p>
            <a:pPr algn="ctr"/>
            <a:r>
              <a:rPr sz="850" b="1" i="0">
                <a:solidFill>
                  <a:srgbClr val="F39C12"/>
                </a:solidFill>
              </a:rPr>
              <a:t>#3</a:t>
            </a:r>
          </a:p>
        </p:txBody>
      </p:sp>
      <p:sp>
        <p:nvSpPr>
          <p:cNvPr id="94" name="Rectangle 93"/>
          <p:cNvSpPr/>
          <p:nvPr/>
        </p:nvSpPr>
        <p:spPr>
          <a:xfrm>
            <a:off x="274320" y="271576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38328" y="2743199"/>
            <a:ext cx="2194560" cy="233172"/>
          </a:xfrm>
          <a:prstGeom prst="rect">
            <a:avLst/>
          </a:prstGeom>
          <a:noFill/>
        </p:spPr>
        <p:txBody>
          <a:bodyPr wrap="square">
            <a:spAutoFit/>
          </a:bodyPr>
          <a:lstStyle/>
          <a:p>
            <a:pPr algn="l"/>
            <a:r>
              <a:rPr sz="850" b="0" i="0">
                <a:solidFill>
                  <a:srgbClr val="1A1A2E"/>
                </a:solidFill>
              </a:rPr>
              <a:t>Salary &amp; Comp</a:t>
            </a:r>
          </a:p>
        </p:txBody>
      </p:sp>
      <p:sp>
        <p:nvSpPr>
          <p:cNvPr id="96" name="Rectangle 95"/>
          <p:cNvSpPr/>
          <p:nvPr/>
        </p:nvSpPr>
        <p:spPr>
          <a:xfrm>
            <a:off x="2560320" y="271576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24327" y="2743199"/>
            <a:ext cx="1737360" cy="233172"/>
          </a:xfrm>
          <a:prstGeom prst="rect">
            <a:avLst/>
          </a:prstGeom>
          <a:noFill/>
        </p:spPr>
        <p:txBody>
          <a:bodyPr wrap="square">
            <a:spAutoFit/>
          </a:bodyPr>
          <a:lstStyle/>
          <a:p>
            <a:pPr algn="ctr"/>
            <a:r>
              <a:rPr sz="850" b="0" i="0">
                <a:solidFill>
                  <a:srgbClr val="1A1A2E"/>
                </a:solidFill>
              </a:rPr>
              <a:t>Indeed</a:t>
            </a:r>
          </a:p>
        </p:txBody>
      </p:sp>
      <p:sp>
        <p:nvSpPr>
          <p:cNvPr id="98" name="Rectangle 97"/>
          <p:cNvSpPr/>
          <p:nvPr/>
        </p:nvSpPr>
        <p:spPr>
          <a:xfrm>
            <a:off x="4389120" y="271576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53128" y="2743199"/>
            <a:ext cx="914400" cy="233172"/>
          </a:xfrm>
          <a:prstGeom prst="rect">
            <a:avLst/>
          </a:prstGeom>
          <a:noFill/>
        </p:spPr>
        <p:txBody>
          <a:bodyPr wrap="square">
            <a:spAutoFit/>
          </a:bodyPr>
          <a:lstStyle/>
          <a:p>
            <a:pPr algn="ctr"/>
            <a:r>
              <a:rPr sz="850" b="0" i="0">
                <a:solidFill>
                  <a:srgbClr val="1A1A2E"/>
                </a:solidFill>
              </a:rPr>
              <a:t>12.7</a:t>
            </a:r>
          </a:p>
        </p:txBody>
      </p:sp>
      <p:sp>
        <p:nvSpPr>
          <p:cNvPr id="100" name="Rectangle 99"/>
          <p:cNvSpPr/>
          <p:nvPr/>
        </p:nvSpPr>
        <p:spPr>
          <a:xfrm>
            <a:off x="5394960" y="271576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458968" y="2743199"/>
            <a:ext cx="1828800" cy="233172"/>
          </a:xfrm>
          <a:prstGeom prst="rect">
            <a:avLst/>
          </a:prstGeom>
          <a:noFill/>
        </p:spPr>
        <p:txBody>
          <a:bodyPr wrap="square">
            <a:spAutoFit/>
          </a:bodyPr>
          <a:lstStyle/>
          <a:p>
            <a:pPr algn="ctr"/>
            <a:r>
              <a:rPr sz="850" b="0" i="0">
                <a:solidFill>
                  <a:srgbClr val="1A1A2E"/>
                </a:solidFill>
              </a:rPr>
              <a:t>Finalroundai</a:t>
            </a:r>
          </a:p>
        </p:txBody>
      </p:sp>
      <p:sp>
        <p:nvSpPr>
          <p:cNvPr id="102" name="Rectangle 101"/>
          <p:cNvSpPr/>
          <p:nvPr/>
        </p:nvSpPr>
        <p:spPr>
          <a:xfrm>
            <a:off x="7315200" y="271576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379208" y="2743199"/>
            <a:ext cx="822960" cy="233172"/>
          </a:xfrm>
          <a:prstGeom prst="rect">
            <a:avLst/>
          </a:prstGeom>
          <a:noFill/>
        </p:spPr>
        <p:txBody>
          <a:bodyPr wrap="square">
            <a:spAutoFit/>
          </a:bodyPr>
          <a:lstStyle/>
          <a:p>
            <a:pPr algn="ctr"/>
            <a:r>
              <a:rPr sz="850" b="0" i="0">
                <a:solidFill>
                  <a:srgbClr val="1A1A2E"/>
                </a:solidFill>
              </a:rPr>
              <a:t>14.9</a:t>
            </a:r>
          </a:p>
        </p:txBody>
      </p:sp>
      <p:sp>
        <p:nvSpPr>
          <p:cNvPr id="104" name="Rectangle 103"/>
          <p:cNvSpPr/>
          <p:nvPr/>
        </p:nvSpPr>
        <p:spPr>
          <a:xfrm>
            <a:off x="8229600" y="271576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293608" y="2743199"/>
            <a:ext cx="914400" cy="233172"/>
          </a:xfrm>
          <a:prstGeom prst="rect">
            <a:avLst/>
          </a:prstGeom>
          <a:noFill/>
        </p:spPr>
        <p:txBody>
          <a:bodyPr wrap="square">
            <a:spAutoFit/>
          </a:bodyPr>
          <a:lstStyle/>
          <a:p>
            <a:pPr algn="ctr"/>
            <a:r>
              <a:rPr sz="850" b="0" i="0">
                <a:solidFill>
                  <a:srgbClr val="1A1A2E"/>
                </a:solidFill>
              </a:rPr>
              <a:t>16.3</a:t>
            </a:r>
          </a:p>
        </p:txBody>
      </p:sp>
      <p:sp>
        <p:nvSpPr>
          <p:cNvPr id="106" name="Rectangle 105"/>
          <p:cNvSpPr/>
          <p:nvPr/>
        </p:nvSpPr>
        <p:spPr>
          <a:xfrm>
            <a:off x="9235440" y="271576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299448" y="2743199"/>
            <a:ext cx="914400" cy="233172"/>
          </a:xfrm>
          <a:prstGeom prst="rect">
            <a:avLst/>
          </a:prstGeom>
          <a:noFill/>
        </p:spPr>
        <p:txBody>
          <a:bodyPr wrap="square">
            <a:spAutoFit/>
          </a:bodyPr>
          <a:lstStyle/>
          <a:p>
            <a:pPr algn="ctr"/>
            <a:r>
              <a:rPr sz="850" b="0" i="0">
                <a:solidFill>
                  <a:srgbClr val="1A1A2E"/>
                </a:solidFill>
              </a:rPr>
              <a:t>#3</a:t>
            </a:r>
          </a:p>
        </p:txBody>
      </p:sp>
      <p:sp>
        <p:nvSpPr>
          <p:cNvPr id="108" name="Rectangle 107"/>
          <p:cNvSpPr/>
          <p:nvPr/>
        </p:nvSpPr>
        <p:spPr>
          <a:xfrm>
            <a:off x="10241280" y="271576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305288" y="2743199"/>
            <a:ext cx="640080" cy="233172"/>
          </a:xfrm>
          <a:prstGeom prst="rect">
            <a:avLst/>
          </a:prstGeom>
          <a:noFill/>
        </p:spPr>
        <p:txBody>
          <a:bodyPr wrap="square">
            <a:spAutoFit/>
          </a:bodyPr>
          <a:lstStyle/>
          <a:p>
            <a:pPr algn="ctr"/>
            <a:r>
              <a:rPr sz="850" b="0" i="0">
                <a:solidFill>
                  <a:srgbClr val="1A1A2E"/>
                </a:solidFill>
              </a:rPr>
              <a:t>+3.6</a:t>
            </a:r>
          </a:p>
        </p:txBody>
      </p:sp>
      <p:sp>
        <p:nvSpPr>
          <p:cNvPr id="110" name="Rectangle 109"/>
          <p:cNvSpPr/>
          <p:nvPr/>
        </p:nvSpPr>
        <p:spPr>
          <a:xfrm>
            <a:off x="9235440" y="271576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81160" y="2743200"/>
            <a:ext cx="932688" cy="219456"/>
          </a:xfrm>
          <a:prstGeom prst="rect">
            <a:avLst/>
          </a:prstGeom>
          <a:noFill/>
        </p:spPr>
        <p:txBody>
          <a:bodyPr wrap="square">
            <a:spAutoFit/>
          </a:bodyPr>
          <a:lstStyle/>
          <a:p>
            <a:pPr algn="ctr"/>
            <a:r>
              <a:rPr sz="850" b="1" i="0">
                <a:solidFill>
                  <a:srgbClr val="F39C12"/>
                </a:solidFill>
              </a:rPr>
              <a:t>#3</a:t>
            </a:r>
          </a:p>
        </p:txBody>
      </p:sp>
      <p:sp>
        <p:nvSpPr>
          <p:cNvPr id="112" name="Rectangle 111"/>
          <p:cNvSpPr/>
          <p:nvPr/>
        </p:nvSpPr>
        <p:spPr>
          <a:xfrm>
            <a:off x="274320" y="2990088"/>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38328" y="3017520"/>
            <a:ext cx="2194560" cy="233172"/>
          </a:xfrm>
          <a:prstGeom prst="rect">
            <a:avLst/>
          </a:prstGeom>
          <a:noFill/>
        </p:spPr>
        <p:txBody>
          <a:bodyPr wrap="square">
            <a:spAutoFit/>
          </a:bodyPr>
          <a:lstStyle/>
          <a:p>
            <a:pPr algn="l"/>
            <a:r>
              <a:rPr sz="850" b="0" i="0">
                <a:solidFill>
                  <a:srgbClr val="1A1A2E"/>
                </a:solidFill>
              </a:rPr>
              <a:t>Career Growth</a:t>
            </a:r>
          </a:p>
        </p:txBody>
      </p:sp>
      <p:sp>
        <p:nvSpPr>
          <p:cNvPr id="114" name="Rectangle 113"/>
          <p:cNvSpPr/>
          <p:nvPr/>
        </p:nvSpPr>
        <p:spPr>
          <a:xfrm>
            <a:off x="2560320" y="2990088"/>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624327" y="3017520"/>
            <a:ext cx="1737360" cy="233172"/>
          </a:xfrm>
          <a:prstGeom prst="rect">
            <a:avLst/>
          </a:prstGeom>
          <a:noFill/>
        </p:spPr>
        <p:txBody>
          <a:bodyPr wrap="square">
            <a:spAutoFit/>
          </a:bodyPr>
          <a:lstStyle/>
          <a:p>
            <a:pPr algn="ctr"/>
            <a:r>
              <a:rPr sz="850" b="0" i="0">
                <a:solidFill>
                  <a:srgbClr val="1A1A2E"/>
                </a:solidFill>
              </a:rPr>
              <a:t>Indeed</a:t>
            </a:r>
          </a:p>
        </p:txBody>
      </p:sp>
      <p:sp>
        <p:nvSpPr>
          <p:cNvPr id="116" name="Rectangle 115"/>
          <p:cNvSpPr/>
          <p:nvPr/>
        </p:nvSpPr>
        <p:spPr>
          <a:xfrm>
            <a:off x="4389120" y="299008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53128" y="3017520"/>
            <a:ext cx="914400" cy="233172"/>
          </a:xfrm>
          <a:prstGeom prst="rect">
            <a:avLst/>
          </a:prstGeom>
          <a:noFill/>
        </p:spPr>
        <p:txBody>
          <a:bodyPr wrap="square">
            <a:spAutoFit/>
          </a:bodyPr>
          <a:lstStyle/>
          <a:p>
            <a:pPr algn="ctr"/>
            <a:r>
              <a:rPr sz="850" b="0" i="0">
                <a:solidFill>
                  <a:srgbClr val="1A1A2E"/>
                </a:solidFill>
              </a:rPr>
              <a:t>11.6</a:t>
            </a:r>
          </a:p>
        </p:txBody>
      </p:sp>
      <p:sp>
        <p:nvSpPr>
          <p:cNvPr id="118" name="Rectangle 117"/>
          <p:cNvSpPr/>
          <p:nvPr/>
        </p:nvSpPr>
        <p:spPr>
          <a:xfrm>
            <a:off x="5394960" y="2990088"/>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458968" y="3017520"/>
            <a:ext cx="1828800" cy="233172"/>
          </a:xfrm>
          <a:prstGeom prst="rect">
            <a:avLst/>
          </a:prstGeom>
          <a:noFill/>
        </p:spPr>
        <p:txBody>
          <a:bodyPr wrap="square">
            <a:spAutoFit/>
          </a:bodyPr>
          <a:lstStyle/>
          <a:p>
            <a:pPr algn="ctr"/>
            <a:r>
              <a:rPr sz="850" b="0" i="0">
                <a:solidFill>
                  <a:srgbClr val="1A1A2E"/>
                </a:solidFill>
              </a:rPr>
              <a:t>Novoresume</a:t>
            </a:r>
          </a:p>
        </p:txBody>
      </p:sp>
      <p:sp>
        <p:nvSpPr>
          <p:cNvPr id="120" name="Rectangle 119"/>
          <p:cNvSpPr/>
          <p:nvPr/>
        </p:nvSpPr>
        <p:spPr>
          <a:xfrm>
            <a:off x="7315200" y="2990088"/>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379208" y="3017520"/>
            <a:ext cx="822960" cy="233172"/>
          </a:xfrm>
          <a:prstGeom prst="rect">
            <a:avLst/>
          </a:prstGeom>
          <a:noFill/>
        </p:spPr>
        <p:txBody>
          <a:bodyPr wrap="square">
            <a:spAutoFit/>
          </a:bodyPr>
          <a:lstStyle/>
          <a:p>
            <a:pPr algn="ctr"/>
            <a:r>
              <a:rPr sz="850" b="0" i="0">
                <a:solidFill>
                  <a:srgbClr val="1A1A2E"/>
                </a:solidFill>
              </a:rPr>
              <a:t>17.3</a:t>
            </a:r>
          </a:p>
        </p:txBody>
      </p:sp>
      <p:sp>
        <p:nvSpPr>
          <p:cNvPr id="122" name="Rectangle 121"/>
          <p:cNvSpPr/>
          <p:nvPr/>
        </p:nvSpPr>
        <p:spPr>
          <a:xfrm>
            <a:off x="8229600" y="299008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293608" y="3017520"/>
            <a:ext cx="914400" cy="233172"/>
          </a:xfrm>
          <a:prstGeom prst="rect">
            <a:avLst/>
          </a:prstGeom>
          <a:noFill/>
        </p:spPr>
        <p:txBody>
          <a:bodyPr wrap="square">
            <a:spAutoFit/>
          </a:bodyPr>
          <a:lstStyle/>
          <a:p>
            <a:pPr algn="ctr"/>
            <a:r>
              <a:rPr sz="850" b="0" i="0">
                <a:solidFill>
                  <a:srgbClr val="1A1A2E"/>
                </a:solidFill>
              </a:rPr>
              <a:t>17.3</a:t>
            </a:r>
          </a:p>
        </p:txBody>
      </p:sp>
      <p:sp>
        <p:nvSpPr>
          <p:cNvPr id="124" name="Rectangle 123"/>
          <p:cNvSpPr/>
          <p:nvPr/>
        </p:nvSpPr>
        <p:spPr>
          <a:xfrm>
            <a:off x="9235440" y="299008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299448" y="3017520"/>
            <a:ext cx="914400" cy="233172"/>
          </a:xfrm>
          <a:prstGeom prst="rect">
            <a:avLst/>
          </a:prstGeom>
          <a:noFill/>
        </p:spPr>
        <p:txBody>
          <a:bodyPr wrap="square">
            <a:spAutoFit/>
          </a:bodyPr>
          <a:lstStyle/>
          <a:p>
            <a:pPr algn="ctr"/>
            <a:r>
              <a:rPr sz="850" b="0" i="0">
                <a:solidFill>
                  <a:srgbClr val="1A1A2E"/>
                </a:solidFill>
              </a:rPr>
              <a:t>#3</a:t>
            </a:r>
          </a:p>
        </p:txBody>
      </p:sp>
      <p:sp>
        <p:nvSpPr>
          <p:cNvPr id="126" name="Rectangle 125"/>
          <p:cNvSpPr/>
          <p:nvPr/>
        </p:nvSpPr>
        <p:spPr>
          <a:xfrm>
            <a:off x="10241280" y="2990088"/>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305288" y="3017520"/>
            <a:ext cx="640080" cy="233172"/>
          </a:xfrm>
          <a:prstGeom prst="rect">
            <a:avLst/>
          </a:prstGeom>
          <a:noFill/>
        </p:spPr>
        <p:txBody>
          <a:bodyPr wrap="square">
            <a:spAutoFit/>
          </a:bodyPr>
          <a:lstStyle/>
          <a:p>
            <a:pPr algn="ctr"/>
            <a:r>
              <a:rPr sz="850" b="0" i="0">
                <a:solidFill>
                  <a:srgbClr val="1A1A2E"/>
                </a:solidFill>
              </a:rPr>
              <a:t>+5.7</a:t>
            </a:r>
          </a:p>
        </p:txBody>
      </p:sp>
      <p:sp>
        <p:nvSpPr>
          <p:cNvPr id="128" name="Rectangle 127"/>
          <p:cNvSpPr/>
          <p:nvPr/>
        </p:nvSpPr>
        <p:spPr>
          <a:xfrm>
            <a:off x="9235440" y="299008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281160" y="3017520"/>
            <a:ext cx="932688" cy="219456"/>
          </a:xfrm>
          <a:prstGeom prst="rect">
            <a:avLst/>
          </a:prstGeom>
          <a:noFill/>
        </p:spPr>
        <p:txBody>
          <a:bodyPr wrap="square">
            <a:spAutoFit/>
          </a:bodyPr>
          <a:lstStyle/>
          <a:p>
            <a:pPr algn="ctr"/>
            <a:r>
              <a:rPr sz="850" b="1" i="0">
                <a:solidFill>
                  <a:srgbClr val="F39C12"/>
                </a:solidFill>
              </a:rPr>
              <a:t>#3</a:t>
            </a:r>
          </a:p>
        </p:txBody>
      </p:sp>
      <p:sp>
        <p:nvSpPr>
          <p:cNvPr id="130" name="Rectangle 129"/>
          <p:cNvSpPr/>
          <p:nvPr/>
        </p:nvSpPr>
        <p:spPr>
          <a:xfrm>
            <a:off x="274320" y="326440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38328" y="3291839"/>
            <a:ext cx="2194560" cy="233172"/>
          </a:xfrm>
          <a:prstGeom prst="rect">
            <a:avLst/>
          </a:prstGeom>
          <a:noFill/>
        </p:spPr>
        <p:txBody>
          <a:bodyPr wrap="square">
            <a:spAutoFit/>
          </a:bodyPr>
          <a:lstStyle/>
          <a:p>
            <a:pPr algn="l"/>
            <a:r>
              <a:rPr sz="850" b="0" i="0">
                <a:solidFill>
                  <a:srgbClr val="1A1A2E"/>
                </a:solidFill>
              </a:rPr>
              <a:t>Marketing &amp; Digital</a:t>
            </a:r>
          </a:p>
        </p:txBody>
      </p:sp>
      <p:sp>
        <p:nvSpPr>
          <p:cNvPr id="132" name="Rectangle 131"/>
          <p:cNvSpPr/>
          <p:nvPr/>
        </p:nvSpPr>
        <p:spPr>
          <a:xfrm>
            <a:off x="2560320" y="326440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624327" y="3291839"/>
            <a:ext cx="1737360" cy="233172"/>
          </a:xfrm>
          <a:prstGeom prst="rect">
            <a:avLst/>
          </a:prstGeom>
          <a:noFill/>
        </p:spPr>
        <p:txBody>
          <a:bodyPr wrap="square">
            <a:spAutoFit/>
          </a:bodyPr>
          <a:lstStyle/>
          <a:p>
            <a:pPr algn="ctr"/>
            <a:r>
              <a:rPr sz="850" b="0" i="0">
                <a:solidFill>
                  <a:srgbClr val="1A1A2E"/>
                </a:solidFill>
              </a:rPr>
              <a:t>Indeed</a:t>
            </a:r>
          </a:p>
        </p:txBody>
      </p:sp>
      <p:sp>
        <p:nvSpPr>
          <p:cNvPr id="134" name="Rectangle 133"/>
          <p:cNvSpPr/>
          <p:nvPr/>
        </p:nvSpPr>
        <p:spPr>
          <a:xfrm>
            <a:off x="4389120" y="326440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453128" y="3291839"/>
            <a:ext cx="914400" cy="233172"/>
          </a:xfrm>
          <a:prstGeom prst="rect">
            <a:avLst/>
          </a:prstGeom>
          <a:noFill/>
        </p:spPr>
        <p:txBody>
          <a:bodyPr wrap="square">
            <a:spAutoFit/>
          </a:bodyPr>
          <a:lstStyle/>
          <a:p>
            <a:pPr algn="ctr"/>
            <a:r>
              <a:rPr sz="850" b="0" i="0">
                <a:solidFill>
                  <a:srgbClr val="1A1A2E"/>
                </a:solidFill>
              </a:rPr>
              <a:t>12.3</a:t>
            </a:r>
          </a:p>
        </p:txBody>
      </p:sp>
      <p:sp>
        <p:nvSpPr>
          <p:cNvPr id="136" name="Rectangle 135"/>
          <p:cNvSpPr/>
          <p:nvPr/>
        </p:nvSpPr>
        <p:spPr>
          <a:xfrm>
            <a:off x="5394960" y="326440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458968" y="3291839"/>
            <a:ext cx="1828800" cy="233172"/>
          </a:xfrm>
          <a:prstGeom prst="rect">
            <a:avLst/>
          </a:prstGeom>
          <a:noFill/>
        </p:spPr>
        <p:txBody>
          <a:bodyPr wrap="square">
            <a:spAutoFit/>
          </a:bodyPr>
          <a:lstStyle/>
          <a:p>
            <a:pPr algn="ctr"/>
            <a:r>
              <a:rPr sz="850" b="0" i="0">
                <a:solidFill>
                  <a:srgbClr val="1A1A2E"/>
                </a:solidFill>
              </a:rPr>
              <a:t>Resume.io</a:t>
            </a:r>
          </a:p>
        </p:txBody>
      </p:sp>
      <p:sp>
        <p:nvSpPr>
          <p:cNvPr id="138" name="Rectangle 137"/>
          <p:cNvSpPr/>
          <p:nvPr/>
        </p:nvSpPr>
        <p:spPr>
          <a:xfrm>
            <a:off x="7315200" y="326440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379208" y="3291839"/>
            <a:ext cx="822960" cy="233172"/>
          </a:xfrm>
          <a:prstGeom prst="rect">
            <a:avLst/>
          </a:prstGeom>
          <a:noFill/>
        </p:spPr>
        <p:txBody>
          <a:bodyPr wrap="square">
            <a:spAutoFit/>
          </a:bodyPr>
          <a:lstStyle/>
          <a:p>
            <a:pPr algn="ctr"/>
            <a:r>
              <a:rPr sz="850" b="0" i="0">
                <a:solidFill>
                  <a:srgbClr val="1A1A2E"/>
                </a:solidFill>
              </a:rPr>
              <a:t>15.0</a:t>
            </a:r>
          </a:p>
        </p:txBody>
      </p:sp>
      <p:sp>
        <p:nvSpPr>
          <p:cNvPr id="140" name="Rectangle 139"/>
          <p:cNvSpPr/>
          <p:nvPr/>
        </p:nvSpPr>
        <p:spPr>
          <a:xfrm>
            <a:off x="8229600" y="326440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8293608" y="3291839"/>
            <a:ext cx="914400" cy="233172"/>
          </a:xfrm>
          <a:prstGeom prst="rect">
            <a:avLst/>
          </a:prstGeom>
          <a:noFill/>
        </p:spPr>
        <p:txBody>
          <a:bodyPr wrap="square">
            <a:spAutoFit/>
          </a:bodyPr>
          <a:lstStyle/>
          <a:p>
            <a:pPr algn="ctr"/>
            <a:r>
              <a:rPr sz="850" b="0" i="0">
                <a:solidFill>
                  <a:srgbClr val="1A1A2E"/>
                </a:solidFill>
              </a:rPr>
              <a:t>17.4</a:t>
            </a:r>
          </a:p>
        </p:txBody>
      </p:sp>
      <p:sp>
        <p:nvSpPr>
          <p:cNvPr id="142" name="Rectangle 141"/>
          <p:cNvSpPr/>
          <p:nvPr/>
        </p:nvSpPr>
        <p:spPr>
          <a:xfrm>
            <a:off x="9235440" y="326440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299448" y="3291839"/>
            <a:ext cx="914400" cy="233172"/>
          </a:xfrm>
          <a:prstGeom prst="rect">
            <a:avLst/>
          </a:prstGeom>
          <a:noFill/>
        </p:spPr>
        <p:txBody>
          <a:bodyPr wrap="square">
            <a:spAutoFit/>
          </a:bodyPr>
          <a:lstStyle/>
          <a:p>
            <a:pPr algn="ctr"/>
            <a:r>
              <a:rPr sz="850" b="0" i="0">
                <a:solidFill>
                  <a:srgbClr val="1A1A2E"/>
                </a:solidFill>
              </a:rPr>
              <a:t>#3</a:t>
            </a:r>
          </a:p>
        </p:txBody>
      </p:sp>
      <p:sp>
        <p:nvSpPr>
          <p:cNvPr id="144" name="Rectangle 143"/>
          <p:cNvSpPr/>
          <p:nvPr/>
        </p:nvSpPr>
        <p:spPr>
          <a:xfrm>
            <a:off x="10241280" y="326440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0305288" y="3291839"/>
            <a:ext cx="640080" cy="233172"/>
          </a:xfrm>
          <a:prstGeom prst="rect">
            <a:avLst/>
          </a:prstGeom>
          <a:noFill/>
        </p:spPr>
        <p:txBody>
          <a:bodyPr wrap="square">
            <a:spAutoFit/>
          </a:bodyPr>
          <a:lstStyle/>
          <a:p>
            <a:pPr algn="ctr"/>
            <a:r>
              <a:rPr sz="850" b="0" i="0">
                <a:solidFill>
                  <a:srgbClr val="1A1A2E"/>
                </a:solidFill>
              </a:rPr>
              <a:t>+5.1</a:t>
            </a:r>
          </a:p>
        </p:txBody>
      </p:sp>
      <p:sp>
        <p:nvSpPr>
          <p:cNvPr id="146" name="Rectangle 145"/>
          <p:cNvSpPr/>
          <p:nvPr/>
        </p:nvSpPr>
        <p:spPr>
          <a:xfrm>
            <a:off x="9235440" y="326440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281160" y="3291839"/>
            <a:ext cx="932688" cy="219456"/>
          </a:xfrm>
          <a:prstGeom prst="rect">
            <a:avLst/>
          </a:prstGeom>
          <a:noFill/>
        </p:spPr>
        <p:txBody>
          <a:bodyPr wrap="square">
            <a:spAutoFit/>
          </a:bodyPr>
          <a:lstStyle/>
          <a:p>
            <a:pPr algn="ctr"/>
            <a:r>
              <a:rPr sz="850" b="1" i="0">
                <a:solidFill>
                  <a:srgbClr val="F39C12"/>
                </a:solidFill>
              </a:rPr>
              <a:t>#3</a:t>
            </a:r>
          </a:p>
        </p:txBody>
      </p:sp>
      <p:sp>
        <p:nvSpPr>
          <p:cNvPr id="148" name="Rectangle 147"/>
          <p:cNvSpPr/>
          <p:nvPr/>
        </p:nvSpPr>
        <p:spPr>
          <a:xfrm>
            <a:off x="274320" y="3538728"/>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338328" y="3566160"/>
            <a:ext cx="2194560" cy="233172"/>
          </a:xfrm>
          <a:prstGeom prst="rect">
            <a:avLst/>
          </a:prstGeom>
          <a:noFill/>
        </p:spPr>
        <p:txBody>
          <a:bodyPr wrap="square">
            <a:spAutoFit/>
          </a:bodyPr>
          <a:lstStyle/>
          <a:p>
            <a:pPr algn="l"/>
            <a:r>
              <a:rPr sz="850" b="0" i="0">
                <a:solidFill>
                  <a:srgbClr val="1A1A2E"/>
                </a:solidFill>
              </a:rPr>
              <a:t>Skills</a:t>
            </a:r>
          </a:p>
        </p:txBody>
      </p:sp>
      <p:sp>
        <p:nvSpPr>
          <p:cNvPr id="150" name="Rectangle 149"/>
          <p:cNvSpPr/>
          <p:nvPr/>
        </p:nvSpPr>
        <p:spPr>
          <a:xfrm>
            <a:off x="2560320" y="3538728"/>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624327" y="3566160"/>
            <a:ext cx="1737360" cy="233172"/>
          </a:xfrm>
          <a:prstGeom prst="rect">
            <a:avLst/>
          </a:prstGeom>
          <a:noFill/>
        </p:spPr>
        <p:txBody>
          <a:bodyPr wrap="square">
            <a:spAutoFit/>
          </a:bodyPr>
          <a:lstStyle/>
          <a:p>
            <a:pPr algn="ctr"/>
            <a:r>
              <a:rPr sz="850" b="0" i="0">
                <a:solidFill>
                  <a:srgbClr val="1A1A2E"/>
                </a:solidFill>
              </a:rPr>
              <a:t>Resume.io</a:t>
            </a:r>
          </a:p>
        </p:txBody>
      </p:sp>
      <p:sp>
        <p:nvSpPr>
          <p:cNvPr id="152" name="Rectangle 151"/>
          <p:cNvSpPr/>
          <p:nvPr/>
        </p:nvSpPr>
        <p:spPr>
          <a:xfrm>
            <a:off x="4389120" y="353872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453128" y="3566160"/>
            <a:ext cx="914400" cy="233172"/>
          </a:xfrm>
          <a:prstGeom prst="rect">
            <a:avLst/>
          </a:prstGeom>
          <a:noFill/>
        </p:spPr>
        <p:txBody>
          <a:bodyPr wrap="square">
            <a:spAutoFit/>
          </a:bodyPr>
          <a:lstStyle/>
          <a:p>
            <a:pPr algn="ctr"/>
            <a:r>
              <a:rPr sz="850" b="0" i="0">
                <a:solidFill>
                  <a:srgbClr val="1A1A2E"/>
                </a:solidFill>
              </a:rPr>
              <a:t>9.6</a:t>
            </a:r>
          </a:p>
        </p:txBody>
      </p:sp>
      <p:sp>
        <p:nvSpPr>
          <p:cNvPr id="154" name="Rectangle 153"/>
          <p:cNvSpPr/>
          <p:nvPr/>
        </p:nvSpPr>
        <p:spPr>
          <a:xfrm>
            <a:off x="5394960" y="3538728"/>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458968" y="3566160"/>
            <a:ext cx="1828800" cy="233172"/>
          </a:xfrm>
          <a:prstGeom prst="rect">
            <a:avLst/>
          </a:prstGeom>
          <a:noFill/>
        </p:spPr>
        <p:txBody>
          <a:bodyPr wrap="square">
            <a:spAutoFit/>
          </a:bodyPr>
          <a:lstStyle/>
          <a:p>
            <a:pPr algn="ctr"/>
            <a:r>
              <a:rPr sz="850" b="0" i="0">
                <a:solidFill>
                  <a:srgbClr val="1A1A2E"/>
                </a:solidFill>
              </a:rPr>
              <a:t>Indeed</a:t>
            </a:r>
          </a:p>
        </p:txBody>
      </p:sp>
      <p:sp>
        <p:nvSpPr>
          <p:cNvPr id="156" name="Rectangle 155"/>
          <p:cNvSpPr/>
          <p:nvPr/>
        </p:nvSpPr>
        <p:spPr>
          <a:xfrm>
            <a:off x="7315200" y="3538728"/>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379208" y="3566160"/>
            <a:ext cx="822960" cy="233172"/>
          </a:xfrm>
          <a:prstGeom prst="rect">
            <a:avLst/>
          </a:prstGeom>
          <a:noFill/>
        </p:spPr>
        <p:txBody>
          <a:bodyPr wrap="square">
            <a:spAutoFit/>
          </a:bodyPr>
          <a:lstStyle/>
          <a:p>
            <a:pPr algn="ctr"/>
            <a:r>
              <a:rPr sz="850" b="0" i="0">
                <a:solidFill>
                  <a:srgbClr val="1A1A2E"/>
                </a:solidFill>
              </a:rPr>
              <a:t>11.0</a:t>
            </a:r>
          </a:p>
        </p:txBody>
      </p:sp>
      <p:sp>
        <p:nvSpPr>
          <p:cNvPr id="158" name="Rectangle 157"/>
          <p:cNvSpPr/>
          <p:nvPr/>
        </p:nvSpPr>
        <p:spPr>
          <a:xfrm>
            <a:off x="8229600" y="353872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8293608" y="3566160"/>
            <a:ext cx="914400" cy="233172"/>
          </a:xfrm>
          <a:prstGeom prst="rect">
            <a:avLst/>
          </a:prstGeom>
          <a:noFill/>
        </p:spPr>
        <p:txBody>
          <a:bodyPr wrap="square">
            <a:spAutoFit/>
          </a:bodyPr>
          <a:lstStyle/>
          <a:p>
            <a:pPr algn="ctr"/>
            <a:r>
              <a:rPr sz="850" b="0" i="0">
                <a:solidFill>
                  <a:srgbClr val="1A1A2E"/>
                </a:solidFill>
              </a:rPr>
              <a:t>17.2</a:t>
            </a:r>
          </a:p>
        </p:txBody>
      </p:sp>
      <p:sp>
        <p:nvSpPr>
          <p:cNvPr id="160" name="Rectangle 159"/>
          <p:cNvSpPr/>
          <p:nvPr/>
        </p:nvSpPr>
        <p:spPr>
          <a:xfrm>
            <a:off x="9235440" y="353872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299448" y="3566160"/>
            <a:ext cx="914400" cy="233172"/>
          </a:xfrm>
          <a:prstGeom prst="rect">
            <a:avLst/>
          </a:prstGeom>
          <a:noFill/>
        </p:spPr>
        <p:txBody>
          <a:bodyPr wrap="square">
            <a:spAutoFit/>
          </a:bodyPr>
          <a:lstStyle/>
          <a:p>
            <a:pPr algn="ctr"/>
            <a:r>
              <a:rPr sz="850" b="0" i="0">
                <a:solidFill>
                  <a:srgbClr val="1A1A2E"/>
                </a:solidFill>
              </a:rPr>
              <a:t>#3</a:t>
            </a:r>
          </a:p>
        </p:txBody>
      </p:sp>
      <p:sp>
        <p:nvSpPr>
          <p:cNvPr id="162" name="Rectangle 161"/>
          <p:cNvSpPr/>
          <p:nvPr/>
        </p:nvSpPr>
        <p:spPr>
          <a:xfrm>
            <a:off x="10241280" y="3538728"/>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0305288" y="3566160"/>
            <a:ext cx="640080" cy="233172"/>
          </a:xfrm>
          <a:prstGeom prst="rect">
            <a:avLst/>
          </a:prstGeom>
          <a:noFill/>
        </p:spPr>
        <p:txBody>
          <a:bodyPr wrap="square">
            <a:spAutoFit/>
          </a:bodyPr>
          <a:lstStyle/>
          <a:p>
            <a:pPr algn="ctr"/>
            <a:r>
              <a:rPr sz="850" b="0" i="0">
                <a:solidFill>
                  <a:srgbClr val="1A1A2E"/>
                </a:solidFill>
              </a:rPr>
              <a:t>+7.6</a:t>
            </a:r>
          </a:p>
        </p:txBody>
      </p:sp>
      <p:sp>
        <p:nvSpPr>
          <p:cNvPr id="164" name="Rectangle 163"/>
          <p:cNvSpPr/>
          <p:nvPr/>
        </p:nvSpPr>
        <p:spPr>
          <a:xfrm>
            <a:off x="9235440" y="353872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281160" y="3566160"/>
            <a:ext cx="932688" cy="219456"/>
          </a:xfrm>
          <a:prstGeom prst="rect">
            <a:avLst/>
          </a:prstGeom>
          <a:noFill/>
        </p:spPr>
        <p:txBody>
          <a:bodyPr wrap="square">
            <a:spAutoFit/>
          </a:bodyPr>
          <a:lstStyle/>
          <a:p>
            <a:pPr algn="ctr"/>
            <a:r>
              <a:rPr sz="850" b="1" i="0">
                <a:solidFill>
                  <a:srgbClr val="F39C12"/>
                </a:solidFill>
              </a:rPr>
              <a:t>#3</a:t>
            </a:r>
          </a:p>
        </p:txBody>
      </p:sp>
      <p:sp>
        <p:nvSpPr>
          <p:cNvPr id="166" name="Rectangle 165"/>
          <p:cNvSpPr/>
          <p:nvPr/>
        </p:nvSpPr>
        <p:spPr>
          <a:xfrm>
            <a:off x="274320" y="381304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338328" y="3840480"/>
            <a:ext cx="2194560" cy="233172"/>
          </a:xfrm>
          <a:prstGeom prst="rect">
            <a:avLst/>
          </a:prstGeom>
          <a:noFill/>
        </p:spPr>
        <p:txBody>
          <a:bodyPr wrap="square">
            <a:spAutoFit/>
          </a:bodyPr>
          <a:lstStyle/>
          <a:p>
            <a:pPr algn="l"/>
            <a:r>
              <a:rPr sz="850" b="0" i="0">
                <a:solidFill>
                  <a:srgbClr val="1A1A2E"/>
                </a:solidFill>
              </a:rPr>
              <a:t>Definitions</a:t>
            </a:r>
          </a:p>
        </p:txBody>
      </p:sp>
      <p:sp>
        <p:nvSpPr>
          <p:cNvPr id="168" name="Rectangle 167"/>
          <p:cNvSpPr/>
          <p:nvPr/>
        </p:nvSpPr>
        <p:spPr>
          <a:xfrm>
            <a:off x="2560320" y="381304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624327" y="3840480"/>
            <a:ext cx="1737360" cy="233172"/>
          </a:xfrm>
          <a:prstGeom prst="rect">
            <a:avLst/>
          </a:prstGeom>
          <a:noFill/>
        </p:spPr>
        <p:txBody>
          <a:bodyPr wrap="square">
            <a:spAutoFit/>
          </a:bodyPr>
          <a:lstStyle/>
          <a:p>
            <a:pPr algn="ctr"/>
            <a:r>
              <a:rPr sz="850" b="0" i="0">
                <a:solidFill>
                  <a:srgbClr val="1A1A2E"/>
                </a:solidFill>
              </a:rPr>
              <a:t>Myperfectresume</a:t>
            </a:r>
          </a:p>
        </p:txBody>
      </p:sp>
      <p:sp>
        <p:nvSpPr>
          <p:cNvPr id="170" name="Rectangle 169"/>
          <p:cNvSpPr/>
          <p:nvPr/>
        </p:nvSpPr>
        <p:spPr>
          <a:xfrm>
            <a:off x="4389120" y="381304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453128" y="3840480"/>
            <a:ext cx="914400" cy="233172"/>
          </a:xfrm>
          <a:prstGeom prst="rect">
            <a:avLst/>
          </a:prstGeom>
          <a:noFill/>
        </p:spPr>
        <p:txBody>
          <a:bodyPr wrap="square">
            <a:spAutoFit/>
          </a:bodyPr>
          <a:lstStyle/>
          <a:p>
            <a:pPr algn="ctr"/>
            <a:r>
              <a:rPr sz="850" b="0" i="0">
                <a:solidFill>
                  <a:srgbClr val="1A1A2E"/>
                </a:solidFill>
              </a:rPr>
              <a:t>4.2</a:t>
            </a:r>
          </a:p>
        </p:txBody>
      </p:sp>
      <p:sp>
        <p:nvSpPr>
          <p:cNvPr id="172" name="Rectangle 171"/>
          <p:cNvSpPr/>
          <p:nvPr/>
        </p:nvSpPr>
        <p:spPr>
          <a:xfrm>
            <a:off x="5394960" y="381304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458968" y="3840480"/>
            <a:ext cx="1828800" cy="233172"/>
          </a:xfrm>
          <a:prstGeom prst="rect">
            <a:avLst/>
          </a:prstGeom>
          <a:noFill/>
        </p:spPr>
        <p:txBody>
          <a:bodyPr wrap="square">
            <a:spAutoFit/>
          </a:bodyPr>
          <a:lstStyle/>
          <a:p>
            <a:pPr algn="ctr"/>
            <a:r>
              <a:rPr sz="850" b="0" i="0">
                <a:solidFill>
                  <a:srgbClr val="1A1A2E"/>
                </a:solidFill>
              </a:rPr>
              <a:t>Indeed</a:t>
            </a:r>
          </a:p>
        </p:txBody>
      </p:sp>
      <p:sp>
        <p:nvSpPr>
          <p:cNvPr id="174" name="Rectangle 173"/>
          <p:cNvSpPr/>
          <p:nvPr/>
        </p:nvSpPr>
        <p:spPr>
          <a:xfrm>
            <a:off x="7315200" y="381304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379208" y="3840480"/>
            <a:ext cx="822960" cy="233172"/>
          </a:xfrm>
          <a:prstGeom prst="rect">
            <a:avLst/>
          </a:prstGeom>
          <a:noFill/>
        </p:spPr>
        <p:txBody>
          <a:bodyPr wrap="square">
            <a:spAutoFit/>
          </a:bodyPr>
          <a:lstStyle/>
          <a:p>
            <a:pPr algn="ctr"/>
            <a:r>
              <a:rPr sz="850" b="0" i="0">
                <a:solidFill>
                  <a:srgbClr val="1A1A2E"/>
                </a:solidFill>
              </a:rPr>
              <a:t>12.9</a:t>
            </a:r>
          </a:p>
        </p:txBody>
      </p:sp>
      <p:sp>
        <p:nvSpPr>
          <p:cNvPr id="176" name="Rectangle 175"/>
          <p:cNvSpPr/>
          <p:nvPr/>
        </p:nvSpPr>
        <p:spPr>
          <a:xfrm>
            <a:off x="8229600" y="381304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8293608" y="3840480"/>
            <a:ext cx="914400" cy="233172"/>
          </a:xfrm>
          <a:prstGeom prst="rect">
            <a:avLst/>
          </a:prstGeom>
          <a:noFill/>
        </p:spPr>
        <p:txBody>
          <a:bodyPr wrap="square">
            <a:spAutoFit/>
          </a:bodyPr>
          <a:lstStyle/>
          <a:p>
            <a:pPr algn="ctr"/>
            <a:r>
              <a:rPr sz="850" b="0" i="0">
                <a:solidFill>
                  <a:srgbClr val="1A1A2E"/>
                </a:solidFill>
              </a:rPr>
              <a:t>15.0</a:t>
            </a:r>
          </a:p>
        </p:txBody>
      </p:sp>
      <p:sp>
        <p:nvSpPr>
          <p:cNvPr id="178" name="Rectangle 177"/>
          <p:cNvSpPr/>
          <p:nvPr/>
        </p:nvSpPr>
        <p:spPr>
          <a:xfrm>
            <a:off x="9235440" y="381304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299448" y="3840480"/>
            <a:ext cx="914400" cy="233172"/>
          </a:xfrm>
          <a:prstGeom prst="rect">
            <a:avLst/>
          </a:prstGeom>
          <a:noFill/>
        </p:spPr>
        <p:txBody>
          <a:bodyPr wrap="square">
            <a:spAutoFit/>
          </a:bodyPr>
          <a:lstStyle/>
          <a:p>
            <a:pPr algn="ctr"/>
            <a:r>
              <a:rPr sz="850" b="0" i="0">
                <a:solidFill>
                  <a:srgbClr val="1A1A2E"/>
                </a:solidFill>
              </a:rPr>
              <a:t>#3</a:t>
            </a:r>
          </a:p>
        </p:txBody>
      </p:sp>
      <p:sp>
        <p:nvSpPr>
          <p:cNvPr id="180" name="Rectangle 179"/>
          <p:cNvSpPr/>
          <p:nvPr/>
        </p:nvSpPr>
        <p:spPr>
          <a:xfrm>
            <a:off x="10241280" y="381304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10305288" y="3840480"/>
            <a:ext cx="640080" cy="233172"/>
          </a:xfrm>
          <a:prstGeom prst="rect">
            <a:avLst/>
          </a:prstGeom>
          <a:noFill/>
        </p:spPr>
        <p:txBody>
          <a:bodyPr wrap="square">
            <a:spAutoFit/>
          </a:bodyPr>
          <a:lstStyle/>
          <a:p>
            <a:pPr algn="ctr"/>
            <a:r>
              <a:rPr sz="850" b="0" i="0">
                <a:solidFill>
                  <a:srgbClr val="1A1A2E"/>
                </a:solidFill>
              </a:rPr>
              <a:t>+10.8</a:t>
            </a:r>
          </a:p>
        </p:txBody>
      </p:sp>
      <p:sp>
        <p:nvSpPr>
          <p:cNvPr id="182" name="Rectangle 181"/>
          <p:cNvSpPr/>
          <p:nvPr/>
        </p:nvSpPr>
        <p:spPr>
          <a:xfrm>
            <a:off x="9235440" y="3813048"/>
            <a:ext cx="1005840" cy="269748"/>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281160" y="3840480"/>
            <a:ext cx="932688" cy="219456"/>
          </a:xfrm>
          <a:prstGeom prst="rect">
            <a:avLst/>
          </a:prstGeom>
          <a:noFill/>
        </p:spPr>
        <p:txBody>
          <a:bodyPr wrap="square">
            <a:spAutoFit/>
          </a:bodyPr>
          <a:lstStyle/>
          <a:p>
            <a:pPr algn="ctr"/>
            <a:r>
              <a:rPr sz="850" b="1" i="0">
                <a:solidFill>
                  <a:srgbClr val="F39C12"/>
                </a:solidFill>
              </a:rPr>
              <a:t>#3</a:t>
            </a:r>
          </a:p>
        </p:txBody>
      </p:sp>
      <p:sp>
        <p:nvSpPr>
          <p:cNvPr id="184" name="Rectangle 183"/>
          <p:cNvSpPr/>
          <p:nvPr/>
        </p:nvSpPr>
        <p:spPr>
          <a:xfrm>
            <a:off x="274320" y="4087368"/>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38328" y="4114800"/>
            <a:ext cx="2194560" cy="233172"/>
          </a:xfrm>
          <a:prstGeom prst="rect">
            <a:avLst/>
          </a:prstGeom>
          <a:noFill/>
        </p:spPr>
        <p:txBody>
          <a:bodyPr wrap="square">
            <a:spAutoFit/>
          </a:bodyPr>
          <a:lstStyle/>
          <a:p>
            <a:pPr algn="l"/>
            <a:r>
              <a:rPr sz="850" b="0" i="0">
                <a:solidFill>
                  <a:srgbClr val="1A1A2E"/>
                </a:solidFill>
              </a:rPr>
              <a:t>Interview Prep</a:t>
            </a:r>
          </a:p>
        </p:txBody>
      </p:sp>
      <p:sp>
        <p:nvSpPr>
          <p:cNvPr id="186" name="Rectangle 185"/>
          <p:cNvSpPr/>
          <p:nvPr/>
        </p:nvSpPr>
        <p:spPr>
          <a:xfrm>
            <a:off x="2560320" y="4087368"/>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624327" y="4114800"/>
            <a:ext cx="1737360" cy="233172"/>
          </a:xfrm>
          <a:prstGeom prst="rect">
            <a:avLst/>
          </a:prstGeom>
          <a:noFill/>
        </p:spPr>
        <p:txBody>
          <a:bodyPr wrap="square">
            <a:spAutoFit/>
          </a:bodyPr>
          <a:lstStyle/>
          <a:p>
            <a:pPr algn="ctr"/>
            <a:r>
              <a:rPr sz="850" b="0" i="0">
                <a:solidFill>
                  <a:srgbClr val="1A1A2E"/>
                </a:solidFill>
              </a:rPr>
              <a:t>Myperfectresume</a:t>
            </a:r>
          </a:p>
        </p:txBody>
      </p:sp>
      <p:sp>
        <p:nvSpPr>
          <p:cNvPr id="188" name="Rectangle 187"/>
          <p:cNvSpPr/>
          <p:nvPr/>
        </p:nvSpPr>
        <p:spPr>
          <a:xfrm>
            <a:off x="4389120" y="408736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4453128" y="4114800"/>
            <a:ext cx="914400" cy="233172"/>
          </a:xfrm>
          <a:prstGeom prst="rect">
            <a:avLst/>
          </a:prstGeom>
          <a:noFill/>
        </p:spPr>
        <p:txBody>
          <a:bodyPr wrap="square">
            <a:spAutoFit/>
          </a:bodyPr>
          <a:lstStyle/>
          <a:p>
            <a:pPr algn="ctr"/>
            <a:r>
              <a:rPr sz="850" b="0" i="0">
                <a:solidFill>
                  <a:srgbClr val="1A1A2E"/>
                </a:solidFill>
              </a:rPr>
              <a:t>5.0</a:t>
            </a:r>
          </a:p>
        </p:txBody>
      </p:sp>
      <p:sp>
        <p:nvSpPr>
          <p:cNvPr id="190" name="Rectangle 189"/>
          <p:cNvSpPr/>
          <p:nvPr/>
        </p:nvSpPr>
        <p:spPr>
          <a:xfrm>
            <a:off x="5394960" y="4087368"/>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5458968" y="4114800"/>
            <a:ext cx="1828800" cy="233172"/>
          </a:xfrm>
          <a:prstGeom prst="rect">
            <a:avLst/>
          </a:prstGeom>
          <a:noFill/>
        </p:spPr>
        <p:txBody>
          <a:bodyPr wrap="square">
            <a:spAutoFit/>
          </a:bodyPr>
          <a:lstStyle/>
          <a:p>
            <a:pPr algn="ctr"/>
            <a:r>
              <a:rPr sz="850" b="0" i="0">
                <a:solidFill>
                  <a:srgbClr val="1A1A2E"/>
                </a:solidFill>
              </a:rPr>
              <a:t>Indeed</a:t>
            </a:r>
          </a:p>
        </p:txBody>
      </p:sp>
      <p:sp>
        <p:nvSpPr>
          <p:cNvPr id="192" name="Rectangle 191"/>
          <p:cNvSpPr/>
          <p:nvPr/>
        </p:nvSpPr>
        <p:spPr>
          <a:xfrm>
            <a:off x="7315200" y="4087368"/>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379208" y="4114800"/>
            <a:ext cx="822960" cy="233172"/>
          </a:xfrm>
          <a:prstGeom prst="rect">
            <a:avLst/>
          </a:prstGeom>
          <a:noFill/>
        </p:spPr>
        <p:txBody>
          <a:bodyPr wrap="square">
            <a:spAutoFit/>
          </a:bodyPr>
          <a:lstStyle/>
          <a:p>
            <a:pPr algn="ctr"/>
            <a:r>
              <a:rPr sz="850" b="0" i="0">
                <a:solidFill>
                  <a:srgbClr val="1A1A2E"/>
                </a:solidFill>
              </a:rPr>
              <a:t>12.8</a:t>
            </a:r>
          </a:p>
        </p:txBody>
      </p:sp>
      <p:sp>
        <p:nvSpPr>
          <p:cNvPr id="194" name="Rectangle 193"/>
          <p:cNvSpPr/>
          <p:nvPr/>
        </p:nvSpPr>
        <p:spPr>
          <a:xfrm>
            <a:off x="8229600" y="408736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8293608" y="4114800"/>
            <a:ext cx="914400" cy="233172"/>
          </a:xfrm>
          <a:prstGeom prst="rect">
            <a:avLst/>
          </a:prstGeom>
          <a:noFill/>
        </p:spPr>
        <p:txBody>
          <a:bodyPr wrap="square">
            <a:spAutoFit/>
          </a:bodyPr>
          <a:lstStyle/>
          <a:p>
            <a:pPr algn="ctr"/>
            <a:r>
              <a:rPr sz="850" b="0" i="0">
                <a:solidFill>
                  <a:srgbClr val="1A1A2E"/>
                </a:solidFill>
              </a:rPr>
              <a:t>15.6</a:t>
            </a:r>
          </a:p>
        </p:txBody>
      </p:sp>
      <p:sp>
        <p:nvSpPr>
          <p:cNvPr id="196" name="Rectangle 195"/>
          <p:cNvSpPr/>
          <p:nvPr/>
        </p:nvSpPr>
        <p:spPr>
          <a:xfrm>
            <a:off x="9235440" y="408736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299448" y="4114800"/>
            <a:ext cx="914400" cy="233172"/>
          </a:xfrm>
          <a:prstGeom prst="rect">
            <a:avLst/>
          </a:prstGeom>
          <a:noFill/>
        </p:spPr>
        <p:txBody>
          <a:bodyPr wrap="square">
            <a:spAutoFit/>
          </a:bodyPr>
          <a:lstStyle/>
          <a:p>
            <a:pPr algn="ctr"/>
            <a:r>
              <a:rPr sz="850" b="0" i="0">
                <a:solidFill>
                  <a:srgbClr val="1A1A2E"/>
                </a:solidFill>
              </a:rPr>
              <a:t>#6</a:t>
            </a:r>
          </a:p>
        </p:txBody>
      </p:sp>
      <p:sp>
        <p:nvSpPr>
          <p:cNvPr id="198" name="Rectangle 197"/>
          <p:cNvSpPr/>
          <p:nvPr/>
        </p:nvSpPr>
        <p:spPr>
          <a:xfrm>
            <a:off x="10241280" y="4087368"/>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0305288" y="4114800"/>
            <a:ext cx="640080" cy="233172"/>
          </a:xfrm>
          <a:prstGeom prst="rect">
            <a:avLst/>
          </a:prstGeom>
          <a:noFill/>
        </p:spPr>
        <p:txBody>
          <a:bodyPr wrap="square">
            <a:spAutoFit/>
          </a:bodyPr>
          <a:lstStyle/>
          <a:p>
            <a:pPr algn="ctr"/>
            <a:r>
              <a:rPr sz="850" b="0" i="0">
                <a:solidFill>
                  <a:srgbClr val="1A1A2E"/>
                </a:solidFill>
              </a:rPr>
              <a:t>+10.6</a:t>
            </a:r>
          </a:p>
        </p:txBody>
      </p:sp>
      <p:sp>
        <p:nvSpPr>
          <p:cNvPr id="200" name="Rectangle 199"/>
          <p:cNvSpPr/>
          <p:nvPr/>
        </p:nvSpPr>
        <p:spPr>
          <a:xfrm>
            <a:off x="9235440" y="4087368"/>
            <a:ext cx="1005840" cy="269748"/>
          </a:xfrm>
          <a:prstGeom prst="rect">
            <a:avLst/>
          </a:prstGeom>
          <a:solidFill>
            <a:srgbClr val="FE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9281160" y="4114800"/>
            <a:ext cx="932688" cy="219456"/>
          </a:xfrm>
          <a:prstGeom prst="rect">
            <a:avLst/>
          </a:prstGeom>
          <a:noFill/>
        </p:spPr>
        <p:txBody>
          <a:bodyPr wrap="square">
            <a:spAutoFit/>
          </a:bodyPr>
          <a:lstStyle/>
          <a:p>
            <a:pPr algn="ctr"/>
            <a:r>
              <a:rPr sz="850" b="1" i="0">
                <a:solidFill>
                  <a:srgbClr val="C0392B"/>
                </a:solidFill>
              </a:rPr>
              <a:t>#6</a:t>
            </a:r>
          </a:p>
        </p:txBody>
      </p:sp>
      <p:sp>
        <p:nvSpPr>
          <p:cNvPr id="202" name="Rectangle 201"/>
          <p:cNvSpPr/>
          <p:nvPr/>
        </p:nvSpPr>
        <p:spPr>
          <a:xfrm>
            <a:off x="274320" y="4361688"/>
            <a:ext cx="22860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338328" y="4389120"/>
            <a:ext cx="2194560" cy="233172"/>
          </a:xfrm>
          <a:prstGeom prst="rect">
            <a:avLst/>
          </a:prstGeom>
          <a:noFill/>
        </p:spPr>
        <p:txBody>
          <a:bodyPr wrap="square">
            <a:spAutoFit/>
          </a:bodyPr>
          <a:lstStyle/>
          <a:p>
            <a:pPr algn="l"/>
            <a:r>
              <a:rPr sz="850" b="0" i="0">
                <a:solidFill>
                  <a:srgbClr val="1A1A2E"/>
                </a:solidFill>
              </a:rPr>
              <a:t>Resume &amp; CV</a:t>
            </a:r>
          </a:p>
        </p:txBody>
      </p:sp>
      <p:sp>
        <p:nvSpPr>
          <p:cNvPr id="204" name="Rectangle 203"/>
          <p:cNvSpPr/>
          <p:nvPr/>
        </p:nvSpPr>
        <p:spPr>
          <a:xfrm>
            <a:off x="2560320" y="4361688"/>
            <a:ext cx="18288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2624327" y="4389120"/>
            <a:ext cx="1737360" cy="233172"/>
          </a:xfrm>
          <a:prstGeom prst="rect">
            <a:avLst/>
          </a:prstGeom>
          <a:noFill/>
        </p:spPr>
        <p:txBody>
          <a:bodyPr wrap="square">
            <a:spAutoFit/>
          </a:bodyPr>
          <a:lstStyle/>
          <a:p>
            <a:pPr algn="ctr"/>
            <a:r>
              <a:rPr sz="850" b="0" i="0">
                <a:solidFill>
                  <a:srgbClr val="1A1A2E"/>
                </a:solidFill>
              </a:rPr>
              <a:t>Myperfectresume</a:t>
            </a:r>
          </a:p>
        </p:txBody>
      </p:sp>
      <p:sp>
        <p:nvSpPr>
          <p:cNvPr id="206" name="Rectangle 205"/>
          <p:cNvSpPr/>
          <p:nvPr/>
        </p:nvSpPr>
        <p:spPr>
          <a:xfrm>
            <a:off x="4389120" y="43616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4453128" y="4389120"/>
            <a:ext cx="914400" cy="233172"/>
          </a:xfrm>
          <a:prstGeom prst="rect">
            <a:avLst/>
          </a:prstGeom>
          <a:noFill/>
        </p:spPr>
        <p:txBody>
          <a:bodyPr wrap="square">
            <a:spAutoFit/>
          </a:bodyPr>
          <a:lstStyle/>
          <a:p>
            <a:pPr algn="ctr"/>
            <a:r>
              <a:rPr sz="850" b="0" i="0">
                <a:solidFill>
                  <a:srgbClr val="1A1A2E"/>
                </a:solidFill>
              </a:rPr>
              <a:t>5.1</a:t>
            </a:r>
          </a:p>
        </p:txBody>
      </p:sp>
      <p:sp>
        <p:nvSpPr>
          <p:cNvPr id="208" name="Rectangle 207"/>
          <p:cNvSpPr/>
          <p:nvPr/>
        </p:nvSpPr>
        <p:spPr>
          <a:xfrm>
            <a:off x="5394960" y="4361688"/>
            <a:ext cx="19202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458968" y="4389120"/>
            <a:ext cx="1828800" cy="233172"/>
          </a:xfrm>
          <a:prstGeom prst="rect">
            <a:avLst/>
          </a:prstGeom>
          <a:noFill/>
        </p:spPr>
        <p:txBody>
          <a:bodyPr wrap="square">
            <a:spAutoFit/>
          </a:bodyPr>
          <a:lstStyle/>
          <a:p>
            <a:pPr algn="ctr"/>
            <a:r>
              <a:rPr sz="850" b="0" i="0">
                <a:solidFill>
                  <a:srgbClr val="1A1A2E"/>
                </a:solidFill>
              </a:rPr>
              <a:t>Resume.io</a:t>
            </a:r>
          </a:p>
        </p:txBody>
      </p:sp>
      <p:sp>
        <p:nvSpPr>
          <p:cNvPr id="210" name="Rectangle 209"/>
          <p:cNvSpPr/>
          <p:nvPr/>
        </p:nvSpPr>
        <p:spPr>
          <a:xfrm>
            <a:off x="7315200" y="4361688"/>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379208" y="4389120"/>
            <a:ext cx="822960" cy="233172"/>
          </a:xfrm>
          <a:prstGeom prst="rect">
            <a:avLst/>
          </a:prstGeom>
          <a:noFill/>
        </p:spPr>
        <p:txBody>
          <a:bodyPr wrap="square">
            <a:spAutoFit/>
          </a:bodyPr>
          <a:lstStyle/>
          <a:p>
            <a:pPr algn="ctr"/>
            <a:r>
              <a:rPr sz="850" b="0" i="0">
                <a:solidFill>
                  <a:srgbClr val="1A1A2E"/>
                </a:solidFill>
              </a:rPr>
              <a:t>10.7</a:t>
            </a:r>
          </a:p>
        </p:txBody>
      </p:sp>
      <p:sp>
        <p:nvSpPr>
          <p:cNvPr id="212" name="Rectangle 211"/>
          <p:cNvSpPr/>
          <p:nvPr/>
        </p:nvSpPr>
        <p:spPr>
          <a:xfrm>
            <a:off x="8229600" y="43616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8293608" y="4389120"/>
            <a:ext cx="914400" cy="233172"/>
          </a:xfrm>
          <a:prstGeom prst="rect">
            <a:avLst/>
          </a:prstGeom>
          <a:noFill/>
        </p:spPr>
        <p:txBody>
          <a:bodyPr wrap="square">
            <a:spAutoFit/>
          </a:bodyPr>
          <a:lstStyle/>
          <a:p>
            <a:pPr algn="ctr"/>
            <a:r>
              <a:rPr sz="850" b="0" i="0">
                <a:solidFill>
                  <a:srgbClr val="1A1A2E"/>
                </a:solidFill>
              </a:rPr>
              <a:t>15.2</a:t>
            </a:r>
          </a:p>
        </p:txBody>
      </p:sp>
      <p:sp>
        <p:nvSpPr>
          <p:cNvPr id="214" name="Rectangle 213"/>
          <p:cNvSpPr/>
          <p:nvPr/>
        </p:nvSpPr>
        <p:spPr>
          <a:xfrm>
            <a:off x="9235440" y="4361688"/>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299448" y="4389120"/>
            <a:ext cx="914400" cy="233172"/>
          </a:xfrm>
          <a:prstGeom prst="rect">
            <a:avLst/>
          </a:prstGeom>
          <a:noFill/>
        </p:spPr>
        <p:txBody>
          <a:bodyPr wrap="square">
            <a:spAutoFit/>
          </a:bodyPr>
          <a:lstStyle/>
          <a:p>
            <a:pPr algn="ctr"/>
            <a:r>
              <a:rPr sz="850" b="0" i="0">
                <a:solidFill>
                  <a:srgbClr val="1A1A2E"/>
                </a:solidFill>
              </a:rPr>
              <a:t>#4</a:t>
            </a:r>
          </a:p>
        </p:txBody>
      </p:sp>
      <p:sp>
        <p:nvSpPr>
          <p:cNvPr id="216" name="Rectangle 215"/>
          <p:cNvSpPr/>
          <p:nvPr/>
        </p:nvSpPr>
        <p:spPr>
          <a:xfrm>
            <a:off x="10241280" y="4361688"/>
            <a:ext cx="7315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10305288" y="4389120"/>
            <a:ext cx="640080" cy="233172"/>
          </a:xfrm>
          <a:prstGeom prst="rect">
            <a:avLst/>
          </a:prstGeom>
          <a:noFill/>
        </p:spPr>
        <p:txBody>
          <a:bodyPr wrap="square">
            <a:spAutoFit/>
          </a:bodyPr>
          <a:lstStyle/>
          <a:p>
            <a:pPr algn="ctr"/>
            <a:r>
              <a:rPr sz="850" b="0" i="0">
                <a:solidFill>
                  <a:srgbClr val="1A1A2E"/>
                </a:solidFill>
              </a:rPr>
              <a:t>+10.1</a:t>
            </a:r>
          </a:p>
        </p:txBody>
      </p:sp>
      <p:sp>
        <p:nvSpPr>
          <p:cNvPr id="218" name="Rectangle 217"/>
          <p:cNvSpPr/>
          <p:nvPr/>
        </p:nvSpPr>
        <p:spPr>
          <a:xfrm>
            <a:off x="9235440" y="4361688"/>
            <a:ext cx="1005840" cy="269748"/>
          </a:xfrm>
          <a:prstGeom prst="rect">
            <a:avLst/>
          </a:prstGeom>
          <a:solidFill>
            <a:srgbClr val="FE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281160" y="4389120"/>
            <a:ext cx="932688" cy="219456"/>
          </a:xfrm>
          <a:prstGeom prst="rect">
            <a:avLst/>
          </a:prstGeom>
          <a:noFill/>
        </p:spPr>
        <p:txBody>
          <a:bodyPr wrap="square">
            <a:spAutoFit/>
          </a:bodyPr>
          <a:lstStyle/>
          <a:p>
            <a:pPr algn="ctr"/>
            <a:r>
              <a:rPr sz="850" b="1" i="0">
                <a:solidFill>
                  <a:srgbClr val="C0392B"/>
                </a:solidFill>
              </a:rPr>
              <a:t>#4</a:t>
            </a:r>
          </a:p>
        </p:txBody>
      </p:sp>
      <p:sp>
        <p:nvSpPr>
          <p:cNvPr id="220" name="Rectangle 219"/>
          <p:cNvSpPr/>
          <p:nvPr/>
        </p:nvSpPr>
        <p:spPr>
          <a:xfrm>
            <a:off x="274320" y="4636008"/>
            <a:ext cx="22860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338328" y="4663440"/>
            <a:ext cx="2194560" cy="233172"/>
          </a:xfrm>
          <a:prstGeom prst="rect">
            <a:avLst/>
          </a:prstGeom>
          <a:noFill/>
        </p:spPr>
        <p:txBody>
          <a:bodyPr wrap="square">
            <a:spAutoFit/>
          </a:bodyPr>
          <a:lstStyle/>
          <a:p>
            <a:pPr algn="l"/>
            <a:r>
              <a:rPr sz="850" b="0" i="0">
                <a:solidFill>
                  <a:srgbClr val="1A1A2E"/>
                </a:solidFill>
              </a:rPr>
              <a:t>Job Search</a:t>
            </a:r>
          </a:p>
        </p:txBody>
      </p:sp>
      <p:sp>
        <p:nvSpPr>
          <p:cNvPr id="222" name="Rectangle 221"/>
          <p:cNvSpPr/>
          <p:nvPr/>
        </p:nvSpPr>
        <p:spPr>
          <a:xfrm>
            <a:off x="2560320" y="4636008"/>
            <a:ext cx="18288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2624327" y="4663440"/>
            <a:ext cx="1737360" cy="233172"/>
          </a:xfrm>
          <a:prstGeom prst="rect">
            <a:avLst/>
          </a:prstGeom>
          <a:noFill/>
        </p:spPr>
        <p:txBody>
          <a:bodyPr wrap="square">
            <a:spAutoFit/>
          </a:bodyPr>
          <a:lstStyle/>
          <a:p>
            <a:pPr algn="ctr"/>
            <a:r>
              <a:rPr sz="850" b="0" i="0">
                <a:solidFill>
                  <a:srgbClr val="1A1A2E"/>
                </a:solidFill>
              </a:rPr>
              <a:t>Myperfectresume</a:t>
            </a:r>
          </a:p>
        </p:txBody>
      </p:sp>
      <p:sp>
        <p:nvSpPr>
          <p:cNvPr id="224" name="Rectangle 223"/>
          <p:cNvSpPr/>
          <p:nvPr/>
        </p:nvSpPr>
        <p:spPr>
          <a:xfrm>
            <a:off x="4389120" y="463600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4453128" y="4663440"/>
            <a:ext cx="914400" cy="233172"/>
          </a:xfrm>
          <a:prstGeom prst="rect">
            <a:avLst/>
          </a:prstGeom>
          <a:noFill/>
        </p:spPr>
        <p:txBody>
          <a:bodyPr wrap="square">
            <a:spAutoFit/>
          </a:bodyPr>
          <a:lstStyle/>
          <a:p>
            <a:pPr algn="ctr"/>
            <a:r>
              <a:rPr sz="850" b="0" i="0">
                <a:solidFill>
                  <a:srgbClr val="1A1A2E"/>
                </a:solidFill>
              </a:rPr>
              <a:t>3.4</a:t>
            </a:r>
          </a:p>
        </p:txBody>
      </p:sp>
      <p:sp>
        <p:nvSpPr>
          <p:cNvPr id="226" name="Rectangle 225"/>
          <p:cNvSpPr/>
          <p:nvPr/>
        </p:nvSpPr>
        <p:spPr>
          <a:xfrm>
            <a:off x="5394960" y="4636008"/>
            <a:ext cx="19202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5458968" y="4663440"/>
            <a:ext cx="1828800" cy="233172"/>
          </a:xfrm>
          <a:prstGeom prst="rect">
            <a:avLst/>
          </a:prstGeom>
          <a:noFill/>
        </p:spPr>
        <p:txBody>
          <a:bodyPr wrap="square">
            <a:spAutoFit/>
          </a:bodyPr>
          <a:lstStyle/>
          <a:p>
            <a:pPr algn="ctr"/>
            <a:r>
              <a:rPr sz="850" b="0" i="0">
                <a:solidFill>
                  <a:srgbClr val="1A1A2E"/>
                </a:solidFill>
              </a:rPr>
              <a:t>Indeed</a:t>
            </a:r>
          </a:p>
        </p:txBody>
      </p:sp>
      <p:sp>
        <p:nvSpPr>
          <p:cNvPr id="228" name="Rectangle 227"/>
          <p:cNvSpPr/>
          <p:nvPr/>
        </p:nvSpPr>
        <p:spPr>
          <a:xfrm>
            <a:off x="7315200" y="4636008"/>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379208" y="4663440"/>
            <a:ext cx="822960" cy="233172"/>
          </a:xfrm>
          <a:prstGeom prst="rect">
            <a:avLst/>
          </a:prstGeom>
          <a:noFill/>
        </p:spPr>
        <p:txBody>
          <a:bodyPr wrap="square">
            <a:spAutoFit/>
          </a:bodyPr>
          <a:lstStyle/>
          <a:p>
            <a:pPr algn="ctr"/>
            <a:r>
              <a:rPr sz="850" b="0" i="0">
                <a:solidFill>
                  <a:srgbClr val="1A1A2E"/>
                </a:solidFill>
              </a:rPr>
              <a:t>9.8</a:t>
            </a:r>
          </a:p>
        </p:txBody>
      </p:sp>
      <p:sp>
        <p:nvSpPr>
          <p:cNvPr id="230" name="Rectangle 229"/>
          <p:cNvSpPr/>
          <p:nvPr/>
        </p:nvSpPr>
        <p:spPr>
          <a:xfrm>
            <a:off x="8229600" y="463600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293608" y="4663440"/>
            <a:ext cx="914400" cy="233172"/>
          </a:xfrm>
          <a:prstGeom prst="rect">
            <a:avLst/>
          </a:prstGeom>
          <a:noFill/>
        </p:spPr>
        <p:txBody>
          <a:bodyPr wrap="square">
            <a:spAutoFit/>
          </a:bodyPr>
          <a:lstStyle/>
          <a:p>
            <a:pPr algn="ctr"/>
            <a:r>
              <a:rPr sz="850" b="0" i="0">
                <a:solidFill>
                  <a:srgbClr val="1A1A2E"/>
                </a:solidFill>
              </a:rPr>
              <a:t>13.8</a:t>
            </a:r>
          </a:p>
        </p:txBody>
      </p:sp>
      <p:sp>
        <p:nvSpPr>
          <p:cNvPr id="232" name="Rectangle 231"/>
          <p:cNvSpPr/>
          <p:nvPr/>
        </p:nvSpPr>
        <p:spPr>
          <a:xfrm>
            <a:off x="9235440" y="4636008"/>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299448" y="4663440"/>
            <a:ext cx="914400" cy="233172"/>
          </a:xfrm>
          <a:prstGeom prst="rect">
            <a:avLst/>
          </a:prstGeom>
          <a:noFill/>
        </p:spPr>
        <p:txBody>
          <a:bodyPr wrap="square">
            <a:spAutoFit/>
          </a:bodyPr>
          <a:lstStyle/>
          <a:p>
            <a:pPr algn="ctr"/>
            <a:r>
              <a:rPr sz="850" b="0" i="0">
                <a:solidFill>
                  <a:srgbClr val="1A1A2E"/>
                </a:solidFill>
              </a:rPr>
              <a:t>#4</a:t>
            </a:r>
          </a:p>
        </p:txBody>
      </p:sp>
      <p:sp>
        <p:nvSpPr>
          <p:cNvPr id="234" name="Rectangle 233"/>
          <p:cNvSpPr/>
          <p:nvPr/>
        </p:nvSpPr>
        <p:spPr>
          <a:xfrm>
            <a:off x="10241280" y="4636008"/>
            <a:ext cx="7315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10305288" y="4663440"/>
            <a:ext cx="640080" cy="233172"/>
          </a:xfrm>
          <a:prstGeom prst="rect">
            <a:avLst/>
          </a:prstGeom>
          <a:noFill/>
        </p:spPr>
        <p:txBody>
          <a:bodyPr wrap="square">
            <a:spAutoFit/>
          </a:bodyPr>
          <a:lstStyle/>
          <a:p>
            <a:pPr algn="ctr"/>
            <a:r>
              <a:rPr sz="850" b="0" i="0">
                <a:solidFill>
                  <a:srgbClr val="1A1A2E"/>
                </a:solidFill>
              </a:rPr>
              <a:t>+10.4</a:t>
            </a:r>
          </a:p>
        </p:txBody>
      </p:sp>
      <p:sp>
        <p:nvSpPr>
          <p:cNvPr id="236" name="Rectangle 235"/>
          <p:cNvSpPr/>
          <p:nvPr/>
        </p:nvSpPr>
        <p:spPr>
          <a:xfrm>
            <a:off x="9235440" y="4636008"/>
            <a:ext cx="1005840" cy="269748"/>
          </a:xfrm>
          <a:prstGeom prst="rect">
            <a:avLst/>
          </a:prstGeom>
          <a:solidFill>
            <a:srgbClr val="FE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281160" y="4663440"/>
            <a:ext cx="932688" cy="219456"/>
          </a:xfrm>
          <a:prstGeom prst="rect">
            <a:avLst/>
          </a:prstGeom>
          <a:noFill/>
        </p:spPr>
        <p:txBody>
          <a:bodyPr wrap="square">
            <a:spAutoFit/>
          </a:bodyPr>
          <a:lstStyle/>
          <a:p>
            <a:pPr algn="ctr"/>
            <a:r>
              <a:rPr sz="850" b="1" i="0">
                <a:solidFill>
                  <a:srgbClr val="C0392B"/>
                </a:solidFill>
              </a:rPr>
              <a:t>#4</a:t>
            </a:r>
          </a:p>
        </p:txBody>
      </p:sp>
      <p:sp>
        <p:nvSpPr>
          <p:cNvPr id="238" name="TextBox 237"/>
          <p:cNvSpPr txBox="1"/>
          <p:nvPr/>
        </p:nvSpPr>
        <p:spPr>
          <a:xfrm>
            <a:off x="274320" y="4965192"/>
            <a:ext cx="11612880" cy="292608"/>
          </a:xfrm>
          <a:prstGeom prst="rect">
            <a:avLst/>
          </a:prstGeom>
          <a:noFill/>
        </p:spPr>
        <p:txBody>
          <a:bodyPr wrap="square">
            <a:spAutoFit/>
          </a:bodyPr>
          <a:lstStyle/>
          <a:p>
            <a:pPr algn="l"/>
            <a:r>
              <a:rPr sz="950" b="0" i="1">
                <a:solidFill>
                  <a:srgbClr val="5A6A85"/>
                </a:solidFill>
              </a:rPr>
              <a:t>★ Full Forms is the ONLY cluster where Naukri leads all competitors</a:t>
            </a:r>
          </a:p>
        </p:txBody>
      </p:sp>
      <p:sp>
        <p:nvSpPr>
          <p:cNvPr id="239" name="Rectangle 238"/>
          <p:cNvSpPr/>
          <p:nvPr/>
        </p:nvSpPr>
        <p:spPr>
          <a:xfrm>
            <a:off x="274320" y="5257800"/>
            <a:ext cx="11612880" cy="1371600"/>
          </a:xfrm>
          <a:prstGeom prst="rect">
            <a:avLst/>
          </a:prstGeom>
          <a:solidFill>
            <a:srgbClr val="E8F0FF"/>
          </a:solidFill>
          <a:ln w="12700">
            <a:solidFill>
              <a:srgbClr val="003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502920" y="5321808"/>
            <a:ext cx="2743200" cy="274320"/>
          </a:xfrm>
          <a:prstGeom prst="rect">
            <a:avLst/>
          </a:prstGeom>
          <a:noFill/>
        </p:spPr>
        <p:txBody>
          <a:bodyPr wrap="square">
            <a:spAutoFit/>
          </a:bodyPr>
          <a:lstStyle/>
          <a:p>
            <a:pPr algn="l"/>
            <a:r>
              <a:rPr sz="1000" b="1" i="0">
                <a:solidFill>
                  <a:srgbClr val="003E8A"/>
                </a:solidFill>
              </a:rPr>
              <a:t>Why Competitors Win:</a:t>
            </a:r>
          </a:p>
        </p:txBody>
      </p:sp>
      <p:sp>
        <p:nvSpPr>
          <p:cNvPr id="241" name="TextBox 240"/>
          <p:cNvSpPr txBox="1"/>
          <p:nvPr/>
        </p:nvSpPr>
        <p:spPr>
          <a:xfrm>
            <a:off x="502920" y="5605272"/>
            <a:ext cx="11338560" cy="914400"/>
          </a:xfrm>
          <a:prstGeom prst="rect">
            <a:avLst/>
          </a:prstGeom>
          <a:noFill/>
        </p:spPr>
        <p:txBody>
          <a:bodyPr wrap="square">
            <a:spAutoFit/>
          </a:bodyPr>
          <a:lstStyle/>
          <a:p>
            <a:pPr algn="l"/>
            <a:r>
              <a:rPr sz="1000" b="0" i="0">
                <a:solidFill>
                  <a:srgbClr val="1A1A2E"/>
                </a:solidFill>
              </a:rPr>
              <a:t>Resume tools (Myperfectresume, Resume.io) win Resume &amp; CV and Interview because they are product-led — tool pages outrank advisory articles.  Indeed dominates broad clusters via domain authority + dedicated career-advice sections.  Naukri's content is split across /blog, /career-advice, /campus and resume.naukri.com — diluting topical authority signals.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05 — Traffic Opportunity Analysis</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3-tier keyword prioritisation by position &amp; volume</a:t>
            </a:r>
          </a:p>
        </p:txBody>
      </p:sp>
      <p:sp>
        <p:nvSpPr>
          <p:cNvPr id="6" name="Rectangle 5"/>
          <p:cNvSpPr/>
          <p:nvPr/>
        </p:nvSpPr>
        <p:spPr>
          <a:xfrm>
            <a:off x="274320" y="1298448"/>
            <a:ext cx="3794760" cy="4754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35024"/>
            <a:ext cx="1097280" cy="365760"/>
          </a:xfrm>
          <a:prstGeom prst="rect">
            <a:avLst/>
          </a:prstGeom>
          <a:noFill/>
        </p:spPr>
        <p:txBody>
          <a:bodyPr wrap="square">
            <a:spAutoFit/>
          </a:bodyPr>
          <a:lstStyle/>
          <a:p>
            <a:pPr algn="l"/>
            <a:r>
              <a:rPr sz="1300" b="1" i="0">
                <a:solidFill>
                  <a:srgbClr val="FFFFFF"/>
                </a:solidFill>
              </a:rPr>
              <a:t>TIER 1</a:t>
            </a:r>
          </a:p>
        </p:txBody>
      </p:sp>
      <p:sp>
        <p:nvSpPr>
          <p:cNvPr id="8" name="TextBox 7"/>
          <p:cNvSpPr txBox="1"/>
          <p:nvPr/>
        </p:nvSpPr>
        <p:spPr>
          <a:xfrm>
            <a:off x="1508760" y="1335024"/>
            <a:ext cx="2468880" cy="365760"/>
          </a:xfrm>
          <a:prstGeom prst="rect">
            <a:avLst/>
          </a:prstGeom>
          <a:noFill/>
        </p:spPr>
        <p:txBody>
          <a:bodyPr wrap="square">
            <a:spAutoFit/>
          </a:bodyPr>
          <a:lstStyle/>
          <a:p>
            <a:pPr algn="l"/>
            <a:r>
              <a:rPr sz="900" b="1" i="0">
                <a:solidFill>
                  <a:srgbClr val="FFFFFF"/>
                </a:solidFill>
              </a:rPr>
              <a:t>Quick Wins — Pos 4–10 (Push to Top 3)</a:t>
            </a:r>
          </a:p>
        </p:txBody>
      </p:sp>
      <p:sp>
        <p:nvSpPr>
          <p:cNvPr id="9" name="Rectangle 8"/>
          <p:cNvSpPr/>
          <p:nvPr/>
        </p:nvSpPr>
        <p:spPr>
          <a:xfrm>
            <a:off x="4251959" y="1298448"/>
            <a:ext cx="3794760" cy="47548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1688" y="1335024"/>
            <a:ext cx="1097280" cy="365760"/>
          </a:xfrm>
          <a:prstGeom prst="rect">
            <a:avLst/>
          </a:prstGeom>
          <a:noFill/>
        </p:spPr>
        <p:txBody>
          <a:bodyPr wrap="square">
            <a:spAutoFit/>
          </a:bodyPr>
          <a:lstStyle/>
          <a:p>
            <a:pPr algn="l"/>
            <a:r>
              <a:rPr sz="1300" b="1" i="0">
                <a:solidFill>
                  <a:srgbClr val="FFFFFF"/>
                </a:solidFill>
              </a:rPr>
              <a:t>TIER 2</a:t>
            </a:r>
          </a:p>
        </p:txBody>
      </p:sp>
      <p:sp>
        <p:nvSpPr>
          <p:cNvPr id="11" name="TextBox 10"/>
          <p:cNvSpPr txBox="1"/>
          <p:nvPr/>
        </p:nvSpPr>
        <p:spPr>
          <a:xfrm>
            <a:off x="5486400" y="1335024"/>
            <a:ext cx="2468880" cy="365760"/>
          </a:xfrm>
          <a:prstGeom prst="rect">
            <a:avLst/>
          </a:prstGeom>
          <a:noFill/>
        </p:spPr>
        <p:txBody>
          <a:bodyPr wrap="square">
            <a:spAutoFit/>
          </a:bodyPr>
          <a:lstStyle/>
          <a:p>
            <a:pPr algn="l"/>
            <a:r>
              <a:rPr sz="900" b="1" i="0">
                <a:solidFill>
                  <a:srgbClr val="FFFFFF"/>
                </a:solidFill>
              </a:rPr>
              <a:t>Growth — Pos 11–20 (Push to Pos 5)</a:t>
            </a:r>
          </a:p>
        </p:txBody>
      </p:sp>
      <p:sp>
        <p:nvSpPr>
          <p:cNvPr id="12" name="Rectangle 11"/>
          <p:cNvSpPr/>
          <p:nvPr/>
        </p:nvSpPr>
        <p:spPr>
          <a:xfrm>
            <a:off x="8229600" y="1298448"/>
            <a:ext cx="3794760" cy="4754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1335024"/>
            <a:ext cx="1097280" cy="365760"/>
          </a:xfrm>
          <a:prstGeom prst="rect">
            <a:avLst/>
          </a:prstGeom>
          <a:noFill/>
        </p:spPr>
        <p:txBody>
          <a:bodyPr wrap="square">
            <a:spAutoFit/>
          </a:bodyPr>
          <a:lstStyle/>
          <a:p>
            <a:pPr algn="l"/>
            <a:r>
              <a:rPr sz="1300" b="1" i="0">
                <a:solidFill>
                  <a:srgbClr val="FFFFFF"/>
                </a:solidFill>
              </a:rPr>
              <a:t>TIER 3</a:t>
            </a:r>
          </a:p>
        </p:txBody>
      </p:sp>
      <p:sp>
        <p:nvSpPr>
          <p:cNvPr id="14" name="TextBox 13"/>
          <p:cNvSpPr txBox="1"/>
          <p:nvPr/>
        </p:nvSpPr>
        <p:spPr>
          <a:xfrm>
            <a:off x="9464040" y="1335024"/>
            <a:ext cx="2468880" cy="365760"/>
          </a:xfrm>
          <a:prstGeom prst="rect">
            <a:avLst/>
          </a:prstGeom>
          <a:noFill/>
        </p:spPr>
        <p:txBody>
          <a:bodyPr wrap="square">
            <a:spAutoFit/>
          </a:bodyPr>
          <a:lstStyle/>
          <a:p>
            <a:pPr algn="l"/>
            <a:r>
              <a:rPr sz="900" b="1" i="0">
                <a:solidFill>
                  <a:srgbClr val="FFFFFF"/>
                </a:solidFill>
              </a:rPr>
              <a:t>New — Competitors Rank, Naukri Absent</a:t>
            </a:r>
          </a:p>
        </p:txBody>
      </p:sp>
      <p:sp>
        <p:nvSpPr>
          <p:cNvPr id="15" name="TextBox 14"/>
          <p:cNvSpPr txBox="1"/>
          <p:nvPr/>
        </p:nvSpPr>
        <p:spPr>
          <a:xfrm>
            <a:off x="274320" y="1801368"/>
            <a:ext cx="2103120" cy="219456"/>
          </a:xfrm>
          <a:prstGeom prst="rect">
            <a:avLst/>
          </a:prstGeom>
          <a:noFill/>
        </p:spPr>
        <p:txBody>
          <a:bodyPr wrap="square">
            <a:spAutoFit/>
          </a:bodyPr>
          <a:lstStyle/>
          <a:p>
            <a:pPr algn="l"/>
            <a:r>
              <a:rPr sz="900" b="1" i="0">
                <a:solidFill>
                  <a:srgbClr val="5A6A85"/>
                </a:solidFill>
              </a:rPr>
              <a:t>Keyword</a:t>
            </a:r>
          </a:p>
        </p:txBody>
      </p:sp>
      <p:sp>
        <p:nvSpPr>
          <p:cNvPr id="16" name="Rectangle 15"/>
          <p:cNvSpPr/>
          <p:nvPr/>
        </p:nvSpPr>
        <p:spPr>
          <a:xfrm>
            <a:off x="274320" y="1828800"/>
            <a:ext cx="210312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1856231"/>
            <a:ext cx="2029967" cy="201168"/>
          </a:xfrm>
          <a:prstGeom prst="rect">
            <a:avLst/>
          </a:prstGeom>
          <a:noFill/>
        </p:spPr>
        <p:txBody>
          <a:bodyPr wrap="square">
            <a:spAutoFit/>
          </a:bodyPr>
          <a:lstStyle/>
          <a:p>
            <a:pPr algn="l"/>
            <a:r>
              <a:rPr sz="800" b="1" i="0">
                <a:solidFill>
                  <a:srgbClr val="FFFFFF"/>
                </a:solidFill>
              </a:rPr>
              <a:t>Keyword</a:t>
            </a:r>
          </a:p>
        </p:txBody>
      </p:sp>
      <p:sp>
        <p:nvSpPr>
          <p:cNvPr id="18" name="Rectangle 17"/>
          <p:cNvSpPr/>
          <p:nvPr/>
        </p:nvSpPr>
        <p:spPr>
          <a:xfrm>
            <a:off x="2377439" y="1828800"/>
            <a:ext cx="100584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04871" y="1856231"/>
            <a:ext cx="960120" cy="201168"/>
          </a:xfrm>
          <a:prstGeom prst="rect">
            <a:avLst/>
          </a:prstGeom>
          <a:noFill/>
        </p:spPr>
        <p:txBody>
          <a:bodyPr wrap="square">
            <a:spAutoFit/>
          </a:bodyPr>
          <a:lstStyle/>
          <a:p>
            <a:pPr algn="ctr"/>
            <a:r>
              <a:rPr sz="800" b="1" i="0">
                <a:solidFill>
                  <a:srgbClr val="FFFFFF"/>
                </a:solidFill>
              </a:rPr>
              <a:t>Volume</a:t>
            </a:r>
          </a:p>
        </p:txBody>
      </p:sp>
      <p:sp>
        <p:nvSpPr>
          <p:cNvPr id="20" name="Rectangle 19"/>
          <p:cNvSpPr/>
          <p:nvPr/>
        </p:nvSpPr>
        <p:spPr>
          <a:xfrm>
            <a:off x="3383279" y="1828800"/>
            <a:ext cx="64008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0711" y="1856231"/>
            <a:ext cx="594359" cy="201168"/>
          </a:xfrm>
          <a:prstGeom prst="rect">
            <a:avLst/>
          </a:prstGeom>
          <a:noFill/>
        </p:spPr>
        <p:txBody>
          <a:bodyPr wrap="square">
            <a:spAutoFit/>
          </a:bodyPr>
          <a:lstStyle/>
          <a:p>
            <a:pPr algn="ctr"/>
            <a:r>
              <a:rPr sz="800" b="1" i="0">
                <a:solidFill>
                  <a:srgbClr val="FFFFFF"/>
                </a:solidFill>
              </a:rPr>
              <a:t>Pos</a:t>
            </a:r>
          </a:p>
        </p:txBody>
      </p:sp>
      <p:sp>
        <p:nvSpPr>
          <p:cNvPr id="22" name="Rectangle 21"/>
          <p:cNvSpPr/>
          <p:nvPr/>
        </p:nvSpPr>
        <p:spPr>
          <a:xfrm>
            <a:off x="274320" y="2075688"/>
            <a:ext cx="210312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77439" y="2075688"/>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83279" y="2075688"/>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2103120"/>
            <a:ext cx="2029967" cy="201168"/>
          </a:xfrm>
          <a:prstGeom prst="rect">
            <a:avLst/>
          </a:prstGeom>
          <a:noFill/>
        </p:spPr>
        <p:txBody>
          <a:bodyPr wrap="square">
            <a:spAutoFit/>
          </a:bodyPr>
          <a:lstStyle/>
          <a:p>
            <a:pPr algn="l"/>
            <a:r>
              <a:rPr sz="800" b="0" i="0">
                <a:solidFill>
                  <a:srgbClr val="1A1A2E"/>
                </a:solidFill>
              </a:rPr>
              <a:t>ssc cgl 2026</a:t>
            </a:r>
          </a:p>
        </p:txBody>
      </p:sp>
      <p:sp>
        <p:nvSpPr>
          <p:cNvPr id="26" name="TextBox 25"/>
          <p:cNvSpPr txBox="1"/>
          <p:nvPr/>
        </p:nvSpPr>
        <p:spPr>
          <a:xfrm>
            <a:off x="2404871" y="2103120"/>
            <a:ext cx="960120" cy="201168"/>
          </a:xfrm>
          <a:prstGeom prst="rect">
            <a:avLst/>
          </a:prstGeom>
          <a:noFill/>
        </p:spPr>
        <p:txBody>
          <a:bodyPr wrap="square">
            <a:spAutoFit/>
          </a:bodyPr>
          <a:lstStyle/>
          <a:p>
            <a:pPr algn="ctr"/>
            <a:r>
              <a:rPr sz="800" b="0" i="0">
                <a:solidFill>
                  <a:srgbClr val="1A1A2E"/>
                </a:solidFill>
              </a:rPr>
              <a:t>237,180</a:t>
            </a:r>
          </a:p>
        </p:txBody>
      </p:sp>
      <p:sp>
        <p:nvSpPr>
          <p:cNvPr id="27" name="TextBox 26"/>
          <p:cNvSpPr txBox="1"/>
          <p:nvPr/>
        </p:nvSpPr>
        <p:spPr>
          <a:xfrm>
            <a:off x="3410711" y="2103120"/>
            <a:ext cx="594359" cy="201168"/>
          </a:xfrm>
          <a:prstGeom prst="rect">
            <a:avLst/>
          </a:prstGeom>
          <a:noFill/>
        </p:spPr>
        <p:txBody>
          <a:bodyPr wrap="square">
            <a:spAutoFit/>
          </a:bodyPr>
          <a:lstStyle/>
          <a:p>
            <a:pPr algn="ctr"/>
            <a:r>
              <a:rPr sz="800" b="0" i="0">
                <a:solidFill>
                  <a:srgbClr val="1A1A2E"/>
                </a:solidFill>
              </a:rPr>
              <a:t>8</a:t>
            </a:r>
          </a:p>
        </p:txBody>
      </p:sp>
      <p:sp>
        <p:nvSpPr>
          <p:cNvPr id="28" name="Rectangle 27"/>
          <p:cNvSpPr/>
          <p:nvPr/>
        </p:nvSpPr>
        <p:spPr>
          <a:xfrm>
            <a:off x="274320" y="2318004"/>
            <a:ext cx="210312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377439" y="2318004"/>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83279" y="2318004"/>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45436"/>
            <a:ext cx="2029967" cy="201168"/>
          </a:xfrm>
          <a:prstGeom prst="rect">
            <a:avLst/>
          </a:prstGeom>
          <a:noFill/>
        </p:spPr>
        <p:txBody>
          <a:bodyPr wrap="square">
            <a:spAutoFit/>
          </a:bodyPr>
          <a:lstStyle/>
          <a:p>
            <a:pPr algn="l"/>
            <a:r>
              <a:rPr sz="800" b="0" i="0">
                <a:solidFill>
                  <a:srgbClr val="1A1A2E"/>
                </a:solidFill>
              </a:rPr>
              <a:t>ats score</a:t>
            </a:r>
          </a:p>
        </p:txBody>
      </p:sp>
      <p:sp>
        <p:nvSpPr>
          <p:cNvPr id="32" name="TextBox 31"/>
          <p:cNvSpPr txBox="1"/>
          <p:nvPr/>
        </p:nvSpPr>
        <p:spPr>
          <a:xfrm>
            <a:off x="2404871" y="2345436"/>
            <a:ext cx="960120" cy="201168"/>
          </a:xfrm>
          <a:prstGeom prst="rect">
            <a:avLst/>
          </a:prstGeom>
          <a:noFill/>
        </p:spPr>
        <p:txBody>
          <a:bodyPr wrap="square">
            <a:spAutoFit/>
          </a:bodyPr>
          <a:lstStyle/>
          <a:p>
            <a:pPr algn="ctr"/>
            <a:r>
              <a:rPr sz="800" b="0" i="0">
                <a:solidFill>
                  <a:srgbClr val="1A1A2E"/>
                </a:solidFill>
              </a:rPr>
              <a:t>155,980</a:t>
            </a:r>
          </a:p>
        </p:txBody>
      </p:sp>
      <p:sp>
        <p:nvSpPr>
          <p:cNvPr id="33" name="TextBox 32"/>
          <p:cNvSpPr txBox="1"/>
          <p:nvPr/>
        </p:nvSpPr>
        <p:spPr>
          <a:xfrm>
            <a:off x="3410711" y="2345436"/>
            <a:ext cx="594359" cy="201168"/>
          </a:xfrm>
          <a:prstGeom prst="rect">
            <a:avLst/>
          </a:prstGeom>
          <a:noFill/>
        </p:spPr>
        <p:txBody>
          <a:bodyPr wrap="square">
            <a:spAutoFit/>
          </a:bodyPr>
          <a:lstStyle/>
          <a:p>
            <a:pPr algn="ctr"/>
            <a:r>
              <a:rPr sz="800" b="0" i="0">
                <a:solidFill>
                  <a:srgbClr val="1A1A2E"/>
                </a:solidFill>
              </a:rPr>
              <a:t>4</a:t>
            </a:r>
          </a:p>
        </p:txBody>
      </p:sp>
      <p:sp>
        <p:nvSpPr>
          <p:cNvPr id="34" name="Rectangle 33"/>
          <p:cNvSpPr/>
          <p:nvPr/>
        </p:nvSpPr>
        <p:spPr>
          <a:xfrm>
            <a:off x="274320" y="2560320"/>
            <a:ext cx="210312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377439" y="2560320"/>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83279" y="2560320"/>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2587752"/>
            <a:ext cx="2029967" cy="201168"/>
          </a:xfrm>
          <a:prstGeom prst="rect">
            <a:avLst/>
          </a:prstGeom>
          <a:noFill/>
        </p:spPr>
        <p:txBody>
          <a:bodyPr wrap="square">
            <a:spAutoFit/>
          </a:bodyPr>
          <a:lstStyle/>
          <a:p>
            <a:pPr algn="l"/>
            <a:r>
              <a:rPr sz="800" b="0" i="0">
                <a:solidFill>
                  <a:srgbClr val="1A1A2E"/>
                </a:solidFill>
              </a:rPr>
              <a:t>ats score checker</a:t>
            </a:r>
          </a:p>
        </p:txBody>
      </p:sp>
      <p:sp>
        <p:nvSpPr>
          <p:cNvPr id="38" name="TextBox 37"/>
          <p:cNvSpPr txBox="1"/>
          <p:nvPr/>
        </p:nvSpPr>
        <p:spPr>
          <a:xfrm>
            <a:off x="2404871" y="2587752"/>
            <a:ext cx="960120" cy="201168"/>
          </a:xfrm>
          <a:prstGeom prst="rect">
            <a:avLst/>
          </a:prstGeom>
          <a:noFill/>
        </p:spPr>
        <p:txBody>
          <a:bodyPr wrap="square">
            <a:spAutoFit/>
          </a:bodyPr>
          <a:lstStyle/>
          <a:p>
            <a:pPr algn="ctr"/>
            <a:r>
              <a:rPr sz="800" b="0" i="0">
                <a:solidFill>
                  <a:srgbClr val="1A1A2E"/>
                </a:solidFill>
              </a:rPr>
              <a:t>152,170</a:t>
            </a:r>
          </a:p>
        </p:txBody>
      </p:sp>
      <p:sp>
        <p:nvSpPr>
          <p:cNvPr id="39" name="TextBox 38"/>
          <p:cNvSpPr txBox="1"/>
          <p:nvPr/>
        </p:nvSpPr>
        <p:spPr>
          <a:xfrm>
            <a:off x="3410711" y="2587752"/>
            <a:ext cx="594359" cy="201168"/>
          </a:xfrm>
          <a:prstGeom prst="rect">
            <a:avLst/>
          </a:prstGeom>
          <a:noFill/>
        </p:spPr>
        <p:txBody>
          <a:bodyPr wrap="square">
            <a:spAutoFit/>
          </a:bodyPr>
          <a:lstStyle/>
          <a:p>
            <a:pPr algn="ctr"/>
            <a:r>
              <a:rPr sz="800" b="0" i="0">
                <a:solidFill>
                  <a:srgbClr val="1A1A2E"/>
                </a:solidFill>
              </a:rPr>
              <a:t>5</a:t>
            </a:r>
          </a:p>
        </p:txBody>
      </p:sp>
      <p:sp>
        <p:nvSpPr>
          <p:cNvPr id="40" name="Rectangle 39"/>
          <p:cNvSpPr/>
          <p:nvPr/>
        </p:nvSpPr>
        <p:spPr>
          <a:xfrm>
            <a:off x="274320" y="2802636"/>
            <a:ext cx="210312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377439" y="2802636"/>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383279" y="2802636"/>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2830068"/>
            <a:ext cx="2029967" cy="201168"/>
          </a:xfrm>
          <a:prstGeom prst="rect">
            <a:avLst/>
          </a:prstGeom>
          <a:noFill/>
        </p:spPr>
        <p:txBody>
          <a:bodyPr wrap="square">
            <a:spAutoFit/>
          </a:bodyPr>
          <a:lstStyle/>
          <a:p>
            <a:pPr algn="l"/>
            <a:r>
              <a:rPr sz="800" b="0" i="0">
                <a:solidFill>
                  <a:srgbClr val="1A1A2E"/>
                </a:solidFill>
              </a:rPr>
              <a:t>cv full form</a:t>
            </a:r>
          </a:p>
        </p:txBody>
      </p:sp>
      <p:sp>
        <p:nvSpPr>
          <p:cNvPr id="44" name="TextBox 43"/>
          <p:cNvSpPr txBox="1"/>
          <p:nvPr/>
        </p:nvSpPr>
        <p:spPr>
          <a:xfrm>
            <a:off x="2404871" y="2830068"/>
            <a:ext cx="960120" cy="201168"/>
          </a:xfrm>
          <a:prstGeom prst="rect">
            <a:avLst/>
          </a:prstGeom>
          <a:noFill/>
        </p:spPr>
        <p:txBody>
          <a:bodyPr wrap="square">
            <a:spAutoFit/>
          </a:bodyPr>
          <a:lstStyle/>
          <a:p>
            <a:pPr algn="ctr"/>
            <a:r>
              <a:rPr sz="800" b="0" i="0">
                <a:solidFill>
                  <a:srgbClr val="1A1A2E"/>
                </a:solidFill>
              </a:rPr>
              <a:t>142,240</a:t>
            </a:r>
          </a:p>
        </p:txBody>
      </p:sp>
      <p:sp>
        <p:nvSpPr>
          <p:cNvPr id="45" name="TextBox 44"/>
          <p:cNvSpPr txBox="1"/>
          <p:nvPr/>
        </p:nvSpPr>
        <p:spPr>
          <a:xfrm>
            <a:off x="3410711" y="2830068"/>
            <a:ext cx="594359" cy="201168"/>
          </a:xfrm>
          <a:prstGeom prst="rect">
            <a:avLst/>
          </a:prstGeom>
          <a:noFill/>
        </p:spPr>
        <p:txBody>
          <a:bodyPr wrap="square">
            <a:spAutoFit/>
          </a:bodyPr>
          <a:lstStyle/>
          <a:p>
            <a:pPr algn="ctr"/>
            <a:r>
              <a:rPr sz="800" b="0" i="0">
                <a:solidFill>
                  <a:srgbClr val="1A1A2E"/>
                </a:solidFill>
              </a:rPr>
              <a:t>8</a:t>
            </a:r>
          </a:p>
        </p:txBody>
      </p:sp>
      <p:sp>
        <p:nvSpPr>
          <p:cNvPr id="46" name="Rectangle 45"/>
          <p:cNvSpPr/>
          <p:nvPr/>
        </p:nvSpPr>
        <p:spPr>
          <a:xfrm>
            <a:off x="274320" y="3044952"/>
            <a:ext cx="210312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377439" y="3044952"/>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383279" y="3044952"/>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3072384"/>
            <a:ext cx="2029967" cy="201168"/>
          </a:xfrm>
          <a:prstGeom prst="rect">
            <a:avLst/>
          </a:prstGeom>
          <a:noFill/>
        </p:spPr>
        <p:txBody>
          <a:bodyPr wrap="square">
            <a:spAutoFit/>
          </a:bodyPr>
          <a:lstStyle/>
          <a:p>
            <a:pPr algn="l"/>
            <a:r>
              <a:rPr sz="800" b="0" i="0">
                <a:solidFill>
                  <a:srgbClr val="1A1A2E"/>
                </a:solidFill>
              </a:rPr>
              <a:t>job alert</a:t>
            </a:r>
          </a:p>
        </p:txBody>
      </p:sp>
      <p:sp>
        <p:nvSpPr>
          <p:cNvPr id="50" name="TextBox 49"/>
          <p:cNvSpPr txBox="1"/>
          <p:nvPr/>
        </p:nvSpPr>
        <p:spPr>
          <a:xfrm>
            <a:off x="2404871" y="3072384"/>
            <a:ext cx="960120" cy="201168"/>
          </a:xfrm>
          <a:prstGeom prst="rect">
            <a:avLst/>
          </a:prstGeom>
          <a:noFill/>
        </p:spPr>
        <p:txBody>
          <a:bodyPr wrap="square">
            <a:spAutoFit/>
          </a:bodyPr>
          <a:lstStyle/>
          <a:p>
            <a:pPr algn="ctr"/>
            <a:r>
              <a:rPr sz="800" b="0" i="0">
                <a:solidFill>
                  <a:srgbClr val="1A1A2E"/>
                </a:solidFill>
              </a:rPr>
              <a:t>140,890</a:t>
            </a:r>
          </a:p>
        </p:txBody>
      </p:sp>
      <p:sp>
        <p:nvSpPr>
          <p:cNvPr id="51" name="TextBox 50"/>
          <p:cNvSpPr txBox="1"/>
          <p:nvPr/>
        </p:nvSpPr>
        <p:spPr>
          <a:xfrm>
            <a:off x="3410711" y="3072384"/>
            <a:ext cx="594359" cy="201168"/>
          </a:xfrm>
          <a:prstGeom prst="rect">
            <a:avLst/>
          </a:prstGeom>
          <a:noFill/>
        </p:spPr>
        <p:txBody>
          <a:bodyPr wrap="square">
            <a:spAutoFit/>
          </a:bodyPr>
          <a:lstStyle/>
          <a:p>
            <a:pPr algn="ctr"/>
            <a:r>
              <a:rPr sz="800" b="0" i="0">
                <a:solidFill>
                  <a:srgbClr val="1A1A2E"/>
                </a:solidFill>
              </a:rPr>
              <a:t>7</a:t>
            </a:r>
          </a:p>
        </p:txBody>
      </p:sp>
      <p:sp>
        <p:nvSpPr>
          <p:cNvPr id="52" name="Rectangle 51"/>
          <p:cNvSpPr/>
          <p:nvPr/>
        </p:nvSpPr>
        <p:spPr>
          <a:xfrm>
            <a:off x="274320" y="3287268"/>
            <a:ext cx="210312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377439" y="3287268"/>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83279" y="3287268"/>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3314700"/>
            <a:ext cx="2029967" cy="201168"/>
          </a:xfrm>
          <a:prstGeom prst="rect">
            <a:avLst/>
          </a:prstGeom>
          <a:noFill/>
        </p:spPr>
        <p:txBody>
          <a:bodyPr wrap="square">
            <a:spAutoFit/>
          </a:bodyPr>
          <a:lstStyle/>
          <a:p>
            <a:pPr algn="l"/>
            <a:r>
              <a:rPr sz="800" b="0" i="0">
                <a:solidFill>
                  <a:srgbClr val="1A1A2E"/>
                </a:solidFill>
              </a:rPr>
              <a:t>ambitionbox</a:t>
            </a:r>
          </a:p>
        </p:txBody>
      </p:sp>
      <p:sp>
        <p:nvSpPr>
          <p:cNvPr id="56" name="TextBox 55"/>
          <p:cNvSpPr txBox="1"/>
          <p:nvPr/>
        </p:nvSpPr>
        <p:spPr>
          <a:xfrm>
            <a:off x="2404871" y="3314700"/>
            <a:ext cx="960120" cy="201168"/>
          </a:xfrm>
          <a:prstGeom prst="rect">
            <a:avLst/>
          </a:prstGeom>
          <a:noFill/>
        </p:spPr>
        <p:txBody>
          <a:bodyPr wrap="square">
            <a:spAutoFit/>
          </a:bodyPr>
          <a:lstStyle/>
          <a:p>
            <a:pPr algn="ctr"/>
            <a:r>
              <a:rPr sz="800" b="0" i="0">
                <a:solidFill>
                  <a:srgbClr val="1A1A2E"/>
                </a:solidFill>
              </a:rPr>
              <a:t>132,970</a:t>
            </a:r>
          </a:p>
        </p:txBody>
      </p:sp>
      <p:sp>
        <p:nvSpPr>
          <p:cNvPr id="57" name="TextBox 56"/>
          <p:cNvSpPr txBox="1"/>
          <p:nvPr/>
        </p:nvSpPr>
        <p:spPr>
          <a:xfrm>
            <a:off x="3410711" y="3314700"/>
            <a:ext cx="594359" cy="201168"/>
          </a:xfrm>
          <a:prstGeom prst="rect">
            <a:avLst/>
          </a:prstGeom>
          <a:noFill/>
        </p:spPr>
        <p:txBody>
          <a:bodyPr wrap="square">
            <a:spAutoFit/>
          </a:bodyPr>
          <a:lstStyle/>
          <a:p>
            <a:pPr algn="ctr"/>
            <a:r>
              <a:rPr sz="800" b="0" i="0">
                <a:solidFill>
                  <a:srgbClr val="1A1A2E"/>
                </a:solidFill>
              </a:rPr>
              <a:t>9</a:t>
            </a:r>
          </a:p>
        </p:txBody>
      </p:sp>
      <p:sp>
        <p:nvSpPr>
          <p:cNvPr id="58" name="Rectangle 57"/>
          <p:cNvSpPr/>
          <p:nvPr/>
        </p:nvSpPr>
        <p:spPr>
          <a:xfrm>
            <a:off x="274320" y="3529584"/>
            <a:ext cx="210312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377439" y="3529584"/>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83279" y="3529584"/>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0040" y="3557015"/>
            <a:ext cx="2029967" cy="201168"/>
          </a:xfrm>
          <a:prstGeom prst="rect">
            <a:avLst/>
          </a:prstGeom>
          <a:noFill/>
        </p:spPr>
        <p:txBody>
          <a:bodyPr wrap="square">
            <a:spAutoFit/>
          </a:bodyPr>
          <a:lstStyle/>
          <a:p>
            <a:pPr algn="l"/>
            <a:r>
              <a:rPr sz="800" b="0" i="0">
                <a:solidFill>
                  <a:srgbClr val="1A1A2E"/>
                </a:solidFill>
              </a:rPr>
              <a:t>data analyst</a:t>
            </a:r>
          </a:p>
        </p:txBody>
      </p:sp>
      <p:sp>
        <p:nvSpPr>
          <p:cNvPr id="62" name="TextBox 61"/>
          <p:cNvSpPr txBox="1"/>
          <p:nvPr/>
        </p:nvSpPr>
        <p:spPr>
          <a:xfrm>
            <a:off x="2404871" y="3557015"/>
            <a:ext cx="960120" cy="201168"/>
          </a:xfrm>
          <a:prstGeom prst="rect">
            <a:avLst/>
          </a:prstGeom>
          <a:noFill/>
        </p:spPr>
        <p:txBody>
          <a:bodyPr wrap="square">
            <a:spAutoFit/>
          </a:bodyPr>
          <a:lstStyle/>
          <a:p>
            <a:pPr algn="ctr"/>
            <a:r>
              <a:rPr sz="800" b="0" i="0">
                <a:solidFill>
                  <a:srgbClr val="1A1A2E"/>
                </a:solidFill>
              </a:rPr>
              <a:t>92,590</a:t>
            </a:r>
          </a:p>
        </p:txBody>
      </p:sp>
      <p:sp>
        <p:nvSpPr>
          <p:cNvPr id="63" name="TextBox 62"/>
          <p:cNvSpPr txBox="1"/>
          <p:nvPr/>
        </p:nvSpPr>
        <p:spPr>
          <a:xfrm>
            <a:off x="3410711" y="3557015"/>
            <a:ext cx="594359" cy="201168"/>
          </a:xfrm>
          <a:prstGeom prst="rect">
            <a:avLst/>
          </a:prstGeom>
          <a:noFill/>
        </p:spPr>
        <p:txBody>
          <a:bodyPr wrap="square">
            <a:spAutoFit/>
          </a:bodyPr>
          <a:lstStyle/>
          <a:p>
            <a:pPr algn="ctr"/>
            <a:r>
              <a:rPr sz="800" b="0" i="0">
                <a:solidFill>
                  <a:srgbClr val="1A1A2E"/>
                </a:solidFill>
              </a:rPr>
              <a:t>6</a:t>
            </a:r>
          </a:p>
        </p:txBody>
      </p:sp>
      <p:sp>
        <p:nvSpPr>
          <p:cNvPr id="64" name="Rectangle 63"/>
          <p:cNvSpPr/>
          <p:nvPr/>
        </p:nvSpPr>
        <p:spPr>
          <a:xfrm>
            <a:off x="274320" y="3771900"/>
            <a:ext cx="210312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377439" y="3771900"/>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383279" y="3771900"/>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3799331"/>
            <a:ext cx="2029967" cy="201168"/>
          </a:xfrm>
          <a:prstGeom prst="rect">
            <a:avLst/>
          </a:prstGeom>
          <a:noFill/>
        </p:spPr>
        <p:txBody>
          <a:bodyPr wrap="square">
            <a:spAutoFit/>
          </a:bodyPr>
          <a:lstStyle/>
          <a:p>
            <a:pPr algn="l"/>
            <a:r>
              <a:rPr sz="800" b="0" i="0">
                <a:solidFill>
                  <a:srgbClr val="1A1A2E"/>
                </a:solidFill>
              </a:rPr>
              <a:t>scientist</a:t>
            </a:r>
          </a:p>
        </p:txBody>
      </p:sp>
      <p:sp>
        <p:nvSpPr>
          <p:cNvPr id="68" name="TextBox 67"/>
          <p:cNvSpPr txBox="1"/>
          <p:nvPr/>
        </p:nvSpPr>
        <p:spPr>
          <a:xfrm>
            <a:off x="2404871" y="3799331"/>
            <a:ext cx="960120" cy="201168"/>
          </a:xfrm>
          <a:prstGeom prst="rect">
            <a:avLst/>
          </a:prstGeom>
          <a:noFill/>
        </p:spPr>
        <p:txBody>
          <a:bodyPr wrap="square">
            <a:spAutoFit/>
          </a:bodyPr>
          <a:lstStyle/>
          <a:p>
            <a:pPr algn="ctr"/>
            <a:r>
              <a:rPr sz="800" b="0" i="0">
                <a:solidFill>
                  <a:srgbClr val="1A1A2E"/>
                </a:solidFill>
              </a:rPr>
              <a:t>93,100</a:t>
            </a:r>
          </a:p>
        </p:txBody>
      </p:sp>
      <p:sp>
        <p:nvSpPr>
          <p:cNvPr id="69" name="TextBox 68"/>
          <p:cNvSpPr txBox="1"/>
          <p:nvPr/>
        </p:nvSpPr>
        <p:spPr>
          <a:xfrm>
            <a:off x="3410711" y="3799331"/>
            <a:ext cx="594359" cy="201168"/>
          </a:xfrm>
          <a:prstGeom prst="rect">
            <a:avLst/>
          </a:prstGeom>
          <a:noFill/>
        </p:spPr>
        <p:txBody>
          <a:bodyPr wrap="square">
            <a:spAutoFit/>
          </a:bodyPr>
          <a:lstStyle/>
          <a:p>
            <a:pPr algn="ctr"/>
            <a:r>
              <a:rPr sz="800" b="0" i="0">
                <a:solidFill>
                  <a:srgbClr val="1A1A2E"/>
                </a:solidFill>
              </a:rPr>
              <a:t>8</a:t>
            </a:r>
          </a:p>
        </p:txBody>
      </p:sp>
      <p:sp>
        <p:nvSpPr>
          <p:cNvPr id="70" name="Rectangle 69"/>
          <p:cNvSpPr/>
          <p:nvPr/>
        </p:nvSpPr>
        <p:spPr>
          <a:xfrm>
            <a:off x="274320" y="4014216"/>
            <a:ext cx="210312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377439" y="4014216"/>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383279" y="4014216"/>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0040" y="4041648"/>
            <a:ext cx="2029967" cy="201168"/>
          </a:xfrm>
          <a:prstGeom prst="rect">
            <a:avLst/>
          </a:prstGeom>
          <a:noFill/>
        </p:spPr>
        <p:txBody>
          <a:bodyPr wrap="square">
            <a:spAutoFit/>
          </a:bodyPr>
          <a:lstStyle/>
          <a:p>
            <a:pPr algn="l"/>
            <a:r>
              <a:rPr sz="800" b="0" i="0">
                <a:solidFill>
                  <a:srgbClr val="1A1A2E"/>
                </a:solidFill>
              </a:rPr>
              <a:t>jobs near me</a:t>
            </a:r>
          </a:p>
        </p:txBody>
      </p:sp>
      <p:sp>
        <p:nvSpPr>
          <p:cNvPr id="74" name="TextBox 73"/>
          <p:cNvSpPr txBox="1"/>
          <p:nvPr/>
        </p:nvSpPr>
        <p:spPr>
          <a:xfrm>
            <a:off x="2404871" y="4041648"/>
            <a:ext cx="960120" cy="201168"/>
          </a:xfrm>
          <a:prstGeom prst="rect">
            <a:avLst/>
          </a:prstGeom>
          <a:noFill/>
        </p:spPr>
        <p:txBody>
          <a:bodyPr wrap="square">
            <a:spAutoFit/>
          </a:bodyPr>
          <a:lstStyle/>
          <a:p>
            <a:pPr algn="ctr"/>
            <a:r>
              <a:rPr sz="800" b="0" i="0">
                <a:solidFill>
                  <a:srgbClr val="1A1A2E"/>
                </a:solidFill>
              </a:rPr>
              <a:t>91,900</a:t>
            </a:r>
          </a:p>
        </p:txBody>
      </p:sp>
      <p:sp>
        <p:nvSpPr>
          <p:cNvPr id="75" name="TextBox 74"/>
          <p:cNvSpPr txBox="1"/>
          <p:nvPr/>
        </p:nvSpPr>
        <p:spPr>
          <a:xfrm>
            <a:off x="3410711" y="4041648"/>
            <a:ext cx="594359" cy="201168"/>
          </a:xfrm>
          <a:prstGeom prst="rect">
            <a:avLst/>
          </a:prstGeom>
          <a:noFill/>
        </p:spPr>
        <p:txBody>
          <a:bodyPr wrap="square">
            <a:spAutoFit/>
          </a:bodyPr>
          <a:lstStyle/>
          <a:p>
            <a:pPr algn="ctr"/>
            <a:r>
              <a:rPr sz="800" b="0" i="0">
                <a:solidFill>
                  <a:srgbClr val="1A1A2E"/>
                </a:solidFill>
              </a:rPr>
              <a:t>4</a:t>
            </a:r>
          </a:p>
        </p:txBody>
      </p:sp>
      <p:sp>
        <p:nvSpPr>
          <p:cNvPr id="76" name="Rectangle 75"/>
          <p:cNvSpPr/>
          <p:nvPr/>
        </p:nvSpPr>
        <p:spPr>
          <a:xfrm>
            <a:off x="274320" y="4256532"/>
            <a:ext cx="210312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377439" y="4256532"/>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383279" y="4256532"/>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0040" y="4283964"/>
            <a:ext cx="2029967" cy="201168"/>
          </a:xfrm>
          <a:prstGeom prst="rect">
            <a:avLst/>
          </a:prstGeom>
          <a:noFill/>
        </p:spPr>
        <p:txBody>
          <a:bodyPr wrap="square">
            <a:spAutoFit/>
          </a:bodyPr>
          <a:lstStyle/>
          <a:p>
            <a:pPr algn="l"/>
            <a:r>
              <a:rPr sz="800" b="0" i="0">
                <a:solidFill>
                  <a:srgbClr val="1A1A2E"/>
                </a:solidFill>
              </a:rPr>
              <a:t>ats resume checker</a:t>
            </a:r>
          </a:p>
        </p:txBody>
      </p:sp>
      <p:sp>
        <p:nvSpPr>
          <p:cNvPr id="80" name="TextBox 79"/>
          <p:cNvSpPr txBox="1"/>
          <p:nvPr/>
        </p:nvSpPr>
        <p:spPr>
          <a:xfrm>
            <a:off x="2404871" y="4283964"/>
            <a:ext cx="960120" cy="201168"/>
          </a:xfrm>
          <a:prstGeom prst="rect">
            <a:avLst/>
          </a:prstGeom>
          <a:noFill/>
        </p:spPr>
        <p:txBody>
          <a:bodyPr wrap="square">
            <a:spAutoFit/>
          </a:bodyPr>
          <a:lstStyle/>
          <a:p>
            <a:pPr algn="ctr"/>
            <a:r>
              <a:rPr sz="800" b="0" i="0">
                <a:solidFill>
                  <a:srgbClr val="1A1A2E"/>
                </a:solidFill>
              </a:rPr>
              <a:t>96,070</a:t>
            </a:r>
          </a:p>
        </p:txBody>
      </p:sp>
      <p:sp>
        <p:nvSpPr>
          <p:cNvPr id="81" name="TextBox 80"/>
          <p:cNvSpPr txBox="1"/>
          <p:nvPr/>
        </p:nvSpPr>
        <p:spPr>
          <a:xfrm>
            <a:off x="3410711" y="4283964"/>
            <a:ext cx="594359" cy="201168"/>
          </a:xfrm>
          <a:prstGeom prst="rect">
            <a:avLst/>
          </a:prstGeom>
          <a:noFill/>
        </p:spPr>
        <p:txBody>
          <a:bodyPr wrap="square">
            <a:spAutoFit/>
          </a:bodyPr>
          <a:lstStyle/>
          <a:p>
            <a:pPr algn="ctr"/>
            <a:r>
              <a:rPr sz="800" b="0" i="0">
                <a:solidFill>
                  <a:srgbClr val="1A1A2E"/>
                </a:solidFill>
              </a:rPr>
              <a:t>4</a:t>
            </a:r>
          </a:p>
        </p:txBody>
      </p:sp>
      <p:sp>
        <p:nvSpPr>
          <p:cNvPr id="82" name="Rectangle 81"/>
          <p:cNvSpPr/>
          <p:nvPr/>
        </p:nvSpPr>
        <p:spPr>
          <a:xfrm>
            <a:off x="4251960" y="1828800"/>
            <a:ext cx="219456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297680" y="1856231"/>
            <a:ext cx="2121408" cy="201168"/>
          </a:xfrm>
          <a:prstGeom prst="rect">
            <a:avLst/>
          </a:prstGeom>
          <a:noFill/>
        </p:spPr>
        <p:txBody>
          <a:bodyPr wrap="square">
            <a:spAutoFit/>
          </a:bodyPr>
          <a:lstStyle/>
          <a:p>
            <a:pPr algn="l"/>
            <a:r>
              <a:rPr sz="800" b="1" i="0">
                <a:solidFill>
                  <a:srgbClr val="FFFFFF"/>
                </a:solidFill>
              </a:rPr>
              <a:t>Keyword</a:t>
            </a:r>
          </a:p>
        </p:txBody>
      </p:sp>
      <p:sp>
        <p:nvSpPr>
          <p:cNvPr id="84" name="Rectangle 83"/>
          <p:cNvSpPr/>
          <p:nvPr/>
        </p:nvSpPr>
        <p:spPr>
          <a:xfrm>
            <a:off x="6446520" y="1828800"/>
            <a:ext cx="100584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73952" y="1856231"/>
            <a:ext cx="960120" cy="201168"/>
          </a:xfrm>
          <a:prstGeom prst="rect">
            <a:avLst/>
          </a:prstGeom>
          <a:noFill/>
        </p:spPr>
        <p:txBody>
          <a:bodyPr wrap="square">
            <a:spAutoFit/>
          </a:bodyPr>
          <a:lstStyle/>
          <a:p>
            <a:pPr algn="ctr"/>
            <a:r>
              <a:rPr sz="800" b="1" i="0">
                <a:solidFill>
                  <a:srgbClr val="FFFFFF"/>
                </a:solidFill>
              </a:rPr>
              <a:t>Volume</a:t>
            </a:r>
          </a:p>
        </p:txBody>
      </p:sp>
      <p:sp>
        <p:nvSpPr>
          <p:cNvPr id="86" name="Rectangle 85"/>
          <p:cNvSpPr/>
          <p:nvPr/>
        </p:nvSpPr>
        <p:spPr>
          <a:xfrm>
            <a:off x="7452360" y="1828800"/>
            <a:ext cx="64008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479792" y="1856231"/>
            <a:ext cx="594359" cy="201168"/>
          </a:xfrm>
          <a:prstGeom prst="rect">
            <a:avLst/>
          </a:prstGeom>
          <a:noFill/>
        </p:spPr>
        <p:txBody>
          <a:bodyPr wrap="square">
            <a:spAutoFit/>
          </a:bodyPr>
          <a:lstStyle/>
          <a:p>
            <a:pPr algn="ctr"/>
            <a:r>
              <a:rPr sz="800" b="1" i="0">
                <a:solidFill>
                  <a:srgbClr val="FFFFFF"/>
                </a:solidFill>
              </a:rPr>
              <a:t>Pos</a:t>
            </a:r>
          </a:p>
        </p:txBody>
      </p:sp>
      <p:sp>
        <p:nvSpPr>
          <p:cNvPr id="88" name="Rectangle 87"/>
          <p:cNvSpPr/>
          <p:nvPr/>
        </p:nvSpPr>
        <p:spPr>
          <a:xfrm>
            <a:off x="4251960" y="2075688"/>
            <a:ext cx="219456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446520" y="2075688"/>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452360" y="2075688"/>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297680" y="2103120"/>
            <a:ext cx="2121408" cy="201168"/>
          </a:xfrm>
          <a:prstGeom prst="rect">
            <a:avLst/>
          </a:prstGeom>
          <a:noFill/>
        </p:spPr>
        <p:txBody>
          <a:bodyPr wrap="square">
            <a:spAutoFit/>
          </a:bodyPr>
          <a:lstStyle/>
          <a:p>
            <a:pPr algn="l"/>
            <a:r>
              <a:rPr sz="800" b="0" i="0">
                <a:solidFill>
                  <a:srgbClr val="1A1A2E"/>
                </a:solidFill>
              </a:rPr>
              <a:t>ssc</a:t>
            </a:r>
          </a:p>
        </p:txBody>
      </p:sp>
      <p:sp>
        <p:nvSpPr>
          <p:cNvPr id="92" name="TextBox 91"/>
          <p:cNvSpPr txBox="1"/>
          <p:nvPr/>
        </p:nvSpPr>
        <p:spPr>
          <a:xfrm>
            <a:off x="6473952" y="2103120"/>
            <a:ext cx="960120" cy="201168"/>
          </a:xfrm>
          <a:prstGeom prst="rect">
            <a:avLst/>
          </a:prstGeom>
          <a:noFill/>
        </p:spPr>
        <p:txBody>
          <a:bodyPr wrap="square">
            <a:spAutoFit/>
          </a:bodyPr>
          <a:lstStyle/>
          <a:p>
            <a:pPr algn="ctr"/>
            <a:r>
              <a:rPr sz="800" b="0" i="0">
                <a:solidFill>
                  <a:srgbClr val="1A1A2E"/>
                </a:solidFill>
              </a:rPr>
              <a:t>2,246,500</a:t>
            </a:r>
          </a:p>
        </p:txBody>
      </p:sp>
      <p:sp>
        <p:nvSpPr>
          <p:cNvPr id="93" name="TextBox 92"/>
          <p:cNvSpPr txBox="1"/>
          <p:nvPr/>
        </p:nvSpPr>
        <p:spPr>
          <a:xfrm>
            <a:off x="7479792" y="2103120"/>
            <a:ext cx="594359" cy="201168"/>
          </a:xfrm>
          <a:prstGeom prst="rect">
            <a:avLst/>
          </a:prstGeom>
          <a:noFill/>
        </p:spPr>
        <p:txBody>
          <a:bodyPr wrap="square">
            <a:spAutoFit/>
          </a:bodyPr>
          <a:lstStyle/>
          <a:p>
            <a:pPr algn="ctr"/>
            <a:r>
              <a:rPr sz="800" b="0" i="0">
                <a:solidFill>
                  <a:srgbClr val="1A1A2E"/>
                </a:solidFill>
              </a:rPr>
              <a:t>14</a:t>
            </a:r>
          </a:p>
        </p:txBody>
      </p:sp>
      <p:sp>
        <p:nvSpPr>
          <p:cNvPr id="94" name="Rectangle 93"/>
          <p:cNvSpPr/>
          <p:nvPr/>
        </p:nvSpPr>
        <p:spPr>
          <a:xfrm>
            <a:off x="4251960" y="2318004"/>
            <a:ext cx="219456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446520" y="2318004"/>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452360" y="2318004"/>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297680" y="2345436"/>
            <a:ext cx="2121408" cy="201168"/>
          </a:xfrm>
          <a:prstGeom prst="rect">
            <a:avLst/>
          </a:prstGeom>
          <a:noFill/>
        </p:spPr>
        <p:txBody>
          <a:bodyPr wrap="square">
            <a:spAutoFit/>
          </a:bodyPr>
          <a:lstStyle/>
          <a:p>
            <a:pPr algn="l"/>
            <a:r>
              <a:rPr sz="800" b="0" i="0">
                <a:solidFill>
                  <a:srgbClr val="1A1A2E"/>
                </a:solidFill>
              </a:rPr>
              <a:t>ssc cgl syllabus</a:t>
            </a:r>
          </a:p>
        </p:txBody>
      </p:sp>
      <p:sp>
        <p:nvSpPr>
          <p:cNvPr id="98" name="TextBox 97"/>
          <p:cNvSpPr txBox="1"/>
          <p:nvPr/>
        </p:nvSpPr>
        <p:spPr>
          <a:xfrm>
            <a:off x="6473952" y="2345436"/>
            <a:ext cx="960120" cy="201168"/>
          </a:xfrm>
          <a:prstGeom prst="rect">
            <a:avLst/>
          </a:prstGeom>
          <a:noFill/>
        </p:spPr>
        <p:txBody>
          <a:bodyPr wrap="square">
            <a:spAutoFit/>
          </a:bodyPr>
          <a:lstStyle/>
          <a:p>
            <a:pPr algn="ctr"/>
            <a:r>
              <a:rPr sz="800" b="0" i="0">
                <a:solidFill>
                  <a:srgbClr val="1A1A2E"/>
                </a:solidFill>
              </a:rPr>
              <a:t>177,530</a:t>
            </a:r>
          </a:p>
        </p:txBody>
      </p:sp>
      <p:sp>
        <p:nvSpPr>
          <p:cNvPr id="99" name="TextBox 98"/>
          <p:cNvSpPr txBox="1"/>
          <p:nvPr/>
        </p:nvSpPr>
        <p:spPr>
          <a:xfrm>
            <a:off x="7479792" y="2345436"/>
            <a:ext cx="594359" cy="201168"/>
          </a:xfrm>
          <a:prstGeom prst="rect">
            <a:avLst/>
          </a:prstGeom>
          <a:noFill/>
        </p:spPr>
        <p:txBody>
          <a:bodyPr wrap="square">
            <a:spAutoFit/>
          </a:bodyPr>
          <a:lstStyle/>
          <a:p>
            <a:pPr algn="ctr"/>
            <a:r>
              <a:rPr sz="800" b="0" i="0">
                <a:solidFill>
                  <a:srgbClr val="1A1A2E"/>
                </a:solidFill>
              </a:rPr>
              <a:t>18</a:t>
            </a:r>
          </a:p>
        </p:txBody>
      </p:sp>
      <p:sp>
        <p:nvSpPr>
          <p:cNvPr id="100" name="Rectangle 99"/>
          <p:cNvSpPr/>
          <p:nvPr/>
        </p:nvSpPr>
        <p:spPr>
          <a:xfrm>
            <a:off x="4251960" y="2560320"/>
            <a:ext cx="219456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446520" y="2560320"/>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452360" y="2560320"/>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297680" y="2587752"/>
            <a:ext cx="2121408" cy="201168"/>
          </a:xfrm>
          <a:prstGeom prst="rect">
            <a:avLst/>
          </a:prstGeom>
          <a:noFill/>
        </p:spPr>
        <p:txBody>
          <a:bodyPr wrap="square">
            <a:spAutoFit/>
          </a:bodyPr>
          <a:lstStyle/>
          <a:p>
            <a:pPr algn="l"/>
            <a:r>
              <a:rPr sz="800" b="0" i="0">
                <a:solidFill>
                  <a:srgbClr val="1A1A2E"/>
                </a:solidFill>
              </a:rPr>
              <a:t>chartered accountant</a:t>
            </a:r>
          </a:p>
        </p:txBody>
      </p:sp>
      <p:sp>
        <p:nvSpPr>
          <p:cNvPr id="104" name="TextBox 103"/>
          <p:cNvSpPr txBox="1"/>
          <p:nvPr/>
        </p:nvSpPr>
        <p:spPr>
          <a:xfrm>
            <a:off x="6473952" y="2587752"/>
            <a:ext cx="960120" cy="201168"/>
          </a:xfrm>
          <a:prstGeom prst="rect">
            <a:avLst/>
          </a:prstGeom>
          <a:noFill/>
        </p:spPr>
        <p:txBody>
          <a:bodyPr wrap="square">
            <a:spAutoFit/>
          </a:bodyPr>
          <a:lstStyle/>
          <a:p>
            <a:pPr algn="ctr"/>
            <a:r>
              <a:rPr sz="800" b="0" i="0">
                <a:solidFill>
                  <a:srgbClr val="1A1A2E"/>
                </a:solidFill>
              </a:rPr>
              <a:t>84,480</a:t>
            </a:r>
          </a:p>
        </p:txBody>
      </p:sp>
      <p:sp>
        <p:nvSpPr>
          <p:cNvPr id="105" name="TextBox 104"/>
          <p:cNvSpPr txBox="1"/>
          <p:nvPr/>
        </p:nvSpPr>
        <p:spPr>
          <a:xfrm>
            <a:off x="7479792" y="2587752"/>
            <a:ext cx="594359" cy="201168"/>
          </a:xfrm>
          <a:prstGeom prst="rect">
            <a:avLst/>
          </a:prstGeom>
          <a:noFill/>
        </p:spPr>
        <p:txBody>
          <a:bodyPr wrap="square">
            <a:spAutoFit/>
          </a:bodyPr>
          <a:lstStyle/>
          <a:p>
            <a:pPr algn="ctr"/>
            <a:r>
              <a:rPr sz="800" b="0" i="0">
                <a:solidFill>
                  <a:srgbClr val="1A1A2E"/>
                </a:solidFill>
              </a:rPr>
              <a:t>18</a:t>
            </a:r>
          </a:p>
        </p:txBody>
      </p:sp>
      <p:sp>
        <p:nvSpPr>
          <p:cNvPr id="106" name="Rectangle 105"/>
          <p:cNvSpPr/>
          <p:nvPr/>
        </p:nvSpPr>
        <p:spPr>
          <a:xfrm>
            <a:off x="4251960" y="2802636"/>
            <a:ext cx="219456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446520" y="2802636"/>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452360" y="2802636"/>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297680" y="2830068"/>
            <a:ext cx="2121408" cy="201168"/>
          </a:xfrm>
          <a:prstGeom prst="rect">
            <a:avLst/>
          </a:prstGeom>
          <a:noFill/>
        </p:spPr>
        <p:txBody>
          <a:bodyPr wrap="square">
            <a:spAutoFit/>
          </a:bodyPr>
          <a:lstStyle/>
          <a:p>
            <a:pPr algn="l"/>
            <a:r>
              <a:rPr sz="800" b="0" i="0">
                <a:solidFill>
                  <a:srgbClr val="1A1A2E"/>
                </a:solidFill>
              </a:rPr>
              <a:t>ctc full form</a:t>
            </a:r>
          </a:p>
        </p:txBody>
      </p:sp>
      <p:sp>
        <p:nvSpPr>
          <p:cNvPr id="110" name="TextBox 109"/>
          <p:cNvSpPr txBox="1"/>
          <p:nvPr/>
        </p:nvSpPr>
        <p:spPr>
          <a:xfrm>
            <a:off x="6473952" y="2830068"/>
            <a:ext cx="960120" cy="201168"/>
          </a:xfrm>
          <a:prstGeom prst="rect">
            <a:avLst/>
          </a:prstGeom>
          <a:noFill/>
        </p:spPr>
        <p:txBody>
          <a:bodyPr wrap="square">
            <a:spAutoFit/>
          </a:bodyPr>
          <a:lstStyle/>
          <a:p>
            <a:pPr algn="ctr"/>
            <a:r>
              <a:rPr sz="800" b="0" i="0">
                <a:solidFill>
                  <a:srgbClr val="1A1A2E"/>
                </a:solidFill>
              </a:rPr>
              <a:t>84,160</a:t>
            </a:r>
          </a:p>
        </p:txBody>
      </p:sp>
      <p:sp>
        <p:nvSpPr>
          <p:cNvPr id="111" name="TextBox 110"/>
          <p:cNvSpPr txBox="1"/>
          <p:nvPr/>
        </p:nvSpPr>
        <p:spPr>
          <a:xfrm>
            <a:off x="7479792" y="2830068"/>
            <a:ext cx="594359" cy="201168"/>
          </a:xfrm>
          <a:prstGeom prst="rect">
            <a:avLst/>
          </a:prstGeom>
          <a:noFill/>
        </p:spPr>
        <p:txBody>
          <a:bodyPr wrap="square">
            <a:spAutoFit/>
          </a:bodyPr>
          <a:lstStyle/>
          <a:p>
            <a:pPr algn="ctr"/>
            <a:r>
              <a:rPr sz="800" b="0" i="0">
                <a:solidFill>
                  <a:srgbClr val="1A1A2E"/>
                </a:solidFill>
              </a:rPr>
              <a:t>16</a:t>
            </a:r>
          </a:p>
        </p:txBody>
      </p:sp>
      <p:sp>
        <p:nvSpPr>
          <p:cNvPr id="112" name="Rectangle 111"/>
          <p:cNvSpPr/>
          <p:nvPr/>
        </p:nvSpPr>
        <p:spPr>
          <a:xfrm>
            <a:off x="4251960" y="3044952"/>
            <a:ext cx="219456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446520" y="3044952"/>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452360" y="3044952"/>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297680" y="3072384"/>
            <a:ext cx="2121408" cy="201168"/>
          </a:xfrm>
          <a:prstGeom prst="rect">
            <a:avLst/>
          </a:prstGeom>
          <a:noFill/>
        </p:spPr>
        <p:txBody>
          <a:bodyPr wrap="square">
            <a:spAutoFit/>
          </a:bodyPr>
          <a:lstStyle/>
          <a:p>
            <a:pPr algn="l"/>
            <a:r>
              <a:rPr sz="800" b="0" i="0">
                <a:solidFill>
                  <a:srgbClr val="1A1A2E"/>
                </a:solidFill>
              </a:rPr>
              <a:t>hr</a:t>
            </a:r>
          </a:p>
        </p:txBody>
      </p:sp>
      <p:sp>
        <p:nvSpPr>
          <p:cNvPr id="116" name="TextBox 115"/>
          <p:cNvSpPr txBox="1"/>
          <p:nvPr/>
        </p:nvSpPr>
        <p:spPr>
          <a:xfrm>
            <a:off x="6473952" y="3072384"/>
            <a:ext cx="960120" cy="201168"/>
          </a:xfrm>
          <a:prstGeom prst="rect">
            <a:avLst/>
          </a:prstGeom>
          <a:noFill/>
        </p:spPr>
        <p:txBody>
          <a:bodyPr wrap="square">
            <a:spAutoFit/>
          </a:bodyPr>
          <a:lstStyle/>
          <a:p>
            <a:pPr algn="ctr"/>
            <a:r>
              <a:rPr sz="800" b="0" i="0">
                <a:solidFill>
                  <a:srgbClr val="1A1A2E"/>
                </a:solidFill>
              </a:rPr>
              <a:t>55,290</a:t>
            </a:r>
          </a:p>
        </p:txBody>
      </p:sp>
      <p:sp>
        <p:nvSpPr>
          <p:cNvPr id="117" name="TextBox 116"/>
          <p:cNvSpPr txBox="1"/>
          <p:nvPr/>
        </p:nvSpPr>
        <p:spPr>
          <a:xfrm>
            <a:off x="7479792" y="3072384"/>
            <a:ext cx="594359" cy="201168"/>
          </a:xfrm>
          <a:prstGeom prst="rect">
            <a:avLst/>
          </a:prstGeom>
          <a:noFill/>
        </p:spPr>
        <p:txBody>
          <a:bodyPr wrap="square">
            <a:spAutoFit/>
          </a:bodyPr>
          <a:lstStyle/>
          <a:p>
            <a:pPr algn="ctr"/>
            <a:r>
              <a:rPr sz="800" b="0" i="0">
                <a:solidFill>
                  <a:srgbClr val="1A1A2E"/>
                </a:solidFill>
              </a:rPr>
              <a:t>17</a:t>
            </a:r>
          </a:p>
        </p:txBody>
      </p:sp>
      <p:sp>
        <p:nvSpPr>
          <p:cNvPr id="118" name="Rectangle 117"/>
          <p:cNvSpPr/>
          <p:nvPr/>
        </p:nvSpPr>
        <p:spPr>
          <a:xfrm>
            <a:off x="4251960" y="3287268"/>
            <a:ext cx="219456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6446520" y="3287268"/>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452360" y="3287268"/>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297680" y="3314700"/>
            <a:ext cx="2121408" cy="201168"/>
          </a:xfrm>
          <a:prstGeom prst="rect">
            <a:avLst/>
          </a:prstGeom>
          <a:noFill/>
        </p:spPr>
        <p:txBody>
          <a:bodyPr wrap="square">
            <a:spAutoFit/>
          </a:bodyPr>
          <a:lstStyle/>
          <a:p>
            <a:pPr algn="l"/>
            <a:r>
              <a:rPr sz="800" b="0" i="0">
                <a:solidFill>
                  <a:srgbClr val="1A1A2E"/>
                </a:solidFill>
              </a:rPr>
              <a:t>bank po salary</a:t>
            </a:r>
          </a:p>
        </p:txBody>
      </p:sp>
      <p:sp>
        <p:nvSpPr>
          <p:cNvPr id="122" name="TextBox 121"/>
          <p:cNvSpPr txBox="1"/>
          <p:nvPr/>
        </p:nvSpPr>
        <p:spPr>
          <a:xfrm>
            <a:off x="6473952" y="3314700"/>
            <a:ext cx="960120" cy="201168"/>
          </a:xfrm>
          <a:prstGeom prst="rect">
            <a:avLst/>
          </a:prstGeom>
          <a:noFill/>
        </p:spPr>
        <p:txBody>
          <a:bodyPr wrap="square">
            <a:spAutoFit/>
          </a:bodyPr>
          <a:lstStyle/>
          <a:p>
            <a:pPr algn="ctr"/>
            <a:r>
              <a:rPr sz="800" b="0" i="0">
                <a:solidFill>
                  <a:srgbClr val="1A1A2E"/>
                </a:solidFill>
              </a:rPr>
              <a:t>51,880</a:t>
            </a:r>
          </a:p>
        </p:txBody>
      </p:sp>
      <p:sp>
        <p:nvSpPr>
          <p:cNvPr id="123" name="TextBox 122"/>
          <p:cNvSpPr txBox="1"/>
          <p:nvPr/>
        </p:nvSpPr>
        <p:spPr>
          <a:xfrm>
            <a:off x="7479792" y="3314700"/>
            <a:ext cx="594359" cy="201168"/>
          </a:xfrm>
          <a:prstGeom prst="rect">
            <a:avLst/>
          </a:prstGeom>
          <a:noFill/>
        </p:spPr>
        <p:txBody>
          <a:bodyPr wrap="square">
            <a:spAutoFit/>
          </a:bodyPr>
          <a:lstStyle/>
          <a:p>
            <a:pPr algn="ctr"/>
            <a:r>
              <a:rPr sz="800" b="0" i="0">
                <a:solidFill>
                  <a:srgbClr val="1A1A2E"/>
                </a:solidFill>
              </a:rPr>
              <a:t>17</a:t>
            </a:r>
          </a:p>
        </p:txBody>
      </p:sp>
      <p:sp>
        <p:nvSpPr>
          <p:cNvPr id="124" name="Rectangle 123"/>
          <p:cNvSpPr/>
          <p:nvPr/>
        </p:nvSpPr>
        <p:spPr>
          <a:xfrm>
            <a:off x="4251960" y="3529584"/>
            <a:ext cx="219456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446520" y="3529584"/>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7452360" y="3529584"/>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297680" y="3557015"/>
            <a:ext cx="2121408" cy="201168"/>
          </a:xfrm>
          <a:prstGeom prst="rect">
            <a:avLst/>
          </a:prstGeom>
          <a:noFill/>
        </p:spPr>
        <p:txBody>
          <a:bodyPr wrap="square">
            <a:spAutoFit/>
          </a:bodyPr>
          <a:lstStyle/>
          <a:p>
            <a:pPr algn="l"/>
            <a:r>
              <a:rPr sz="800" b="0" i="0">
                <a:solidFill>
                  <a:srgbClr val="1A1A2E"/>
                </a:solidFill>
              </a:rPr>
              <a:t>personality</a:t>
            </a:r>
          </a:p>
        </p:txBody>
      </p:sp>
      <p:sp>
        <p:nvSpPr>
          <p:cNvPr id="128" name="TextBox 127"/>
          <p:cNvSpPr txBox="1"/>
          <p:nvPr/>
        </p:nvSpPr>
        <p:spPr>
          <a:xfrm>
            <a:off x="6473952" y="3557015"/>
            <a:ext cx="960120" cy="201168"/>
          </a:xfrm>
          <a:prstGeom prst="rect">
            <a:avLst/>
          </a:prstGeom>
          <a:noFill/>
        </p:spPr>
        <p:txBody>
          <a:bodyPr wrap="square">
            <a:spAutoFit/>
          </a:bodyPr>
          <a:lstStyle/>
          <a:p>
            <a:pPr algn="ctr"/>
            <a:r>
              <a:rPr sz="800" b="0" i="0">
                <a:solidFill>
                  <a:srgbClr val="1A1A2E"/>
                </a:solidFill>
              </a:rPr>
              <a:t>51,240</a:t>
            </a:r>
          </a:p>
        </p:txBody>
      </p:sp>
      <p:sp>
        <p:nvSpPr>
          <p:cNvPr id="129" name="TextBox 128"/>
          <p:cNvSpPr txBox="1"/>
          <p:nvPr/>
        </p:nvSpPr>
        <p:spPr>
          <a:xfrm>
            <a:off x="7479792" y="3557015"/>
            <a:ext cx="594359" cy="201168"/>
          </a:xfrm>
          <a:prstGeom prst="rect">
            <a:avLst/>
          </a:prstGeom>
          <a:noFill/>
        </p:spPr>
        <p:txBody>
          <a:bodyPr wrap="square">
            <a:spAutoFit/>
          </a:bodyPr>
          <a:lstStyle/>
          <a:p>
            <a:pPr algn="ctr"/>
            <a:r>
              <a:rPr sz="800" b="0" i="0">
                <a:solidFill>
                  <a:srgbClr val="1A1A2E"/>
                </a:solidFill>
              </a:rPr>
              <a:t>16</a:t>
            </a:r>
          </a:p>
        </p:txBody>
      </p:sp>
      <p:sp>
        <p:nvSpPr>
          <p:cNvPr id="130" name="Rectangle 129"/>
          <p:cNvSpPr/>
          <p:nvPr/>
        </p:nvSpPr>
        <p:spPr>
          <a:xfrm>
            <a:off x="4251960" y="3771900"/>
            <a:ext cx="219456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446520" y="3771900"/>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452360" y="3771900"/>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297680" y="3799331"/>
            <a:ext cx="2121408" cy="201168"/>
          </a:xfrm>
          <a:prstGeom prst="rect">
            <a:avLst/>
          </a:prstGeom>
          <a:noFill/>
        </p:spPr>
        <p:txBody>
          <a:bodyPr wrap="square">
            <a:spAutoFit/>
          </a:bodyPr>
          <a:lstStyle/>
          <a:p>
            <a:pPr algn="l"/>
            <a:r>
              <a:rPr sz="800" b="0" i="0">
                <a:solidFill>
                  <a:srgbClr val="1A1A2E"/>
                </a:solidFill>
              </a:rPr>
              <a:t>advertisement</a:t>
            </a:r>
          </a:p>
        </p:txBody>
      </p:sp>
      <p:sp>
        <p:nvSpPr>
          <p:cNvPr id="134" name="TextBox 133"/>
          <p:cNvSpPr txBox="1"/>
          <p:nvPr/>
        </p:nvSpPr>
        <p:spPr>
          <a:xfrm>
            <a:off x="6473952" y="3799331"/>
            <a:ext cx="960120" cy="201168"/>
          </a:xfrm>
          <a:prstGeom prst="rect">
            <a:avLst/>
          </a:prstGeom>
          <a:noFill/>
        </p:spPr>
        <p:txBody>
          <a:bodyPr wrap="square">
            <a:spAutoFit/>
          </a:bodyPr>
          <a:lstStyle/>
          <a:p>
            <a:pPr algn="ctr"/>
            <a:r>
              <a:rPr sz="800" b="0" i="0">
                <a:solidFill>
                  <a:srgbClr val="1A1A2E"/>
                </a:solidFill>
              </a:rPr>
              <a:t>49,940</a:t>
            </a:r>
          </a:p>
        </p:txBody>
      </p:sp>
      <p:sp>
        <p:nvSpPr>
          <p:cNvPr id="135" name="TextBox 134"/>
          <p:cNvSpPr txBox="1"/>
          <p:nvPr/>
        </p:nvSpPr>
        <p:spPr>
          <a:xfrm>
            <a:off x="7479792" y="3799331"/>
            <a:ext cx="594359" cy="201168"/>
          </a:xfrm>
          <a:prstGeom prst="rect">
            <a:avLst/>
          </a:prstGeom>
          <a:noFill/>
        </p:spPr>
        <p:txBody>
          <a:bodyPr wrap="square">
            <a:spAutoFit/>
          </a:bodyPr>
          <a:lstStyle/>
          <a:p>
            <a:pPr algn="ctr"/>
            <a:r>
              <a:rPr sz="800" b="0" i="0">
                <a:solidFill>
                  <a:srgbClr val="1A1A2E"/>
                </a:solidFill>
              </a:rPr>
              <a:t>16</a:t>
            </a:r>
          </a:p>
        </p:txBody>
      </p:sp>
      <p:sp>
        <p:nvSpPr>
          <p:cNvPr id="136" name="Rectangle 135"/>
          <p:cNvSpPr/>
          <p:nvPr/>
        </p:nvSpPr>
        <p:spPr>
          <a:xfrm>
            <a:off x="4251960" y="4014216"/>
            <a:ext cx="219456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446520" y="4014216"/>
            <a:ext cx="10058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452360" y="4014216"/>
            <a:ext cx="64008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297680" y="4041648"/>
            <a:ext cx="2121408" cy="201168"/>
          </a:xfrm>
          <a:prstGeom prst="rect">
            <a:avLst/>
          </a:prstGeom>
          <a:noFill/>
        </p:spPr>
        <p:txBody>
          <a:bodyPr wrap="square">
            <a:spAutoFit/>
          </a:bodyPr>
          <a:lstStyle/>
          <a:p>
            <a:pPr algn="l"/>
            <a:r>
              <a:rPr sz="800" b="0" i="0">
                <a:solidFill>
                  <a:srgbClr val="1A1A2E"/>
                </a:solidFill>
              </a:rPr>
              <a:t>ctc</a:t>
            </a:r>
          </a:p>
        </p:txBody>
      </p:sp>
      <p:sp>
        <p:nvSpPr>
          <p:cNvPr id="140" name="TextBox 139"/>
          <p:cNvSpPr txBox="1"/>
          <p:nvPr/>
        </p:nvSpPr>
        <p:spPr>
          <a:xfrm>
            <a:off x="6473952" y="4041648"/>
            <a:ext cx="960120" cy="201168"/>
          </a:xfrm>
          <a:prstGeom prst="rect">
            <a:avLst/>
          </a:prstGeom>
          <a:noFill/>
        </p:spPr>
        <p:txBody>
          <a:bodyPr wrap="square">
            <a:spAutoFit/>
          </a:bodyPr>
          <a:lstStyle/>
          <a:p>
            <a:pPr algn="ctr"/>
            <a:r>
              <a:rPr sz="800" b="0" i="0">
                <a:solidFill>
                  <a:srgbClr val="1A1A2E"/>
                </a:solidFill>
              </a:rPr>
              <a:t>46,750</a:t>
            </a:r>
          </a:p>
        </p:txBody>
      </p:sp>
      <p:sp>
        <p:nvSpPr>
          <p:cNvPr id="141" name="TextBox 140"/>
          <p:cNvSpPr txBox="1"/>
          <p:nvPr/>
        </p:nvSpPr>
        <p:spPr>
          <a:xfrm>
            <a:off x="7479792" y="4041648"/>
            <a:ext cx="594359" cy="201168"/>
          </a:xfrm>
          <a:prstGeom prst="rect">
            <a:avLst/>
          </a:prstGeom>
          <a:noFill/>
        </p:spPr>
        <p:txBody>
          <a:bodyPr wrap="square">
            <a:spAutoFit/>
          </a:bodyPr>
          <a:lstStyle/>
          <a:p>
            <a:pPr algn="ctr"/>
            <a:r>
              <a:rPr sz="800" b="0" i="0">
                <a:solidFill>
                  <a:srgbClr val="1A1A2E"/>
                </a:solidFill>
              </a:rPr>
              <a:t>18</a:t>
            </a:r>
          </a:p>
        </p:txBody>
      </p:sp>
      <p:sp>
        <p:nvSpPr>
          <p:cNvPr id="142" name="Rectangle 141"/>
          <p:cNvSpPr/>
          <p:nvPr/>
        </p:nvSpPr>
        <p:spPr>
          <a:xfrm>
            <a:off x="4251960" y="4256532"/>
            <a:ext cx="219456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6446520" y="4256532"/>
            <a:ext cx="10058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452360" y="4256532"/>
            <a:ext cx="64008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297680" y="4283964"/>
            <a:ext cx="2121408" cy="201168"/>
          </a:xfrm>
          <a:prstGeom prst="rect">
            <a:avLst/>
          </a:prstGeom>
          <a:noFill/>
        </p:spPr>
        <p:txBody>
          <a:bodyPr wrap="square">
            <a:spAutoFit/>
          </a:bodyPr>
          <a:lstStyle/>
          <a:p>
            <a:pPr algn="l"/>
            <a:r>
              <a:rPr sz="800" b="0" i="0">
                <a:solidFill>
                  <a:srgbClr val="1A1A2E"/>
                </a:solidFill>
              </a:rPr>
              <a:t>civil engineering</a:t>
            </a:r>
          </a:p>
        </p:txBody>
      </p:sp>
      <p:sp>
        <p:nvSpPr>
          <p:cNvPr id="146" name="TextBox 145"/>
          <p:cNvSpPr txBox="1"/>
          <p:nvPr/>
        </p:nvSpPr>
        <p:spPr>
          <a:xfrm>
            <a:off x="6473952" y="4283964"/>
            <a:ext cx="960120" cy="201168"/>
          </a:xfrm>
          <a:prstGeom prst="rect">
            <a:avLst/>
          </a:prstGeom>
          <a:noFill/>
        </p:spPr>
        <p:txBody>
          <a:bodyPr wrap="square">
            <a:spAutoFit/>
          </a:bodyPr>
          <a:lstStyle/>
          <a:p>
            <a:pPr algn="ctr"/>
            <a:r>
              <a:rPr sz="800" b="0" i="0">
                <a:solidFill>
                  <a:srgbClr val="1A1A2E"/>
                </a:solidFill>
              </a:rPr>
              <a:t>64,090</a:t>
            </a:r>
          </a:p>
        </p:txBody>
      </p:sp>
      <p:sp>
        <p:nvSpPr>
          <p:cNvPr id="147" name="TextBox 146"/>
          <p:cNvSpPr txBox="1"/>
          <p:nvPr/>
        </p:nvSpPr>
        <p:spPr>
          <a:xfrm>
            <a:off x="7479792" y="4283964"/>
            <a:ext cx="594359" cy="201168"/>
          </a:xfrm>
          <a:prstGeom prst="rect">
            <a:avLst/>
          </a:prstGeom>
          <a:noFill/>
        </p:spPr>
        <p:txBody>
          <a:bodyPr wrap="square">
            <a:spAutoFit/>
          </a:bodyPr>
          <a:lstStyle/>
          <a:p>
            <a:pPr algn="ctr"/>
            <a:r>
              <a:rPr sz="800" b="0" i="0">
                <a:solidFill>
                  <a:srgbClr val="1A1A2E"/>
                </a:solidFill>
              </a:rPr>
              <a:t>15</a:t>
            </a:r>
          </a:p>
        </p:txBody>
      </p:sp>
      <p:sp>
        <p:nvSpPr>
          <p:cNvPr id="148" name="Rectangle 147"/>
          <p:cNvSpPr/>
          <p:nvPr/>
        </p:nvSpPr>
        <p:spPr>
          <a:xfrm>
            <a:off x="8366760" y="1828800"/>
            <a:ext cx="192024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8412480" y="1856231"/>
            <a:ext cx="1847088" cy="201168"/>
          </a:xfrm>
          <a:prstGeom prst="rect">
            <a:avLst/>
          </a:prstGeom>
          <a:noFill/>
        </p:spPr>
        <p:txBody>
          <a:bodyPr wrap="square">
            <a:spAutoFit/>
          </a:bodyPr>
          <a:lstStyle/>
          <a:p>
            <a:pPr algn="l"/>
            <a:r>
              <a:rPr sz="800" b="1" i="0">
                <a:solidFill>
                  <a:srgbClr val="FFFFFF"/>
                </a:solidFill>
              </a:rPr>
              <a:t>Keyword</a:t>
            </a:r>
          </a:p>
        </p:txBody>
      </p:sp>
      <p:sp>
        <p:nvSpPr>
          <p:cNvPr id="150" name="Rectangle 149"/>
          <p:cNvSpPr/>
          <p:nvPr/>
        </p:nvSpPr>
        <p:spPr>
          <a:xfrm>
            <a:off x="10287000" y="1828800"/>
            <a:ext cx="91440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314432" y="1856231"/>
            <a:ext cx="868680" cy="201168"/>
          </a:xfrm>
          <a:prstGeom prst="rect">
            <a:avLst/>
          </a:prstGeom>
          <a:noFill/>
        </p:spPr>
        <p:txBody>
          <a:bodyPr wrap="square">
            <a:spAutoFit/>
          </a:bodyPr>
          <a:lstStyle/>
          <a:p>
            <a:pPr algn="ctr"/>
            <a:r>
              <a:rPr sz="800" b="1" i="0">
                <a:solidFill>
                  <a:srgbClr val="FFFFFF"/>
                </a:solidFill>
              </a:rPr>
              <a:t>Volume</a:t>
            </a:r>
          </a:p>
        </p:txBody>
      </p:sp>
      <p:sp>
        <p:nvSpPr>
          <p:cNvPr id="152" name="Rectangle 151"/>
          <p:cNvSpPr/>
          <p:nvPr/>
        </p:nvSpPr>
        <p:spPr>
          <a:xfrm>
            <a:off x="11201400" y="1828800"/>
            <a:ext cx="914400" cy="24688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1228832" y="1856231"/>
            <a:ext cx="868680" cy="201168"/>
          </a:xfrm>
          <a:prstGeom prst="rect">
            <a:avLst/>
          </a:prstGeom>
          <a:noFill/>
        </p:spPr>
        <p:txBody>
          <a:bodyPr wrap="square">
            <a:spAutoFit/>
          </a:bodyPr>
          <a:lstStyle/>
          <a:p>
            <a:pPr algn="ctr"/>
            <a:r>
              <a:rPr sz="800" b="1" i="0">
                <a:solidFill>
                  <a:srgbClr val="FFFFFF"/>
                </a:solidFill>
              </a:rPr>
              <a:t>Best Comp.</a:t>
            </a:r>
          </a:p>
        </p:txBody>
      </p:sp>
      <p:sp>
        <p:nvSpPr>
          <p:cNvPr id="154" name="Rectangle 153"/>
          <p:cNvSpPr/>
          <p:nvPr/>
        </p:nvSpPr>
        <p:spPr>
          <a:xfrm>
            <a:off x="8366760" y="2075688"/>
            <a:ext cx="19202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0287000" y="2075688"/>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1201400" y="2075688"/>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412480" y="2103120"/>
            <a:ext cx="1847088" cy="201168"/>
          </a:xfrm>
          <a:prstGeom prst="rect">
            <a:avLst/>
          </a:prstGeom>
          <a:noFill/>
        </p:spPr>
        <p:txBody>
          <a:bodyPr wrap="square">
            <a:spAutoFit/>
          </a:bodyPr>
          <a:lstStyle/>
          <a:p>
            <a:pPr algn="l"/>
            <a:r>
              <a:rPr sz="800" b="0" i="0">
                <a:solidFill>
                  <a:srgbClr val="1A1A2E"/>
                </a:solidFill>
              </a:rPr>
              <a:t>resume</a:t>
            </a:r>
          </a:p>
        </p:txBody>
      </p:sp>
      <p:sp>
        <p:nvSpPr>
          <p:cNvPr id="158" name="TextBox 157"/>
          <p:cNvSpPr txBox="1"/>
          <p:nvPr/>
        </p:nvSpPr>
        <p:spPr>
          <a:xfrm>
            <a:off x="10314432" y="2103120"/>
            <a:ext cx="868680" cy="201168"/>
          </a:xfrm>
          <a:prstGeom prst="rect">
            <a:avLst/>
          </a:prstGeom>
          <a:noFill/>
        </p:spPr>
        <p:txBody>
          <a:bodyPr wrap="square">
            <a:spAutoFit/>
          </a:bodyPr>
          <a:lstStyle/>
          <a:p>
            <a:pPr algn="ctr"/>
            <a:r>
              <a:rPr sz="800" b="0" i="0">
                <a:solidFill>
                  <a:srgbClr val="1A1A2E"/>
                </a:solidFill>
              </a:rPr>
              <a:t>258,440</a:t>
            </a:r>
          </a:p>
        </p:txBody>
      </p:sp>
      <p:sp>
        <p:nvSpPr>
          <p:cNvPr id="159" name="TextBox 158"/>
          <p:cNvSpPr txBox="1"/>
          <p:nvPr/>
        </p:nvSpPr>
        <p:spPr>
          <a:xfrm>
            <a:off x="11228832" y="2103120"/>
            <a:ext cx="868680" cy="201168"/>
          </a:xfrm>
          <a:prstGeom prst="rect">
            <a:avLst/>
          </a:prstGeom>
          <a:noFill/>
        </p:spPr>
        <p:txBody>
          <a:bodyPr wrap="square">
            <a:spAutoFit/>
          </a:bodyPr>
          <a:lstStyle/>
          <a:p>
            <a:pPr algn="ctr"/>
            <a:r>
              <a:rPr sz="800" b="0" i="0">
                <a:solidFill>
                  <a:srgbClr val="1A1A2E"/>
                </a:solidFill>
              </a:rPr>
              <a:t>Indeed</a:t>
            </a:r>
          </a:p>
        </p:txBody>
      </p:sp>
      <p:sp>
        <p:nvSpPr>
          <p:cNvPr id="160" name="Rectangle 159"/>
          <p:cNvSpPr/>
          <p:nvPr/>
        </p:nvSpPr>
        <p:spPr>
          <a:xfrm>
            <a:off x="8366760" y="2318004"/>
            <a:ext cx="19202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0287000" y="2318004"/>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201400" y="2318004"/>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412480" y="2345436"/>
            <a:ext cx="1847088" cy="201168"/>
          </a:xfrm>
          <a:prstGeom prst="rect">
            <a:avLst/>
          </a:prstGeom>
          <a:noFill/>
        </p:spPr>
        <p:txBody>
          <a:bodyPr wrap="square">
            <a:spAutoFit/>
          </a:bodyPr>
          <a:lstStyle/>
          <a:p>
            <a:pPr algn="l"/>
            <a:r>
              <a:rPr sz="800" b="0" i="0">
                <a:solidFill>
                  <a:srgbClr val="1A1A2E"/>
                </a:solidFill>
              </a:rPr>
              <a:t>resume maker</a:t>
            </a:r>
          </a:p>
        </p:txBody>
      </p:sp>
      <p:sp>
        <p:nvSpPr>
          <p:cNvPr id="164" name="TextBox 163"/>
          <p:cNvSpPr txBox="1"/>
          <p:nvPr/>
        </p:nvSpPr>
        <p:spPr>
          <a:xfrm>
            <a:off x="10314432" y="2345436"/>
            <a:ext cx="868680" cy="201168"/>
          </a:xfrm>
          <a:prstGeom prst="rect">
            <a:avLst/>
          </a:prstGeom>
          <a:noFill/>
        </p:spPr>
        <p:txBody>
          <a:bodyPr wrap="square">
            <a:spAutoFit/>
          </a:bodyPr>
          <a:lstStyle/>
          <a:p>
            <a:pPr algn="ctr"/>
            <a:r>
              <a:rPr sz="800" b="0" i="0">
                <a:solidFill>
                  <a:srgbClr val="1A1A2E"/>
                </a:solidFill>
              </a:rPr>
              <a:t>247,060</a:t>
            </a:r>
          </a:p>
        </p:txBody>
      </p:sp>
      <p:sp>
        <p:nvSpPr>
          <p:cNvPr id="165" name="TextBox 164"/>
          <p:cNvSpPr txBox="1"/>
          <p:nvPr/>
        </p:nvSpPr>
        <p:spPr>
          <a:xfrm>
            <a:off x="11228832" y="2345436"/>
            <a:ext cx="868680" cy="201168"/>
          </a:xfrm>
          <a:prstGeom prst="rect">
            <a:avLst/>
          </a:prstGeom>
          <a:noFill/>
        </p:spPr>
        <p:txBody>
          <a:bodyPr wrap="square">
            <a:spAutoFit/>
          </a:bodyPr>
          <a:lstStyle/>
          <a:p>
            <a:pPr algn="ctr"/>
            <a:r>
              <a:rPr sz="800" b="0" i="0">
                <a:solidFill>
                  <a:srgbClr val="1A1A2E"/>
                </a:solidFill>
              </a:rPr>
              <a:t>Resume.io</a:t>
            </a:r>
          </a:p>
        </p:txBody>
      </p:sp>
      <p:sp>
        <p:nvSpPr>
          <p:cNvPr id="166" name="Rectangle 165"/>
          <p:cNvSpPr/>
          <p:nvPr/>
        </p:nvSpPr>
        <p:spPr>
          <a:xfrm>
            <a:off x="8366760" y="2560320"/>
            <a:ext cx="19202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0287000" y="2560320"/>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1201400" y="2560320"/>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412480" y="2587752"/>
            <a:ext cx="1847088" cy="201168"/>
          </a:xfrm>
          <a:prstGeom prst="rect">
            <a:avLst/>
          </a:prstGeom>
          <a:noFill/>
        </p:spPr>
        <p:txBody>
          <a:bodyPr wrap="square">
            <a:spAutoFit/>
          </a:bodyPr>
          <a:lstStyle/>
          <a:p>
            <a:pPr algn="l"/>
            <a:r>
              <a:rPr sz="800" b="0" i="0">
                <a:solidFill>
                  <a:srgbClr val="1A1A2E"/>
                </a:solidFill>
              </a:rPr>
              <a:t>polytechnic</a:t>
            </a:r>
          </a:p>
        </p:txBody>
      </p:sp>
      <p:sp>
        <p:nvSpPr>
          <p:cNvPr id="170" name="TextBox 169"/>
          <p:cNvSpPr txBox="1"/>
          <p:nvPr/>
        </p:nvSpPr>
        <p:spPr>
          <a:xfrm>
            <a:off x="10314432" y="2587752"/>
            <a:ext cx="868680" cy="201168"/>
          </a:xfrm>
          <a:prstGeom prst="rect">
            <a:avLst/>
          </a:prstGeom>
          <a:noFill/>
        </p:spPr>
        <p:txBody>
          <a:bodyPr wrap="square">
            <a:spAutoFit/>
          </a:bodyPr>
          <a:lstStyle/>
          <a:p>
            <a:pPr algn="ctr"/>
            <a:r>
              <a:rPr sz="800" b="0" i="0">
                <a:solidFill>
                  <a:srgbClr val="1A1A2E"/>
                </a:solidFill>
              </a:rPr>
              <a:t>153,060</a:t>
            </a:r>
          </a:p>
        </p:txBody>
      </p:sp>
      <p:sp>
        <p:nvSpPr>
          <p:cNvPr id="171" name="TextBox 170"/>
          <p:cNvSpPr txBox="1"/>
          <p:nvPr/>
        </p:nvSpPr>
        <p:spPr>
          <a:xfrm>
            <a:off x="11228832" y="2587752"/>
            <a:ext cx="868680" cy="201168"/>
          </a:xfrm>
          <a:prstGeom prst="rect">
            <a:avLst/>
          </a:prstGeom>
          <a:noFill/>
        </p:spPr>
        <p:txBody>
          <a:bodyPr wrap="square">
            <a:spAutoFit/>
          </a:bodyPr>
          <a:lstStyle/>
          <a:p>
            <a:pPr algn="ctr"/>
            <a:r>
              <a:rPr sz="800" b="0" i="0">
                <a:solidFill>
                  <a:srgbClr val="1A1A2E"/>
                </a:solidFill>
              </a:rPr>
              <a:t>Indeed</a:t>
            </a:r>
          </a:p>
        </p:txBody>
      </p:sp>
      <p:sp>
        <p:nvSpPr>
          <p:cNvPr id="172" name="Rectangle 171"/>
          <p:cNvSpPr/>
          <p:nvPr/>
        </p:nvSpPr>
        <p:spPr>
          <a:xfrm>
            <a:off x="8366760" y="2802636"/>
            <a:ext cx="19202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0287000" y="2802636"/>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1201400" y="2802636"/>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8412480" y="2830068"/>
            <a:ext cx="1847088" cy="201168"/>
          </a:xfrm>
          <a:prstGeom prst="rect">
            <a:avLst/>
          </a:prstGeom>
          <a:noFill/>
        </p:spPr>
        <p:txBody>
          <a:bodyPr wrap="square">
            <a:spAutoFit/>
          </a:bodyPr>
          <a:lstStyle/>
          <a:p>
            <a:pPr algn="l"/>
            <a:r>
              <a:rPr sz="800" b="0" i="0">
                <a:solidFill>
                  <a:srgbClr val="1A1A2E"/>
                </a:solidFill>
              </a:rPr>
              <a:t>gdp full form</a:t>
            </a:r>
          </a:p>
        </p:txBody>
      </p:sp>
      <p:sp>
        <p:nvSpPr>
          <p:cNvPr id="176" name="TextBox 175"/>
          <p:cNvSpPr txBox="1"/>
          <p:nvPr/>
        </p:nvSpPr>
        <p:spPr>
          <a:xfrm>
            <a:off x="10314432" y="2830068"/>
            <a:ext cx="868680" cy="201168"/>
          </a:xfrm>
          <a:prstGeom prst="rect">
            <a:avLst/>
          </a:prstGeom>
          <a:noFill/>
        </p:spPr>
        <p:txBody>
          <a:bodyPr wrap="square">
            <a:spAutoFit/>
          </a:bodyPr>
          <a:lstStyle/>
          <a:p>
            <a:pPr algn="ctr"/>
            <a:r>
              <a:rPr sz="800" b="0" i="0">
                <a:solidFill>
                  <a:srgbClr val="1A1A2E"/>
                </a:solidFill>
              </a:rPr>
              <a:t>101,320</a:t>
            </a:r>
          </a:p>
        </p:txBody>
      </p:sp>
      <p:sp>
        <p:nvSpPr>
          <p:cNvPr id="177" name="TextBox 176"/>
          <p:cNvSpPr txBox="1"/>
          <p:nvPr/>
        </p:nvSpPr>
        <p:spPr>
          <a:xfrm>
            <a:off x="11228832" y="2830068"/>
            <a:ext cx="868680" cy="201168"/>
          </a:xfrm>
          <a:prstGeom prst="rect">
            <a:avLst/>
          </a:prstGeom>
          <a:noFill/>
        </p:spPr>
        <p:txBody>
          <a:bodyPr wrap="square">
            <a:spAutoFit/>
          </a:bodyPr>
          <a:lstStyle/>
          <a:p>
            <a:pPr algn="ctr"/>
            <a:r>
              <a:rPr sz="800" b="0" i="0">
                <a:solidFill>
                  <a:srgbClr val="1A1A2E"/>
                </a:solidFill>
              </a:rPr>
              <a:t>Indeed</a:t>
            </a:r>
          </a:p>
        </p:txBody>
      </p:sp>
      <p:sp>
        <p:nvSpPr>
          <p:cNvPr id="178" name="Rectangle 177"/>
          <p:cNvSpPr/>
          <p:nvPr/>
        </p:nvSpPr>
        <p:spPr>
          <a:xfrm>
            <a:off x="8366760" y="3044952"/>
            <a:ext cx="19202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0287000" y="3044952"/>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1201400" y="3044952"/>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412480" y="3072384"/>
            <a:ext cx="1847088" cy="201168"/>
          </a:xfrm>
          <a:prstGeom prst="rect">
            <a:avLst/>
          </a:prstGeom>
          <a:noFill/>
        </p:spPr>
        <p:txBody>
          <a:bodyPr wrap="square">
            <a:spAutoFit/>
          </a:bodyPr>
          <a:lstStyle/>
          <a:p>
            <a:pPr algn="l"/>
            <a:r>
              <a:rPr sz="800" b="0" i="0">
                <a:solidFill>
                  <a:srgbClr val="1A1A2E"/>
                </a:solidFill>
              </a:rPr>
              <a:t>resume builder</a:t>
            </a:r>
          </a:p>
        </p:txBody>
      </p:sp>
      <p:sp>
        <p:nvSpPr>
          <p:cNvPr id="182" name="TextBox 181"/>
          <p:cNvSpPr txBox="1"/>
          <p:nvPr/>
        </p:nvSpPr>
        <p:spPr>
          <a:xfrm>
            <a:off x="10314432" y="3072384"/>
            <a:ext cx="868680" cy="201168"/>
          </a:xfrm>
          <a:prstGeom prst="rect">
            <a:avLst/>
          </a:prstGeom>
          <a:noFill/>
        </p:spPr>
        <p:txBody>
          <a:bodyPr wrap="square">
            <a:spAutoFit/>
          </a:bodyPr>
          <a:lstStyle/>
          <a:p>
            <a:pPr algn="ctr"/>
            <a:r>
              <a:rPr sz="800" b="0" i="0">
                <a:solidFill>
                  <a:srgbClr val="1A1A2E"/>
                </a:solidFill>
              </a:rPr>
              <a:t>95,190</a:t>
            </a:r>
          </a:p>
        </p:txBody>
      </p:sp>
      <p:sp>
        <p:nvSpPr>
          <p:cNvPr id="183" name="TextBox 182"/>
          <p:cNvSpPr txBox="1"/>
          <p:nvPr/>
        </p:nvSpPr>
        <p:spPr>
          <a:xfrm>
            <a:off x="11228832" y="3072384"/>
            <a:ext cx="868680" cy="201168"/>
          </a:xfrm>
          <a:prstGeom prst="rect">
            <a:avLst/>
          </a:prstGeom>
          <a:noFill/>
        </p:spPr>
        <p:txBody>
          <a:bodyPr wrap="square">
            <a:spAutoFit/>
          </a:bodyPr>
          <a:lstStyle/>
          <a:p>
            <a:pPr algn="ctr"/>
            <a:r>
              <a:rPr sz="800" b="0" i="0">
                <a:solidFill>
                  <a:srgbClr val="1A1A2E"/>
                </a:solidFill>
              </a:rPr>
              <a:t>Resume.io</a:t>
            </a:r>
          </a:p>
        </p:txBody>
      </p:sp>
      <p:sp>
        <p:nvSpPr>
          <p:cNvPr id="184" name="Rectangle 183"/>
          <p:cNvSpPr/>
          <p:nvPr/>
        </p:nvSpPr>
        <p:spPr>
          <a:xfrm>
            <a:off x="8366760" y="3287268"/>
            <a:ext cx="19202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87000" y="3287268"/>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1201400" y="3287268"/>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412480" y="3314700"/>
            <a:ext cx="1847088" cy="201168"/>
          </a:xfrm>
          <a:prstGeom prst="rect">
            <a:avLst/>
          </a:prstGeom>
          <a:noFill/>
        </p:spPr>
        <p:txBody>
          <a:bodyPr wrap="square">
            <a:spAutoFit/>
          </a:bodyPr>
          <a:lstStyle/>
          <a:p>
            <a:pPr algn="l"/>
            <a:r>
              <a:rPr sz="800" b="0" i="0">
                <a:solidFill>
                  <a:srgbClr val="1A1A2E"/>
                </a:solidFill>
              </a:rPr>
              <a:t>flowcv</a:t>
            </a:r>
          </a:p>
        </p:txBody>
      </p:sp>
      <p:sp>
        <p:nvSpPr>
          <p:cNvPr id="188" name="TextBox 187"/>
          <p:cNvSpPr txBox="1"/>
          <p:nvPr/>
        </p:nvSpPr>
        <p:spPr>
          <a:xfrm>
            <a:off x="10314432" y="3314700"/>
            <a:ext cx="868680" cy="201168"/>
          </a:xfrm>
          <a:prstGeom prst="rect">
            <a:avLst/>
          </a:prstGeom>
          <a:noFill/>
        </p:spPr>
        <p:txBody>
          <a:bodyPr wrap="square">
            <a:spAutoFit/>
          </a:bodyPr>
          <a:lstStyle/>
          <a:p>
            <a:pPr algn="ctr"/>
            <a:r>
              <a:rPr sz="800" b="0" i="0">
                <a:solidFill>
                  <a:srgbClr val="1A1A2E"/>
                </a:solidFill>
              </a:rPr>
              <a:t>87,740</a:t>
            </a:r>
          </a:p>
        </p:txBody>
      </p:sp>
      <p:sp>
        <p:nvSpPr>
          <p:cNvPr id="189" name="TextBox 188"/>
          <p:cNvSpPr txBox="1"/>
          <p:nvPr/>
        </p:nvSpPr>
        <p:spPr>
          <a:xfrm>
            <a:off x="11228832" y="3314700"/>
            <a:ext cx="868680" cy="201168"/>
          </a:xfrm>
          <a:prstGeom prst="rect">
            <a:avLst/>
          </a:prstGeom>
          <a:noFill/>
        </p:spPr>
        <p:txBody>
          <a:bodyPr wrap="square">
            <a:spAutoFit/>
          </a:bodyPr>
          <a:lstStyle/>
          <a:p>
            <a:pPr algn="ctr"/>
            <a:r>
              <a:rPr sz="800" b="0" i="0">
                <a:solidFill>
                  <a:srgbClr val="1A1A2E"/>
                </a:solidFill>
              </a:rPr>
              <a:t>Novoresume</a:t>
            </a:r>
          </a:p>
        </p:txBody>
      </p:sp>
      <p:sp>
        <p:nvSpPr>
          <p:cNvPr id="190" name="Rectangle 189"/>
          <p:cNvSpPr/>
          <p:nvPr/>
        </p:nvSpPr>
        <p:spPr>
          <a:xfrm>
            <a:off x="8366760" y="3529584"/>
            <a:ext cx="19202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0287000" y="3529584"/>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1201400" y="3529584"/>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412480" y="3557015"/>
            <a:ext cx="1847088" cy="201168"/>
          </a:xfrm>
          <a:prstGeom prst="rect">
            <a:avLst/>
          </a:prstGeom>
          <a:noFill/>
        </p:spPr>
        <p:txBody>
          <a:bodyPr wrap="square">
            <a:spAutoFit/>
          </a:bodyPr>
          <a:lstStyle/>
          <a:p>
            <a:pPr algn="l"/>
            <a:r>
              <a:rPr sz="800" b="0" i="0">
                <a:solidFill>
                  <a:srgbClr val="1A1A2E"/>
                </a:solidFill>
              </a:rPr>
              <a:t>excise department</a:t>
            </a:r>
          </a:p>
        </p:txBody>
      </p:sp>
      <p:sp>
        <p:nvSpPr>
          <p:cNvPr id="194" name="TextBox 193"/>
          <p:cNvSpPr txBox="1"/>
          <p:nvPr/>
        </p:nvSpPr>
        <p:spPr>
          <a:xfrm>
            <a:off x="10314432" y="3557015"/>
            <a:ext cx="868680" cy="201168"/>
          </a:xfrm>
          <a:prstGeom prst="rect">
            <a:avLst/>
          </a:prstGeom>
          <a:noFill/>
        </p:spPr>
        <p:txBody>
          <a:bodyPr wrap="square">
            <a:spAutoFit/>
          </a:bodyPr>
          <a:lstStyle/>
          <a:p>
            <a:pPr algn="ctr"/>
            <a:r>
              <a:rPr sz="800" b="0" i="0">
                <a:solidFill>
                  <a:srgbClr val="1A1A2E"/>
                </a:solidFill>
              </a:rPr>
              <a:t>77,260</a:t>
            </a:r>
          </a:p>
        </p:txBody>
      </p:sp>
      <p:sp>
        <p:nvSpPr>
          <p:cNvPr id="195" name="TextBox 194"/>
          <p:cNvSpPr txBox="1"/>
          <p:nvPr/>
        </p:nvSpPr>
        <p:spPr>
          <a:xfrm>
            <a:off x="11228832" y="3557015"/>
            <a:ext cx="868680" cy="201168"/>
          </a:xfrm>
          <a:prstGeom prst="rect">
            <a:avLst/>
          </a:prstGeom>
          <a:noFill/>
        </p:spPr>
        <p:txBody>
          <a:bodyPr wrap="square">
            <a:spAutoFit/>
          </a:bodyPr>
          <a:lstStyle/>
          <a:p>
            <a:pPr algn="ctr"/>
            <a:r>
              <a:rPr sz="800" b="0" i="0">
                <a:solidFill>
                  <a:srgbClr val="1A1A2E"/>
                </a:solidFill>
              </a:rPr>
              <a:t>Indeed</a:t>
            </a:r>
          </a:p>
        </p:txBody>
      </p:sp>
      <p:sp>
        <p:nvSpPr>
          <p:cNvPr id="196" name="Rectangle 195"/>
          <p:cNvSpPr/>
          <p:nvPr/>
        </p:nvSpPr>
        <p:spPr>
          <a:xfrm>
            <a:off x="8366760" y="3771900"/>
            <a:ext cx="19202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0287000" y="3771900"/>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1201400" y="3771900"/>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8412480" y="3799331"/>
            <a:ext cx="1847088" cy="201168"/>
          </a:xfrm>
          <a:prstGeom prst="rect">
            <a:avLst/>
          </a:prstGeom>
          <a:noFill/>
        </p:spPr>
        <p:txBody>
          <a:bodyPr wrap="square">
            <a:spAutoFit/>
          </a:bodyPr>
          <a:lstStyle/>
          <a:p>
            <a:pPr algn="l"/>
            <a:r>
              <a:rPr sz="800" b="0" i="0">
                <a:solidFill>
                  <a:srgbClr val="1A1A2E"/>
                </a:solidFill>
              </a:rPr>
              <a:t>cv maker</a:t>
            </a:r>
          </a:p>
        </p:txBody>
      </p:sp>
      <p:sp>
        <p:nvSpPr>
          <p:cNvPr id="200" name="TextBox 199"/>
          <p:cNvSpPr txBox="1"/>
          <p:nvPr/>
        </p:nvSpPr>
        <p:spPr>
          <a:xfrm>
            <a:off x="10314432" y="3799331"/>
            <a:ext cx="868680" cy="201168"/>
          </a:xfrm>
          <a:prstGeom prst="rect">
            <a:avLst/>
          </a:prstGeom>
          <a:noFill/>
        </p:spPr>
        <p:txBody>
          <a:bodyPr wrap="square">
            <a:spAutoFit/>
          </a:bodyPr>
          <a:lstStyle/>
          <a:p>
            <a:pPr algn="ctr"/>
            <a:r>
              <a:rPr sz="800" b="0" i="0">
                <a:solidFill>
                  <a:srgbClr val="1A1A2E"/>
                </a:solidFill>
              </a:rPr>
              <a:t>76,590</a:t>
            </a:r>
          </a:p>
        </p:txBody>
      </p:sp>
      <p:sp>
        <p:nvSpPr>
          <p:cNvPr id="201" name="TextBox 200"/>
          <p:cNvSpPr txBox="1"/>
          <p:nvPr/>
        </p:nvSpPr>
        <p:spPr>
          <a:xfrm>
            <a:off x="11228832" y="3799331"/>
            <a:ext cx="868680" cy="201168"/>
          </a:xfrm>
          <a:prstGeom prst="rect">
            <a:avLst/>
          </a:prstGeom>
          <a:noFill/>
        </p:spPr>
        <p:txBody>
          <a:bodyPr wrap="square">
            <a:spAutoFit/>
          </a:bodyPr>
          <a:lstStyle/>
          <a:p>
            <a:pPr algn="ctr"/>
            <a:r>
              <a:rPr sz="800" b="0" i="0">
                <a:solidFill>
                  <a:srgbClr val="1A1A2E"/>
                </a:solidFill>
              </a:rPr>
              <a:t>Resume.io</a:t>
            </a:r>
          </a:p>
        </p:txBody>
      </p:sp>
      <p:sp>
        <p:nvSpPr>
          <p:cNvPr id="202" name="Rectangle 201"/>
          <p:cNvSpPr/>
          <p:nvPr/>
        </p:nvSpPr>
        <p:spPr>
          <a:xfrm>
            <a:off x="8366760" y="4014216"/>
            <a:ext cx="192024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0287000" y="4014216"/>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1201400" y="4014216"/>
            <a:ext cx="914400" cy="242316"/>
          </a:xfrm>
          <a:prstGeom prst="rect">
            <a:avLst/>
          </a:prstGeom>
          <a:solidFill>
            <a:srgbClr val="F4F8F4"/>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412480" y="4041648"/>
            <a:ext cx="1847088" cy="201168"/>
          </a:xfrm>
          <a:prstGeom prst="rect">
            <a:avLst/>
          </a:prstGeom>
          <a:noFill/>
        </p:spPr>
        <p:txBody>
          <a:bodyPr wrap="square">
            <a:spAutoFit/>
          </a:bodyPr>
          <a:lstStyle/>
          <a:p>
            <a:pPr algn="l"/>
            <a:r>
              <a:rPr sz="800" b="0" i="0">
                <a:solidFill>
                  <a:srgbClr val="1A1A2E"/>
                </a:solidFill>
              </a:rPr>
              <a:t>iti</a:t>
            </a:r>
          </a:p>
        </p:txBody>
      </p:sp>
      <p:sp>
        <p:nvSpPr>
          <p:cNvPr id="206" name="TextBox 205"/>
          <p:cNvSpPr txBox="1"/>
          <p:nvPr/>
        </p:nvSpPr>
        <p:spPr>
          <a:xfrm>
            <a:off x="10314432" y="4041648"/>
            <a:ext cx="868680" cy="201168"/>
          </a:xfrm>
          <a:prstGeom prst="rect">
            <a:avLst/>
          </a:prstGeom>
          <a:noFill/>
        </p:spPr>
        <p:txBody>
          <a:bodyPr wrap="square">
            <a:spAutoFit/>
          </a:bodyPr>
          <a:lstStyle/>
          <a:p>
            <a:pPr algn="ctr"/>
            <a:r>
              <a:rPr sz="800" b="0" i="0">
                <a:solidFill>
                  <a:srgbClr val="1A1A2E"/>
                </a:solidFill>
              </a:rPr>
              <a:t>72,500</a:t>
            </a:r>
          </a:p>
        </p:txBody>
      </p:sp>
      <p:sp>
        <p:nvSpPr>
          <p:cNvPr id="207" name="TextBox 206"/>
          <p:cNvSpPr txBox="1"/>
          <p:nvPr/>
        </p:nvSpPr>
        <p:spPr>
          <a:xfrm>
            <a:off x="11228832" y="4041648"/>
            <a:ext cx="868680" cy="201168"/>
          </a:xfrm>
          <a:prstGeom prst="rect">
            <a:avLst/>
          </a:prstGeom>
          <a:noFill/>
        </p:spPr>
        <p:txBody>
          <a:bodyPr wrap="square">
            <a:spAutoFit/>
          </a:bodyPr>
          <a:lstStyle/>
          <a:p>
            <a:pPr algn="ctr"/>
            <a:r>
              <a:rPr sz="800" b="0" i="0">
                <a:solidFill>
                  <a:srgbClr val="1A1A2E"/>
                </a:solidFill>
              </a:rPr>
              <a:t>Indeed</a:t>
            </a:r>
          </a:p>
        </p:txBody>
      </p:sp>
      <p:sp>
        <p:nvSpPr>
          <p:cNvPr id="208" name="Rectangle 207"/>
          <p:cNvSpPr/>
          <p:nvPr/>
        </p:nvSpPr>
        <p:spPr>
          <a:xfrm>
            <a:off x="8366760" y="4256532"/>
            <a:ext cx="192024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0287000" y="4256532"/>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201400" y="4256532"/>
            <a:ext cx="914400" cy="242316"/>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8412480" y="4283964"/>
            <a:ext cx="1847088" cy="201168"/>
          </a:xfrm>
          <a:prstGeom prst="rect">
            <a:avLst/>
          </a:prstGeom>
          <a:noFill/>
        </p:spPr>
        <p:txBody>
          <a:bodyPr wrap="square">
            <a:spAutoFit/>
          </a:bodyPr>
          <a:lstStyle/>
          <a:p>
            <a:pPr algn="l"/>
            <a:r>
              <a:rPr sz="800" b="0" i="0">
                <a:solidFill>
                  <a:srgbClr val="1A1A2E"/>
                </a:solidFill>
              </a:rPr>
              <a:t>stipend meaning</a:t>
            </a:r>
          </a:p>
        </p:txBody>
      </p:sp>
      <p:sp>
        <p:nvSpPr>
          <p:cNvPr id="212" name="TextBox 211"/>
          <p:cNvSpPr txBox="1"/>
          <p:nvPr/>
        </p:nvSpPr>
        <p:spPr>
          <a:xfrm>
            <a:off x="10314432" y="4283964"/>
            <a:ext cx="868680" cy="201168"/>
          </a:xfrm>
          <a:prstGeom prst="rect">
            <a:avLst/>
          </a:prstGeom>
          <a:noFill/>
        </p:spPr>
        <p:txBody>
          <a:bodyPr wrap="square">
            <a:spAutoFit/>
          </a:bodyPr>
          <a:lstStyle/>
          <a:p>
            <a:pPr algn="ctr"/>
            <a:r>
              <a:rPr sz="800" b="0" i="0">
                <a:solidFill>
                  <a:srgbClr val="1A1A2E"/>
                </a:solidFill>
              </a:rPr>
              <a:t>58,360</a:t>
            </a:r>
          </a:p>
        </p:txBody>
      </p:sp>
      <p:sp>
        <p:nvSpPr>
          <p:cNvPr id="213" name="TextBox 212"/>
          <p:cNvSpPr txBox="1"/>
          <p:nvPr/>
        </p:nvSpPr>
        <p:spPr>
          <a:xfrm>
            <a:off x="11228832" y="4283964"/>
            <a:ext cx="868680" cy="201168"/>
          </a:xfrm>
          <a:prstGeom prst="rect">
            <a:avLst/>
          </a:prstGeom>
          <a:noFill/>
        </p:spPr>
        <p:txBody>
          <a:bodyPr wrap="square">
            <a:spAutoFit/>
          </a:bodyPr>
          <a:lstStyle/>
          <a:p>
            <a:pPr algn="ctr"/>
            <a:r>
              <a:rPr sz="800" b="0" i="0">
                <a:solidFill>
                  <a:srgbClr val="1A1A2E"/>
                </a:solidFill>
              </a:rPr>
              <a:t>Indeed</a:t>
            </a:r>
          </a:p>
        </p:txBody>
      </p:sp>
      <p:sp>
        <p:nvSpPr>
          <p:cNvPr id="214" name="Rectangle 213"/>
          <p:cNvSpPr/>
          <p:nvPr/>
        </p:nvSpPr>
        <p:spPr>
          <a:xfrm>
            <a:off x="274320" y="5239512"/>
            <a:ext cx="11612880" cy="1389888"/>
          </a:xfrm>
          <a:prstGeom prst="rect">
            <a:avLst/>
          </a:prstGeom>
          <a:solidFill>
            <a:srgbClr val="FFF5E6"/>
          </a:solidFill>
          <a:ln w="1905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502920" y="5303520"/>
            <a:ext cx="3200400" cy="274320"/>
          </a:xfrm>
          <a:prstGeom prst="rect">
            <a:avLst/>
          </a:prstGeom>
          <a:noFill/>
        </p:spPr>
        <p:txBody>
          <a:bodyPr wrap="square">
            <a:spAutoFit/>
          </a:bodyPr>
          <a:lstStyle/>
          <a:p>
            <a:pPr algn="l"/>
            <a:r>
              <a:rPr sz="1000" b="1" i="0">
                <a:solidFill>
                  <a:srgbClr val="FF6B00"/>
                </a:solidFill>
              </a:rPr>
              <a:t>Biggest Single Opportunity:</a:t>
            </a:r>
          </a:p>
        </p:txBody>
      </p:sp>
      <p:sp>
        <p:nvSpPr>
          <p:cNvPr id="216" name="TextBox 215"/>
          <p:cNvSpPr txBox="1"/>
          <p:nvPr/>
        </p:nvSpPr>
        <p:spPr>
          <a:xfrm>
            <a:off x="502920" y="5596128"/>
            <a:ext cx="11338560" cy="960120"/>
          </a:xfrm>
          <a:prstGeom prst="rect">
            <a:avLst/>
          </a:prstGeom>
          <a:noFill/>
        </p:spPr>
        <p:txBody>
          <a:bodyPr wrap="square">
            <a:spAutoFit/>
          </a:bodyPr>
          <a:lstStyle/>
          <a:p>
            <a:pPr algn="l"/>
            <a:r>
              <a:rPr sz="1050" b="0" i="0">
                <a:solidFill>
                  <a:srgbClr val="1A1A2E"/>
                </a:solidFill>
              </a:rPr>
              <a:t>"ssc" — 2,246,500 monthly searches — Naukri currently at position 14.  Moving to position 5 alone = estimated +157,000 additional clicks/month.  The page already exists (/campus/career-guidance/ssc-cgl-exam). This is a content depth &amp; authority fix, not new content.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06 — Content Gap Analysis</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Topics where competitors have multiple ranking URLs but Naukri is absent or weak</a:t>
            </a:r>
          </a:p>
        </p:txBody>
      </p:sp>
      <p:sp>
        <p:nvSpPr>
          <p:cNvPr id="6" name="Rectangle 5"/>
          <p:cNvSpPr/>
          <p:nvPr/>
        </p:nvSpPr>
        <p:spPr>
          <a:xfrm>
            <a:off x="274320" y="1298448"/>
            <a:ext cx="2880360" cy="91440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2697479" cy="502920"/>
          </a:xfrm>
          <a:prstGeom prst="rect">
            <a:avLst/>
          </a:prstGeom>
          <a:noFill/>
        </p:spPr>
        <p:txBody>
          <a:bodyPr wrap="square">
            <a:spAutoFit/>
          </a:bodyPr>
          <a:lstStyle/>
          <a:p>
            <a:pPr algn="ctr"/>
            <a:r>
              <a:rPr sz="2600" b="1" i="0">
                <a:solidFill>
                  <a:srgbClr val="C0392B"/>
                </a:solidFill>
              </a:rPr>
              <a:t>483</a:t>
            </a:r>
          </a:p>
        </p:txBody>
      </p:sp>
      <p:sp>
        <p:nvSpPr>
          <p:cNvPr id="8" name="TextBox 7"/>
          <p:cNvSpPr txBox="1"/>
          <p:nvPr/>
        </p:nvSpPr>
        <p:spPr>
          <a:xfrm>
            <a:off x="320040" y="1810512"/>
            <a:ext cx="2788920" cy="347472"/>
          </a:xfrm>
          <a:prstGeom prst="rect">
            <a:avLst/>
          </a:prstGeom>
          <a:noFill/>
        </p:spPr>
        <p:txBody>
          <a:bodyPr wrap="square">
            <a:spAutoFit/>
          </a:bodyPr>
          <a:lstStyle/>
          <a:p>
            <a:pPr algn="ctr"/>
            <a:r>
              <a:rPr sz="950" b="0" i="0">
                <a:solidFill>
                  <a:srgbClr val="5A6A85"/>
                </a:solidFill>
              </a:rPr>
              <a:t>KWs — 3+ Competitors Rank
Naukri Not Ranking</a:t>
            </a:r>
          </a:p>
        </p:txBody>
      </p:sp>
      <p:sp>
        <p:nvSpPr>
          <p:cNvPr id="9" name="Rectangle 8"/>
          <p:cNvSpPr/>
          <p:nvPr/>
        </p:nvSpPr>
        <p:spPr>
          <a:xfrm>
            <a:off x="3291839" y="1298448"/>
            <a:ext cx="2880360" cy="91440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79" y="1371600"/>
            <a:ext cx="2697479" cy="502920"/>
          </a:xfrm>
          <a:prstGeom prst="rect">
            <a:avLst/>
          </a:prstGeom>
          <a:noFill/>
        </p:spPr>
        <p:txBody>
          <a:bodyPr wrap="square">
            <a:spAutoFit/>
          </a:bodyPr>
          <a:lstStyle/>
          <a:p>
            <a:pPr algn="ctr"/>
            <a:r>
              <a:rPr sz="2600" b="1" i="0">
                <a:solidFill>
                  <a:srgbClr val="F39C12"/>
                </a:solidFill>
              </a:rPr>
              <a:t>179</a:t>
            </a:r>
          </a:p>
        </p:txBody>
      </p:sp>
      <p:sp>
        <p:nvSpPr>
          <p:cNvPr id="11" name="TextBox 10"/>
          <p:cNvSpPr txBox="1"/>
          <p:nvPr/>
        </p:nvSpPr>
        <p:spPr>
          <a:xfrm>
            <a:off x="3337559" y="1810512"/>
            <a:ext cx="2788920" cy="347472"/>
          </a:xfrm>
          <a:prstGeom prst="rect">
            <a:avLst/>
          </a:prstGeom>
          <a:noFill/>
        </p:spPr>
        <p:txBody>
          <a:bodyPr wrap="square">
            <a:spAutoFit/>
          </a:bodyPr>
          <a:lstStyle/>
          <a:p>
            <a:pPr algn="ctr"/>
            <a:r>
              <a:rPr sz="950" b="0" i="0">
                <a:solidFill>
                  <a:srgbClr val="5A6A85"/>
                </a:solidFill>
              </a:rPr>
              <a:t>KWs — 3+ Competitors Rank
Naukri Beyond Pos 20</a:t>
            </a:r>
          </a:p>
        </p:txBody>
      </p:sp>
      <p:sp>
        <p:nvSpPr>
          <p:cNvPr id="12" name="Rectangle 11"/>
          <p:cNvSpPr/>
          <p:nvPr/>
        </p:nvSpPr>
        <p:spPr>
          <a:xfrm>
            <a:off x="6309359" y="1298448"/>
            <a:ext cx="2880360" cy="914400"/>
          </a:xfrm>
          <a:prstGeom prst="rect">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9" y="1371600"/>
            <a:ext cx="2697479" cy="502920"/>
          </a:xfrm>
          <a:prstGeom prst="rect">
            <a:avLst/>
          </a:prstGeom>
          <a:noFill/>
        </p:spPr>
        <p:txBody>
          <a:bodyPr wrap="square">
            <a:spAutoFit/>
          </a:bodyPr>
          <a:lstStyle/>
          <a:p>
            <a:pPr algn="ctr"/>
            <a:r>
              <a:rPr sz="2600" b="1" i="0">
                <a:solidFill>
                  <a:srgbClr val="009BA5"/>
                </a:solidFill>
              </a:rPr>
              <a:t>138</a:t>
            </a:r>
          </a:p>
        </p:txBody>
      </p:sp>
      <p:sp>
        <p:nvSpPr>
          <p:cNvPr id="14" name="TextBox 13"/>
          <p:cNvSpPr txBox="1"/>
          <p:nvPr/>
        </p:nvSpPr>
        <p:spPr>
          <a:xfrm>
            <a:off x="6355079" y="1810512"/>
            <a:ext cx="2788920" cy="347472"/>
          </a:xfrm>
          <a:prstGeom prst="rect">
            <a:avLst/>
          </a:prstGeom>
          <a:noFill/>
        </p:spPr>
        <p:txBody>
          <a:bodyPr wrap="square">
            <a:spAutoFit/>
          </a:bodyPr>
          <a:lstStyle/>
          <a:p>
            <a:pPr algn="ctr"/>
            <a:r>
              <a:rPr sz="950" b="0" i="0">
                <a:solidFill>
                  <a:srgbClr val="5A6A85"/>
                </a:solidFill>
              </a:rPr>
              <a:t>KWs — 3+ Competitors Rank
Naukri at Pos 11–20</a:t>
            </a:r>
          </a:p>
        </p:txBody>
      </p:sp>
      <p:sp>
        <p:nvSpPr>
          <p:cNvPr id="15" name="Rectangle 14"/>
          <p:cNvSpPr/>
          <p:nvPr/>
        </p:nvSpPr>
        <p:spPr>
          <a:xfrm>
            <a:off x="274320" y="2395728"/>
            <a:ext cx="54864" cy="3200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395728"/>
            <a:ext cx="3657600" cy="320040"/>
          </a:xfrm>
          <a:prstGeom prst="rect">
            <a:avLst/>
          </a:prstGeom>
          <a:noFill/>
        </p:spPr>
        <p:txBody>
          <a:bodyPr wrap="square">
            <a:spAutoFit/>
          </a:bodyPr>
          <a:lstStyle/>
          <a:p>
            <a:pPr algn="l"/>
            <a:r>
              <a:rPr sz="1100" b="1" i="0">
                <a:solidFill>
                  <a:srgbClr val="FF6B00"/>
                </a:solidFill>
              </a:rPr>
              <a:t>Top Content Gaps by Volume</a:t>
            </a:r>
          </a:p>
        </p:txBody>
      </p:sp>
      <p:sp>
        <p:nvSpPr>
          <p:cNvPr id="17" name="Rectangle 16"/>
          <p:cNvSpPr/>
          <p:nvPr/>
        </p:nvSpPr>
        <p:spPr>
          <a:xfrm>
            <a:off x="274320" y="2670048"/>
            <a:ext cx="274320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 y="2706624"/>
            <a:ext cx="2651760" cy="228600"/>
          </a:xfrm>
          <a:prstGeom prst="rect">
            <a:avLst/>
          </a:prstGeom>
          <a:noFill/>
        </p:spPr>
        <p:txBody>
          <a:bodyPr wrap="square">
            <a:spAutoFit/>
          </a:bodyPr>
          <a:lstStyle/>
          <a:p>
            <a:pPr algn="l"/>
            <a:r>
              <a:rPr sz="900" b="1" i="0">
                <a:solidFill>
                  <a:srgbClr val="FFFFFF"/>
                </a:solidFill>
              </a:rPr>
              <a:t>Keyword / Topic</a:t>
            </a:r>
          </a:p>
        </p:txBody>
      </p:sp>
      <p:sp>
        <p:nvSpPr>
          <p:cNvPr id="19" name="Rectangle 18"/>
          <p:cNvSpPr/>
          <p:nvPr/>
        </p:nvSpPr>
        <p:spPr>
          <a:xfrm>
            <a:off x="3017520" y="2670048"/>
            <a:ext cx="128016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1527" y="2706624"/>
            <a:ext cx="1188719" cy="228600"/>
          </a:xfrm>
          <a:prstGeom prst="rect">
            <a:avLst/>
          </a:prstGeom>
          <a:noFill/>
        </p:spPr>
        <p:txBody>
          <a:bodyPr wrap="square">
            <a:spAutoFit/>
          </a:bodyPr>
          <a:lstStyle/>
          <a:p>
            <a:pPr algn="ctr"/>
            <a:r>
              <a:rPr sz="900" b="1" i="0">
                <a:solidFill>
                  <a:srgbClr val="FFFFFF"/>
                </a:solidFill>
              </a:rPr>
              <a:t>Volume</a:t>
            </a:r>
          </a:p>
        </p:txBody>
      </p:sp>
      <p:sp>
        <p:nvSpPr>
          <p:cNvPr id="21" name="Rectangle 20"/>
          <p:cNvSpPr/>
          <p:nvPr/>
        </p:nvSpPr>
        <p:spPr>
          <a:xfrm>
            <a:off x="4297679" y="2670048"/>
            <a:ext cx="137160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8" y="2706624"/>
            <a:ext cx="1280160" cy="228600"/>
          </a:xfrm>
          <a:prstGeom prst="rect">
            <a:avLst/>
          </a:prstGeom>
          <a:noFill/>
        </p:spPr>
        <p:txBody>
          <a:bodyPr wrap="square">
            <a:spAutoFit/>
          </a:bodyPr>
          <a:lstStyle/>
          <a:p>
            <a:pPr algn="ctr"/>
            <a:r>
              <a:rPr sz="900" b="1" i="0">
                <a:solidFill>
                  <a:srgbClr val="FFFFFF"/>
                </a:solidFill>
              </a:rPr>
              <a:t># Competitors</a:t>
            </a:r>
          </a:p>
        </p:txBody>
      </p:sp>
      <p:sp>
        <p:nvSpPr>
          <p:cNvPr id="23" name="Rectangle 22"/>
          <p:cNvSpPr/>
          <p:nvPr/>
        </p:nvSpPr>
        <p:spPr>
          <a:xfrm>
            <a:off x="5669279" y="2670048"/>
            <a:ext cx="182880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33288" y="2706624"/>
            <a:ext cx="1737360" cy="228600"/>
          </a:xfrm>
          <a:prstGeom prst="rect">
            <a:avLst/>
          </a:prstGeom>
          <a:noFill/>
        </p:spPr>
        <p:txBody>
          <a:bodyPr wrap="square">
            <a:spAutoFit/>
          </a:bodyPr>
          <a:lstStyle/>
          <a:p>
            <a:pPr algn="ctr"/>
            <a:r>
              <a:rPr sz="900" b="1" i="0">
                <a:solidFill>
                  <a:srgbClr val="FFFFFF"/>
                </a:solidFill>
              </a:rPr>
              <a:t>Best Competitor Pos</a:t>
            </a:r>
          </a:p>
        </p:txBody>
      </p:sp>
      <p:sp>
        <p:nvSpPr>
          <p:cNvPr id="25" name="Rectangle 24"/>
          <p:cNvSpPr/>
          <p:nvPr/>
        </p:nvSpPr>
        <p:spPr>
          <a:xfrm>
            <a:off x="7498079" y="2670048"/>
            <a:ext cx="164592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62088" y="2706624"/>
            <a:ext cx="1554480" cy="228600"/>
          </a:xfrm>
          <a:prstGeom prst="rect">
            <a:avLst/>
          </a:prstGeom>
          <a:noFill/>
        </p:spPr>
        <p:txBody>
          <a:bodyPr wrap="square">
            <a:spAutoFit/>
          </a:bodyPr>
          <a:lstStyle/>
          <a:p>
            <a:pPr algn="ctr"/>
            <a:r>
              <a:rPr sz="900" b="1" i="0">
                <a:solidFill>
                  <a:srgbClr val="FFFFFF"/>
                </a:solidFill>
              </a:rPr>
              <a:t>Naukri Status</a:t>
            </a:r>
          </a:p>
        </p:txBody>
      </p:sp>
      <p:sp>
        <p:nvSpPr>
          <p:cNvPr id="27" name="Rectangle 26"/>
          <p:cNvSpPr/>
          <p:nvPr/>
        </p:nvSpPr>
        <p:spPr>
          <a:xfrm>
            <a:off x="274320" y="2944368"/>
            <a:ext cx="27432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 y="2971800"/>
            <a:ext cx="2651760" cy="224027"/>
          </a:xfrm>
          <a:prstGeom prst="rect">
            <a:avLst/>
          </a:prstGeom>
          <a:noFill/>
        </p:spPr>
        <p:txBody>
          <a:bodyPr wrap="square">
            <a:spAutoFit/>
          </a:bodyPr>
          <a:lstStyle/>
          <a:p>
            <a:pPr algn="l"/>
            <a:r>
              <a:rPr sz="850" b="0" i="0">
                <a:solidFill>
                  <a:srgbClr val="1A1A2E"/>
                </a:solidFill>
              </a:rPr>
              <a:t>resume</a:t>
            </a:r>
          </a:p>
        </p:txBody>
      </p:sp>
      <p:sp>
        <p:nvSpPr>
          <p:cNvPr id="29" name="Rectangle 28"/>
          <p:cNvSpPr/>
          <p:nvPr/>
        </p:nvSpPr>
        <p:spPr>
          <a:xfrm>
            <a:off x="3017520" y="2944368"/>
            <a:ext cx="128016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81527" y="2971800"/>
            <a:ext cx="1188719" cy="224027"/>
          </a:xfrm>
          <a:prstGeom prst="rect">
            <a:avLst/>
          </a:prstGeom>
          <a:noFill/>
        </p:spPr>
        <p:txBody>
          <a:bodyPr wrap="square">
            <a:spAutoFit/>
          </a:bodyPr>
          <a:lstStyle/>
          <a:p>
            <a:pPr algn="ctr"/>
            <a:r>
              <a:rPr sz="850" b="0" i="0">
                <a:solidFill>
                  <a:srgbClr val="1A1A2E"/>
                </a:solidFill>
              </a:rPr>
              <a:t>258,440</a:t>
            </a:r>
          </a:p>
        </p:txBody>
      </p:sp>
      <p:sp>
        <p:nvSpPr>
          <p:cNvPr id="31" name="Rectangle 30"/>
          <p:cNvSpPr/>
          <p:nvPr/>
        </p:nvSpPr>
        <p:spPr>
          <a:xfrm>
            <a:off x="4297679" y="2944368"/>
            <a:ext cx="13716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61688" y="2971800"/>
            <a:ext cx="1280160" cy="224027"/>
          </a:xfrm>
          <a:prstGeom prst="rect">
            <a:avLst/>
          </a:prstGeom>
          <a:noFill/>
        </p:spPr>
        <p:txBody>
          <a:bodyPr wrap="square">
            <a:spAutoFit/>
          </a:bodyPr>
          <a:lstStyle/>
          <a:p>
            <a:pPr algn="ctr"/>
            <a:r>
              <a:rPr sz="850" b="0" i="0">
                <a:solidFill>
                  <a:srgbClr val="1A1A2E"/>
                </a:solidFill>
              </a:rPr>
              <a:t>4</a:t>
            </a:r>
          </a:p>
        </p:txBody>
      </p:sp>
      <p:sp>
        <p:nvSpPr>
          <p:cNvPr id="33" name="Rectangle 32"/>
          <p:cNvSpPr/>
          <p:nvPr/>
        </p:nvSpPr>
        <p:spPr>
          <a:xfrm>
            <a:off x="5669279" y="2944368"/>
            <a:ext cx="18288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33288" y="2971800"/>
            <a:ext cx="1737360" cy="224027"/>
          </a:xfrm>
          <a:prstGeom prst="rect">
            <a:avLst/>
          </a:prstGeom>
          <a:noFill/>
        </p:spPr>
        <p:txBody>
          <a:bodyPr wrap="square">
            <a:spAutoFit/>
          </a:bodyPr>
          <a:lstStyle/>
          <a:p>
            <a:pPr algn="ctr"/>
            <a:r>
              <a:rPr sz="850" b="0" i="0">
                <a:solidFill>
                  <a:srgbClr val="1A1A2E"/>
                </a:solidFill>
              </a:rPr>
              <a:t>5 (Indeed)</a:t>
            </a:r>
          </a:p>
        </p:txBody>
      </p:sp>
      <p:sp>
        <p:nvSpPr>
          <p:cNvPr id="35" name="Rectangle 34"/>
          <p:cNvSpPr/>
          <p:nvPr/>
        </p:nvSpPr>
        <p:spPr>
          <a:xfrm>
            <a:off x="7498079" y="2944368"/>
            <a:ext cx="164592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62088" y="2971800"/>
            <a:ext cx="1554480" cy="224027"/>
          </a:xfrm>
          <a:prstGeom prst="rect">
            <a:avLst/>
          </a:prstGeom>
          <a:noFill/>
        </p:spPr>
        <p:txBody>
          <a:bodyPr wrap="square">
            <a:spAutoFit/>
          </a:bodyPr>
          <a:lstStyle/>
          <a:p>
            <a:pPr algn="ctr"/>
            <a:r>
              <a:rPr sz="850" b="0" i="0">
                <a:solidFill>
                  <a:srgbClr val="1A1A2E"/>
                </a:solidFill>
              </a:rPr>
              <a:t>Not Ranking</a:t>
            </a:r>
          </a:p>
        </p:txBody>
      </p:sp>
      <p:sp>
        <p:nvSpPr>
          <p:cNvPr id="37" name="Rectangle 36"/>
          <p:cNvSpPr/>
          <p:nvPr/>
        </p:nvSpPr>
        <p:spPr>
          <a:xfrm>
            <a:off x="274320" y="3209544"/>
            <a:ext cx="27432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8328" y="3236976"/>
            <a:ext cx="2651760" cy="224027"/>
          </a:xfrm>
          <a:prstGeom prst="rect">
            <a:avLst/>
          </a:prstGeom>
          <a:noFill/>
        </p:spPr>
        <p:txBody>
          <a:bodyPr wrap="square">
            <a:spAutoFit/>
          </a:bodyPr>
          <a:lstStyle/>
          <a:p>
            <a:pPr algn="l"/>
            <a:r>
              <a:rPr sz="850" b="0" i="0">
                <a:solidFill>
                  <a:srgbClr val="1A1A2E"/>
                </a:solidFill>
              </a:rPr>
              <a:t>resume maker</a:t>
            </a:r>
          </a:p>
        </p:txBody>
      </p:sp>
      <p:sp>
        <p:nvSpPr>
          <p:cNvPr id="39" name="Rectangle 38"/>
          <p:cNvSpPr/>
          <p:nvPr/>
        </p:nvSpPr>
        <p:spPr>
          <a:xfrm>
            <a:off x="3017520" y="3209544"/>
            <a:ext cx="128016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81527" y="3236976"/>
            <a:ext cx="1188719" cy="224027"/>
          </a:xfrm>
          <a:prstGeom prst="rect">
            <a:avLst/>
          </a:prstGeom>
          <a:noFill/>
        </p:spPr>
        <p:txBody>
          <a:bodyPr wrap="square">
            <a:spAutoFit/>
          </a:bodyPr>
          <a:lstStyle/>
          <a:p>
            <a:pPr algn="ctr"/>
            <a:r>
              <a:rPr sz="850" b="0" i="0">
                <a:solidFill>
                  <a:srgbClr val="1A1A2E"/>
                </a:solidFill>
              </a:rPr>
              <a:t>247,060</a:t>
            </a:r>
          </a:p>
        </p:txBody>
      </p:sp>
      <p:sp>
        <p:nvSpPr>
          <p:cNvPr id="41" name="Rectangle 40"/>
          <p:cNvSpPr/>
          <p:nvPr/>
        </p:nvSpPr>
        <p:spPr>
          <a:xfrm>
            <a:off x="4297679" y="3209544"/>
            <a:ext cx="13716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61688" y="3236976"/>
            <a:ext cx="1280160" cy="224027"/>
          </a:xfrm>
          <a:prstGeom prst="rect">
            <a:avLst/>
          </a:prstGeom>
          <a:noFill/>
        </p:spPr>
        <p:txBody>
          <a:bodyPr wrap="square">
            <a:spAutoFit/>
          </a:bodyPr>
          <a:lstStyle/>
          <a:p>
            <a:pPr algn="ctr"/>
            <a:r>
              <a:rPr sz="850" b="0" i="0">
                <a:solidFill>
                  <a:srgbClr val="1A1A2E"/>
                </a:solidFill>
              </a:rPr>
              <a:t>3</a:t>
            </a:r>
          </a:p>
        </p:txBody>
      </p:sp>
      <p:sp>
        <p:nvSpPr>
          <p:cNvPr id="43" name="Rectangle 42"/>
          <p:cNvSpPr/>
          <p:nvPr/>
        </p:nvSpPr>
        <p:spPr>
          <a:xfrm>
            <a:off x="5669279" y="3209544"/>
            <a:ext cx="18288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33288" y="3236976"/>
            <a:ext cx="1737360" cy="224027"/>
          </a:xfrm>
          <a:prstGeom prst="rect">
            <a:avLst/>
          </a:prstGeom>
          <a:noFill/>
        </p:spPr>
        <p:txBody>
          <a:bodyPr wrap="square">
            <a:spAutoFit/>
          </a:bodyPr>
          <a:lstStyle/>
          <a:p>
            <a:pPr algn="ctr"/>
            <a:r>
              <a:rPr sz="850" b="0" i="0">
                <a:solidFill>
                  <a:srgbClr val="1A1A2E"/>
                </a:solidFill>
              </a:rPr>
              <a:t>2 (Resume.io)</a:t>
            </a:r>
          </a:p>
        </p:txBody>
      </p:sp>
      <p:sp>
        <p:nvSpPr>
          <p:cNvPr id="45" name="Rectangle 44"/>
          <p:cNvSpPr/>
          <p:nvPr/>
        </p:nvSpPr>
        <p:spPr>
          <a:xfrm>
            <a:off x="7498079" y="3209544"/>
            <a:ext cx="164592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62088" y="3236976"/>
            <a:ext cx="1554480" cy="224027"/>
          </a:xfrm>
          <a:prstGeom prst="rect">
            <a:avLst/>
          </a:prstGeom>
          <a:noFill/>
        </p:spPr>
        <p:txBody>
          <a:bodyPr wrap="square">
            <a:spAutoFit/>
          </a:bodyPr>
          <a:lstStyle/>
          <a:p>
            <a:pPr algn="ctr"/>
            <a:r>
              <a:rPr sz="850" b="0" i="0">
                <a:solidFill>
                  <a:srgbClr val="1A1A2E"/>
                </a:solidFill>
              </a:rPr>
              <a:t>Not Ranking</a:t>
            </a:r>
          </a:p>
        </p:txBody>
      </p:sp>
      <p:sp>
        <p:nvSpPr>
          <p:cNvPr id="47" name="Rectangle 46"/>
          <p:cNvSpPr/>
          <p:nvPr/>
        </p:nvSpPr>
        <p:spPr>
          <a:xfrm>
            <a:off x="274320" y="3474720"/>
            <a:ext cx="27432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8328" y="3502152"/>
            <a:ext cx="2651760" cy="224027"/>
          </a:xfrm>
          <a:prstGeom prst="rect">
            <a:avLst/>
          </a:prstGeom>
          <a:noFill/>
        </p:spPr>
        <p:txBody>
          <a:bodyPr wrap="square">
            <a:spAutoFit/>
          </a:bodyPr>
          <a:lstStyle/>
          <a:p>
            <a:pPr algn="l"/>
            <a:r>
              <a:rPr sz="850" b="0" i="0">
                <a:solidFill>
                  <a:srgbClr val="1A1A2E"/>
                </a:solidFill>
              </a:rPr>
              <a:t>resume builder</a:t>
            </a:r>
          </a:p>
        </p:txBody>
      </p:sp>
      <p:sp>
        <p:nvSpPr>
          <p:cNvPr id="49" name="Rectangle 48"/>
          <p:cNvSpPr/>
          <p:nvPr/>
        </p:nvSpPr>
        <p:spPr>
          <a:xfrm>
            <a:off x="3017520" y="3474720"/>
            <a:ext cx="128016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81527" y="3502152"/>
            <a:ext cx="1188719" cy="224027"/>
          </a:xfrm>
          <a:prstGeom prst="rect">
            <a:avLst/>
          </a:prstGeom>
          <a:noFill/>
        </p:spPr>
        <p:txBody>
          <a:bodyPr wrap="square">
            <a:spAutoFit/>
          </a:bodyPr>
          <a:lstStyle/>
          <a:p>
            <a:pPr algn="ctr"/>
            <a:r>
              <a:rPr sz="850" b="0" i="0">
                <a:solidFill>
                  <a:srgbClr val="1A1A2E"/>
                </a:solidFill>
              </a:rPr>
              <a:t>95,190</a:t>
            </a:r>
          </a:p>
        </p:txBody>
      </p:sp>
      <p:sp>
        <p:nvSpPr>
          <p:cNvPr id="51" name="Rectangle 50"/>
          <p:cNvSpPr/>
          <p:nvPr/>
        </p:nvSpPr>
        <p:spPr>
          <a:xfrm>
            <a:off x="4297679" y="3474720"/>
            <a:ext cx="13716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61688" y="3502152"/>
            <a:ext cx="1280160" cy="224027"/>
          </a:xfrm>
          <a:prstGeom prst="rect">
            <a:avLst/>
          </a:prstGeom>
          <a:noFill/>
        </p:spPr>
        <p:txBody>
          <a:bodyPr wrap="square">
            <a:spAutoFit/>
          </a:bodyPr>
          <a:lstStyle/>
          <a:p>
            <a:pPr algn="ctr"/>
            <a:r>
              <a:rPr sz="850" b="0" i="0">
                <a:solidFill>
                  <a:srgbClr val="1A1A2E"/>
                </a:solidFill>
              </a:rPr>
              <a:t>3</a:t>
            </a:r>
          </a:p>
        </p:txBody>
      </p:sp>
      <p:sp>
        <p:nvSpPr>
          <p:cNvPr id="53" name="Rectangle 52"/>
          <p:cNvSpPr/>
          <p:nvPr/>
        </p:nvSpPr>
        <p:spPr>
          <a:xfrm>
            <a:off x="5669279" y="3474720"/>
            <a:ext cx="18288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33288" y="3502152"/>
            <a:ext cx="1737360" cy="224027"/>
          </a:xfrm>
          <a:prstGeom prst="rect">
            <a:avLst/>
          </a:prstGeom>
          <a:noFill/>
        </p:spPr>
        <p:txBody>
          <a:bodyPr wrap="square">
            <a:spAutoFit/>
          </a:bodyPr>
          <a:lstStyle/>
          <a:p>
            <a:pPr algn="ctr"/>
            <a:r>
              <a:rPr sz="850" b="0" i="0">
                <a:solidFill>
                  <a:srgbClr val="1A1A2E"/>
                </a:solidFill>
              </a:rPr>
              <a:t>4 (Resume.io)</a:t>
            </a:r>
          </a:p>
        </p:txBody>
      </p:sp>
      <p:sp>
        <p:nvSpPr>
          <p:cNvPr id="55" name="Rectangle 54"/>
          <p:cNvSpPr/>
          <p:nvPr/>
        </p:nvSpPr>
        <p:spPr>
          <a:xfrm>
            <a:off x="7498079" y="3474720"/>
            <a:ext cx="164592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62088" y="3502152"/>
            <a:ext cx="1554480" cy="224027"/>
          </a:xfrm>
          <a:prstGeom prst="rect">
            <a:avLst/>
          </a:prstGeom>
          <a:noFill/>
        </p:spPr>
        <p:txBody>
          <a:bodyPr wrap="square">
            <a:spAutoFit/>
          </a:bodyPr>
          <a:lstStyle/>
          <a:p>
            <a:pPr algn="ctr"/>
            <a:r>
              <a:rPr sz="850" b="0" i="0">
                <a:solidFill>
                  <a:srgbClr val="1A1A2E"/>
                </a:solidFill>
              </a:rPr>
              <a:t>Not Ranking</a:t>
            </a:r>
          </a:p>
        </p:txBody>
      </p:sp>
      <p:sp>
        <p:nvSpPr>
          <p:cNvPr id="57" name="Rectangle 56"/>
          <p:cNvSpPr/>
          <p:nvPr/>
        </p:nvSpPr>
        <p:spPr>
          <a:xfrm>
            <a:off x="274320" y="3739896"/>
            <a:ext cx="27432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8328" y="3767328"/>
            <a:ext cx="2651760" cy="224027"/>
          </a:xfrm>
          <a:prstGeom prst="rect">
            <a:avLst/>
          </a:prstGeom>
          <a:noFill/>
        </p:spPr>
        <p:txBody>
          <a:bodyPr wrap="square">
            <a:spAutoFit/>
          </a:bodyPr>
          <a:lstStyle/>
          <a:p>
            <a:pPr algn="l"/>
            <a:r>
              <a:rPr sz="850" b="0" i="0">
                <a:solidFill>
                  <a:srgbClr val="1A1A2E"/>
                </a:solidFill>
              </a:rPr>
              <a:t>ats</a:t>
            </a:r>
          </a:p>
        </p:txBody>
      </p:sp>
      <p:sp>
        <p:nvSpPr>
          <p:cNvPr id="59" name="Rectangle 58"/>
          <p:cNvSpPr/>
          <p:nvPr/>
        </p:nvSpPr>
        <p:spPr>
          <a:xfrm>
            <a:off x="3017520" y="3739896"/>
            <a:ext cx="128016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081527" y="3767328"/>
            <a:ext cx="1188719" cy="224027"/>
          </a:xfrm>
          <a:prstGeom prst="rect">
            <a:avLst/>
          </a:prstGeom>
          <a:noFill/>
        </p:spPr>
        <p:txBody>
          <a:bodyPr wrap="square">
            <a:spAutoFit/>
          </a:bodyPr>
          <a:lstStyle/>
          <a:p>
            <a:pPr algn="ctr"/>
            <a:r>
              <a:rPr sz="850" b="0" i="0">
                <a:solidFill>
                  <a:srgbClr val="1A1A2E"/>
                </a:solidFill>
              </a:rPr>
              <a:t>54,640</a:t>
            </a:r>
          </a:p>
        </p:txBody>
      </p:sp>
      <p:sp>
        <p:nvSpPr>
          <p:cNvPr id="61" name="Rectangle 60"/>
          <p:cNvSpPr/>
          <p:nvPr/>
        </p:nvSpPr>
        <p:spPr>
          <a:xfrm>
            <a:off x="4297679" y="3739896"/>
            <a:ext cx="13716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61688" y="3767328"/>
            <a:ext cx="1280160" cy="224027"/>
          </a:xfrm>
          <a:prstGeom prst="rect">
            <a:avLst/>
          </a:prstGeom>
          <a:noFill/>
        </p:spPr>
        <p:txBody>
          <a:bodyPr wrap="square">
            <a:spAutoFit/>
          </a:bodyPr>
          <a:lstStyle/>
          <a:p>
            <a:pPr algn="ctr"/>
            <a:r>
              <a:rPr sz="850" b="0" i="0">
                <a:solidFill>
                  <a:srgbClr val="1A1A2E"/>
                </a:solidFill>
              </a:rPr>
              <a:t>3</a:t>
            </a:r>
          </a:p>
        </p:txBody>
      </p:sp>
      <p:sp>
        <p:nvSpPr>
          <p:cNvPr id="63" name="Rectangle 62"/>
          <p:cNvSpPr/>
          <p:nvPr/>
        </p:nvSpPr>
        <p:spPr>
          <a:xfrm>
            <a:off x="5669279" y="3739896"/>
            <a:ext cx="18288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733288" y="3767328"/>
            <a:ext cx="1737360" cy="224027"/>
          </a:xfrm>
          <a:prstGeom prst="rect">
            <a:avLst/>
          </a:prstGeom>
          <a:noFill/>
        </p:spPr>
        <p:txBody>
          <a:bodyPr wrap="square">
            <a:spAutoFit/>
          </a:bodyPr>
          <a:lstStyle/>
          <a:p>
            <a:pPr algn="ctr"/>
            <a:r>
              <a:rPr sz="850" b="0" i="0">
                <a:solidFill>
                  <a:srgbClr val="1A1A2E"/>
                </a:solidFill>
              </a:rPr>
              <a:t>3 (Indeed)</a:t>
            </a:r>
          </a:p>
        </p:txBody>
      </p:sp>
      <p:sp>
        <p:nvSpPr>
          <p:cNvPr id="65" name="Rectangle 64"/>
          <p:cNvSpPr/>
          <p:nvPr/>
        </p:nvSpPr>
        <p:spPr>
          <a:xfrm>
            <a:off x="7498079" y="3739896"/>
            <a:ext cx="164592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62088" y="3767328"/>
            <a:ext cx="1554480" cy="224027"/>
          </a:xfrm>
          <a:prstGeom prst="rect">
            <a:avLst/>
          </a:prstGeom>
          <a:noFill/>
        </p:spPr>
        <p:txBody>
          <a:bodyPr wrap="square">
            <a:spAutoFit/>
          </a:bodyPr>
          <a:lstStyle/>
          <a:p>
            <a:pPr algn="ctr"/>
            <a:r>
              <a:rPr sz="850" b="0" i="0">
                <a:solidFill>
                  <a:srgbClr val="1A1A2E"/>
                </a:solidFill>
              </a:rPr>
              <a:t>Not Ranking</a:t>
            </a:r>
          </a:p>
        </p:txBody>
      </p:sp>
      <p:sp>
        <p:nvSpPr>
          <p:cNvPr id="67" name="Rectangle 66"/>
          <p:cNvSpPr/>
          <p:nvPr/>
        </p:nvSpPr>
        <p:spPr>
          <a:xfrm>
            <a:off x="274320" y="4005072"/>
            <a:ext cx="27432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38328" y="4032504"/>
            <a:ext cx="2651760" cy="224027"/>
          </a:xfrm>
          <a:prstGeom prst="rect">
            <a:avLst/>
          </a:prstGeom>
          <a:noFill/>
        </p:spPr>
        <p:txBody>
          <a:bodyPr wrap="square">
            <a:spAutoFit/>
          </a:bodyPr>
          <a:lstStyle/>
          <a:p>
            <a:pPr algn="l"/>
            <a:r>
              <a:rPr sz="850" b="0" i="0">
                <a:solidFill>
                  <a:srgbClr val="1A1A2E"/>
                </a:solidFill>
              </a:rPr>
              <a:t>enhance cv</a:t>
            </a:r>
          </a:p>
        </p:txBody>
      </p:sp>
      <p:sp>
        <p:nvSpPr>
          <p:cNvPr id="69" name="Rectangle 68"/>
          <p:cNvSpPr/>
          <p:nvPr/>
        </p:nvSpPr>
        <p:spPr>
          <a:xfrm>
            <a:off x="3017520" y="4005072"/>
            <a:ext cx="128016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081527" y="4032504"/>
            <a:ext cx="1188719" cy="224027"/>
          </a:xfrm>
          <a:prstGeom prst="rect">
            <a:avLst/>
          </a:prstGeom>
          <a:noFill/>
        </p:spPr>
        <p:txBody>
          <a:bodyPr wrap="square">
            <a:spAutoFit/>
          </a:bodyPr>
          <a:lstStyle/>
          <a:p>
            <a:pPr algn="ctr"/>
            <a:r>
              <a:rPr sz="850" b="0" i="0">
                <a:solidFill>
                  <a:srgbClr val="1A1A2E"/>
                </a:solidFill>
              </a:rPr>
              <a:t>46,290</a:t>
            </a:r>
          </a:p>
        </p:txBody>
      </p:sp>
      <p:sp>
        <p:nvSpPr>
          <p:cNvPr id="71" name="Rectangle 70"/>
          <p:cNvSpPr/>
          <p:nvPr/>
        </p:nvSpPr>
        <p:spPr>
          <a:xfrm>
            <a:off x="4297679" y="4005072"/>
            <a:ext cx="13716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361688" y="4032504"/>
            <a:ext cx="1280160" cy="224027"/>
          </a:xfrm>
          <a:prstGeom prst="rect">
            <a:avLst/>
          </a:prstGeom>
          <a:noFill/>
        </p:spPr>
        <p:txBody>
          <a:bodyPr wrap="square">
            <a:spAutoFit/>
          </a:bodyPr>
          <a:lstStyle/>
          <a:p>
            <a:pPr algn="ctr"/>
            <a:r>
              <a:rPr sz="850" b="0" i="0">
                <a:solidFill>
                  <a:srgbClr val="1A1A2E"/>
                </a:solidFill>
              </a:rPr>
              <a:t>3</a:t>
            </a:r>
          </a:p>
        </p:txBody>
      </p:sp>
      <p:sp>
        <p:nvSpPr>
          <p:cNvPr id="73" name="Rectangle 72"/>
          <p:cNvSpPr/>
          <p:nvPr/>
        </p:nvSpPr>
        <p:spPr>
          <a:xfrm>
            <a:off x="5669279" y="4005072"/>
            <a:ext cx="18288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33288" y="4032504"/>
            <a:ext cx="1737360" cy="224027"/>
          </a:xfrm>
          <a:prstGeom prst="rect">
            <a:avLst/>
          </a:prstGeom>
          <a:noFill/>
        </p:spPr>
        <p:txBody>
          <a:bodyPr wrap="square">
            <a:spAutoFit/>
          </a:bodyPr>
          <a:lstStyle/>
          <a:p>
            <a:pPr algn="ctr"/>
            <a:r>
              <a:rPr sz="850" b="0" i="0">
                <a:solidFill>
                  <a:srgbClr val="1A1A2E"/>
                </a:solidFill>
              </a:rPr>
              <a:t>3 (Indeed)</a:t>
            </a:r>
          </a:p>
        </p:txBody>
      </p:sp>
      <p:sp>
        <p:nvSpPr>
          <p:cNvPr id="75" name="Rectangle 74"/>
          <p:cNvSpPr/>
          <p:nvPr/>
        </p:nvSpPr>
        <p:spPr>
          <a:xfrm>
            <a:off x="7498079" y="4005072"/>
            <a:ext cx="164592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62088" y="4032504"/>
            <a:ext cx="1554480" cy="224027"/>
          </a:xfrm>
          <a:prstGeom prst="rect">
            <a:avLst/>
          </a:prstGeom>
          <a:noFill/>
        </p:spPr>
        <p:txBody>
          <a:bodyPr wrap="square">
            <a:spAutoFit/>
          </a:bodyPr>
          <a:lstStyle/>
          <a:p>
            <a:pPr algn="ctr"/>
            <a:r>
              <a:rPr sz="850" b="0" i="0">
                <a:solidFill>
                  <a:srgbClr val="1A1A2E"/>
                </a:solidFill>
              </a:rPr>
              <a:t>Not Ranking</a:t>
            </a:r>
          </a:p>
        </p:txBody>
      </p:sp>
      <p:sp>
        <p:nvSpPr>
          <p:cNvPr id="77" name="Rectangle 76"/>
          <p:cNvSpPr/>
          <p:nvPr/>
        </p:nvSpPr>
        <p:spPr>
          <a:xfrm>
            <a:off x="274320" y="4270248"/>
            <a:ext cx="27432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38328" y="4297680"/>
            <a:ext cx="2651760" cy="224027"/>
          </a:xfrm>
          <a:prstGeom prst="rect">
            <a:avLst/>
          </a:prstGeom>
          <a:noFill/>
        </p:spPr>
        <p:txBody>
          <a:bodyPr wrap="square">
            <a:spAutoFit/>
          </a:bodyPr>
          <a:lstStyle/>
          <a:p>
            <a:pPr algn="l"/>
            <a:r>
              <a:rPr sz="850" b="0" i="0">
                <a:solidFill>
                  <a:srgbClr val="1A1A2E"/>
                </a:solidFill>
              </a:rPr>
              <a:t>resume templates</a:t>
            </a:r>
          </a:p>
        </p:txBody>
      </p:sp>
      <p:sp>
        <p:nvSpPr>
          <p:cNvPr id="79" name="Rectangle 78"/>
          <p:cNvSpPr/>
          <p:nvPr/>
        </p:nvSpPr>
        <p:spPr>
          <a:xfrm>
            <a:off x="3017520" y="4270248"/>
            <a:ext cx="128016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081527" y="4297680"/>
            <a:ext cx="1188719" cy="224027"/>
          </a:xfrm>
          <a:prstGeom prst="rect">
            <a:avLst/>
          </a:prstGeom>
          <a:noFill/>
        </p:spPr>
        <p:txBody>
          <a:bodyPr wrap="square">
            <a:spAutoFit/>
          </a:bodyPr>
          <a:lstStyle/>
          <a:p>
            <a:pPr algn="ctr"/>
            <a:r>
              <a:rPr sz="850" b="0" i="0">
                <a:solidFill>
                  <a:srgbClr val="1A1A2E"/>
                </a:solidFill>
              </a:rPr>
              <a:t>30,170</a:t>
            </a:r>
          </a:p>
        </p:txBody>
      </p:sp>
      <p:sp>
        <p:nvSpPr>
          <p:cNvPr id="81" name="Rectangle 80"/>
          <p:cNvSpPr/>
          <p:nvPr/>
        </p:nvSpPr>
        <p:spPr>
          <a:xfrm>
            <a:off x="4297679" y="4270248"/>
            <a:ext cx="13716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1688" y="4297680"/>
            <a:ext cx="1280160" cy="224027"/>
          </a:xfrm>
          <a:prstGeom prst="rect">
            <a:avLst/>
          </a:prstGeom>
          <a:noFill/>
        </p:spPr>
        <p:txBody>
          <a:bodyPr wrap="square">
            <a:spAutoFit/>
          </a:bodyPr>
          <a:lstStyle/>
          <a:p>
            <a:pPr algn="ctr"/>
            <a:r>
              <a:rPr sz="850" b="0" i="0">
                <a:solidFill>
                  <a:srgbClr val="1A1A2E"/>
                </a:solidFill>
              </a:rPr>
              <a:t>3</a:t>
            </a:r>
          </a:p>
        </p:txBody>
      </p:sp>
      <p:sp>
        <p:nvSpPr>
          <p:cNvPr id="83" name="Rectangle 82"/>
          <p:cNvSpPr/>
          <p:nvPr/>
        </p:nvSpPr>
        <p:spPr>
          <a:xfrm>
            <a:off x="5669279" y="4270248"/>
            <a:ext cx="18288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33288" y="4297680"/>
            <a:ext cx="1737360" cy="224027"/>
          </a:xfrm>
          <a:prstGeom prst="rect">
            <a:avLst/>
          </a:prstGeom>
          <a:noFill/>
        </p:spPr>
        <p:txBody>
          <a:bodyPr wrap="square">
            <a:spAutoFit/>
          </a:bodyPr>
          <a:lstStyle/>
          <a:p>
            <a:pPr algn="ctr"/>
            <a:r>
              <a:rPr sz="850" b="0" i="0">
                <a:solidFill>
                  <a:srgbClr val="1A1A2E"/>
                </a:solidFill>
              </a:rPr>
              <a:t>6 (Indeed)</a:t>
            </a:r>
          </a:p>
        </p:txBody>
      </p:sp>
      <p:sp>
        <p:nvSpPr>
          <p:cNvPr id="85" name="Rectangle 84"/>
          <p:cNvSpPr/>
          <p:nvPr/>
        </p:nvSpPr>
        <p:spPr>
          <a:xfrm>
            <a:off x="7498079" y="4270248"/>
            <a:ext cx="164592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562088" y="4297680"/>
            <a:ext cx="1554480" cy="224027"/>
          </a:xfrm>
          <a:prstGeom prst="rect">
            <a:avLst/>
          </a:prstGeom>
          <a:noFill/>
        </p:spPr>
        <p:txBody>
          <a:bodyPr wrap="square">
            <a:spAutoFit/>
          </a:bodyPr>
          <a:lstStyle/>
          <a:p>
            <a:pPr algn="ctr"/>
            <a:r>
              <a:rPr sz="850" b="0" i="0">
                <a:solidFill>
                  <a:srgbClr val="1A1A2E"/>
                </a:solidFill>
              </a:rPr>
              <a:t>Not Ranking</a:t>
            </a:r>
          </a:p>
        </p:txBody>
      </p:sp>
      <p:sp>
        <p:nvSpPr>
          <p:cNvPr id="87" name="Rectangle 86"/>
          <p:cNvSpPr/>
          <p:nvPr/>
        </p:nvSpPr>
        <p:spPr>
          <a:xfrm>
            <a:off x="274320" y="4535424"/>
            <a:ext cx="27432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38328" y="4562856"/>
            <a:ext cx="2651760" cy="224027"/>
          </a:xfrm>
          <a:prstGeom prst="rect">
            <a:avLst/>
          </a:prstGeom>
          <a:noFill/>
        </p:spPr>
        <p:txBody>
          <a:bodyPr wrap="square">
            <a:spAutoFit/>
          </a:bodyPr>
          <a:lstStyle/>
          <a:p>
            <a:pPr algn="l"/>
            <a:r>
              <a:rPr sz="850" b="0" i="0">
                <a:solidFill>
                  <a:srgbClr val="1A1A2E"/>
                </a:solidFill>
              </a:rPr>
              <a:t>resume builder free</a:t>
            </a:r>
          </a:p>
        </p:txBody>
      </p:sp>
      <p:sp>
        <p:nvSpPr>
          <p:cNvPr id="89" name="Rectangle 88"/>
          <p:cNvSpPr/>
          <p:nvPr/>
        </p:nvSpPr>
        <p:spPr>
          <a:xfrm>
            <a:off x="3017520" y="4535424"/>
            <a:ext cx="128016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081527" y="4562856"/>
            <a:ext cx="1188719" cy="224027"/>
          </a:xfrm>
          <a:prstGeom prst="rect">
            <a:avLst/>
          </a:prstGeom>
          <a:noFill/>
        </p:spPr>
        <p:txBody>
          <a:bodyPr wrap="square">
            <a:spAutoFit/>
          </a:bodyPr>
          <a:lstStyle/>
          <a:p>
            <a:pPr algn="ctr"/>
            <a:r>
              <a:rPr sz="850" b="0" i="0">
                <a:solidFill>
                  <a:srgbClr val="1A1A2E"/>
                </a:solidFill>
              </a:rPr>
              <a:t>24,040</a:t>
            </a:r>
          </a:p>
        </p:txBody>
      </p:sp>
      <p:sp>
        <p:nvSpPr>
          <p:cNvPr id="91" name="Rectangle 90"/>
          <p:cNvSpPr/>
          <p:nvPr/>
        </p:nvSpPr>
        <p:spPr>
          <a:xfrm>
            <a:off x="4297679" y="4535424"/>
            <a:ext cx="13716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361688" y="4562856"/>
            <a:ext cx="1280160" cy="224027"/>
          </a:xfrm>
          <a:prstGeom prst="rect">
            <a:avLst/>
          </a:prstGeom>
          <a:noFill/>
        </p:spPr>
        <p:txBody>
          <a:bodyPr wrap="square">
            <a:spAutoFit/>
          </a:bodyPr>
          <a:lstStyle/>
          <a:p>
            <a:pPr algn="ctr"/>
            <a:r>
              <a:rPr sz="850" b="0" i="0">
                <a:solidFill>
                  <a:srgbClr val="1A1A2E"/>
                </a:solidFill>
              </a:rPr>
              <a:t>3</a:t>
            </a:r>
          </a:p>
        </p:txBody>
      </p:sp>
      <p:sp>
        <p:nvSpPr>
          <p:cNvPr id="93" name="Rectangle 92"/>
          <p:cNvSpPr/>
          <p:nvPr/>
        </p:nvSpPr>
        <p:spPr>
          <a:xfrm>
            <a:off x="5669279" y="4535424"/>
            <a:ext cx="18288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733288" y="4562856"/>
            <a:ext cx="1737360" cy="224027"/>
          </a:xfrm>
          <a:prstGeom prst="rect">
            <a:avLst/>
          </a:prstGeom>
          <a:noFill/>
        </p:spPr>
        <p:txBody>
          <a:bodyPr wrap="square">
            <a:spAutoFit/>
          </a:bodyPr>
          <a:lstStyle/>
          <a:p>
            <a:pPr algn="ctr"/>
            <a:r>
              <a:rPr sz="850" b="0" i="0">
                <a:solidFill>
                  <a:srgbClr val="1A1A2E"/>
                </a:solidFill>
              </a:rPr>
              <a:t>2 (Resume.io)</a:t>
            </a:r>
          </a:p>
        </p:txBody>
      </p:sp>
      <p:sp>
        <p:nvSpPr>
          <p:cNvPr id="95" name="Rectangle 94"/>
          <p:cNvSpPr/>
          <p:nvPr/>
        </p:nvSpPr>
        <p:spPr>
          <a:xfrm>
            <a:off x="7498079" y="4535424"/>
            <a:ext cx="164592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562088" y="4562856"/>
            <a:ext cx="1554480" cy="224027"/>
          </a:xfrm>
          <a:prstGeom prst="rect">
            <a:avLst/>
          </a:prstGeom>
          <a:noFill/>
        </p:spPr>
        <p:txBody>
          <a:bodyPr wrap="square">
            <a:spAutoFit/>
          </a:bodyPr>
          <a:lstStyle/>
          <a:p>
            <a:pPr algn="ctr"/>
            <a:r>
              <a:rPr sz="850" b="0" i="0">
                <a:solidFill>
                  <a:srgbClr val="1A1A2E"/>
                </a:solidFill>
              </a:rPr>
              <a:t>Not Ranking</a:t>
            </a:r>
          </a:p>
        </p:txBody>
      </p:sp>
      <p:sp>
        <p:nvSpPr>
          <p:cNvPr id="97" name="Rectangle 96"/>
          <p:cNvSpPr/>
          <p:nvPr/>
        </p:nvSpPr>
        <p:spPr>
          <a:xfrm>
            <a:off x="274320" y="4800600"/>
            <a:ext cx="27432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38328" y="4828032"/>
            <a:ext cx="2651760" cy="224027"/>
          </a:xfrm>
          <a:prstGeom prst="rect">
            <a:avLst/>
          </a:prstGeom>
          <a:noFill/>
        </p:spPr>
        <p:txBody>
          <a:bodyPr wrap="square">
            <a:spAutoFit/>
          </a:bodyPr>
          <a:lstStyle/>
          <a:p>
            <a:pPr algn="l"/>
            <a:r>
              <a:rPr sz="850" b="0" i="0">
                <a:solidFill>
                  <a:srgbClr val="1A1A2E"/>
                </a:solidFill>
              </a:rPr>
              <a:t>online resume maker</a:t>
            </a:r>
          </a:p>
        </p:txBody>
      </p:sp>
      <p:sp>
        <p:nvSpPr>
          <p:cNvPr id="99" name="Rectangle 98"/>
          <p:cNvSpPr/>
          <p:nvPr/>
        </p:nvSpPr>
        <p:spPr>
          <a:xfrm>
            <a:off x="3017520" y="4800600"/>
            <a:ext cx="128016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081527" y="4828032"/>
            <a:ext cx="1188719" cy="224027"/>
          </a:xfrm>
          <a:prstGeom prst="rect">
            <a:avLst/>
          </a:prstGeom>
          <a:noFill/>
        </p:spPr>
        <p:txBody>
          <a:bodyPr wrap="square">
            <a:spAutoFit/>
          </a:bodyPr>
          <a:lstStyle/>
          <a:p>
            <a:pPr algn="ctr"/>
            <a:r>
              <a:rPr sz="850" b="0" i="0">
                <a:solidFill>
                  <a:srgbClr val="1A1A2E"/>
                </a:solidFill>
              </a:rPr>
              <a:t>11,390</a:t>
            </a:r>
          </a:p>
        </p:txBody>
      </p:sp>
      <p:sp>
        <p:nvSpPr>
          <p:cNvPr id="101" name="Rectangle 100"/>
          <p:cNvSpPr/>
          <p:nvPr/>
        </p:nvSpPr>
        <p:spPr>
          <a:xfrm>
            <a:off x="4297679" y="4800600"/>
            <a:ext cx="13716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361688" y="4828032"/>
            <a:ext cx="1280160" cy="224027"/>
          </a:xfrm>
          <a:prstGeom prst="rect">
            <a:avLst/>
          </a:prstGeom>
          <a:noFill/>
        </p:spPr>
        <p:txBody>
          <a:bodyPr wrap="square">
            <a:spAutoFit/>
          </a:bodyPr>
          <a:lstStyle/>
          <a:p>
            <a:pPr algn="ctr"/>
            <a:r>
              <a:rPr sz="850" b="0" i="0">
                <a:solidFill>
                  <a:srgbClr val="1A1A2E"/>
                </a:solidFill>
              </a:rPr>
              <a:t>3</a:t>
            </a:r>
          </a:p>
        </p:txBody>
      </p:sp>
      <p:sp>
        <p:nvSpPr>
          <p:cNvPr id="103" name="Rectangle 102"/>
          <p:cNvSpPr/>
          <p:nvPr/>
        </p:nvSpPr>
        <p:spPr>
          <a:xfrm>
            <a:off x="5669279" y="4800600"/>
            <a:ext cx="18288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733288" y="4828032"/>
            <a:ext cx="1737360" cy="224027"/>
          </a:xfrm>
          <a:prstGeom prst="rect">
            <a:avLst/>
          </a:prstGeom>
          <a:noFill/>
        </p:spPr>
        <p:txBody>
          <a:bodyPr wrap="square">
            <a:spAutoFit/>
          </a:bodyPr>
          <a:lstStyle/>
          <a:p>
            <a:pPr algn="ctr"/>
            <a:r>
              <a:rPr sz="850" b="0" i="0">
                <a:solidFill>
                  <a:srgbClr val="1A1A2E"/>
                </a:solidFill>
              </a:rPr>
              <a:t>1 (Novoresume)</a:t>
            </a:r>
          </a:p>
        </p:txBody>
      </p:sp>
      <p:sp>
        <p:nvSpPr>
          <p:cNvPr id="105" name="Rectangle 104"/>
          <p:cNvSpPr/>
          <p:nvPr/>
        </p:nvSpPr>
        <p:spPr>
          <a:xfrm>
            <a:off x="7498079" y="4800600"/>
            <a:ext cx="164592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562088" y="4828032"/>
            <a:ext cx="1554480" cy="224027"/>
          </a:xfrm>
          <a:prstGeom prst="rect">
            <a:avLst/>
          </a:prstGeom>
          <a:noFill/>
        </p:spPr>
        <p:txBody>
          <a:bodyPr wrap="square">
            <a:spAutoFit/>
          </a:bodyPr>
          <a:lstStyle/>
          <a:p>
            <a:pPr algn="ctr"/>
            <a:r>
              <a:rPr sz="850" b="0" i="0">
                <a:solidFill>
                  <a:srgbClr val="1A1A2E"/>
                </a:solidFill>
              </a:rPr>
              <a:t>Not Ranking</a:t>
            </a:r>
          </a:p>
        </p:txBody>
      </p:sp>
      <p:sp>
        <p:nvSpPr>
          <p:cNvPr id="107" name="Rectangle 106"/>
          <p:cNvSpPr/>
          <p:nvPr/>
        </p:nvSpPr>
        <p:spPr>
          <a:xfrm>
            <a:off x="274320" y="5065776"/>
            <a:ext cx="27432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38328" y="5093208"/>
            <a:ext cx="2651760" cy="224027"/>
          </a:xfrm>
          <a:prstGeom prst="rect">
            <a:avLst/>
          </a:prstGeom>
          <a:noFill/>
        </p:spPr>
        <p:txBody>
          <a:bodyPr wrap="square">
            <a:spAutoFit/>
          </a:bodyPr>
          <a:lstStyle/>
          <a:p>
            <a:pPr algn="l"/>
            <a:r>
              <a:rPr sz="850" b="0" i="0">
                <a:solidFill>
                  <a:srgbClr val="1A1A2E"/>
                </a:solidFill>
              </a:rPr>
              <a:t>ai resume builder</a:t>
            </a:r>
          </a:p>
        </p:txBody>
      </p:sp>
      <p:sp>
        <p:nvSpPr>
          <p:cNvPr id="109" name="Rectangle 108"/>
          <p:cNvSpPr/>
          <p:nvPr/>
        </p:nvSpPr>
        <p:spPr>
          <a:xfrm>
            <a:off x="3017520" y="5065776"/>
            <a:ext cx="128016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081527" y="5093208"/>
            <a:ext cx="1188719" cy="224027"/>
          </a:xfrm>
          <a:prstGeom prst="rect">
            <a:avLst/>
          </a:prstGeom>
          <a:noFill/>
        </p:spPr>
        <p:txBody>
          <a:bodyPr wrap="square">
            <a:spAutoFit/>
          </a:bodyPr>
          <a:lstStyle/>
          <a:p>
            <a:pPr algn="ctr"/>
            <a:r>
              <a:rPr sz="850" b="0" i="0">
                <a:solidFill>
                  <a:srgbClr val="1A1A2E"/>
                </a:solidFill>
              </a:rPr>
              <a:t>8,890</a:t>
            </a:r>
          </a:p>
        </p:txBody>
      </p:sp>
      <p:sp>
        <p:nvSpPr>
          <p:cNvPr id="111" name="Rectangle 110"/>
          <p:cNvSpPr/>
          <p:nvPr/>
        </p:nvSpPr>
        <p:spPr>
          <a:xfrm>
            <a:off x="4297679" y="5065776"/>
            <a:ext cx="13716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361688" y="5093208"/>
            <a:ext cx="1280160" cy="224027"/>
          </a:xfrm>
          <a:prstGeom prst="rect">
            <a:avLst/>
          </a:prstGeom>
          <a:noFill/>
        </p:spPr>
        <p:txBody>
          <a:bodyPr wrap="square">
            <a:spAutoFit/>
          </a:bodyPr>
          <a:lstStyle/>
          <a:p>
            <a:pPr algn="ctr"/>
            <a:r>
              <a:rPr sz="850" b="0" i="0">
                <a:solidFill>
                  <a:srgbClr val="1A1A2E"/>
                </a:solidFill>
              </a:rPr>
              <a:t>3</a:t>
            </a:r>
          </a:p>
        </p:txBody>
      </p:sp>
      <p:sp>
        <p:nvSpPr>
          <p:cNvPr id="113" name="Rectangle 112"/>
          <p:cNvSpPr/>
          <p:nvPr/>
        </p:nvSpPr>
        <p:spPr>
          <a:xfrm>
            <a:off x="5669279" y="5065776"/>
            <a:ext cx="182880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733288" y="5093208"/>
            <a:ext cx="1737360" cy="224027"/>
          </a:xfrm>
          <a:prstGeom prst="rect">
            <a:avLst/>
          </a:prstGeom>
          <a:noFill/>
        </p:spPr>
        <p:txBody>
          <a:bodyPr wrap="square">
            <a:spAutoFit/>
          </a:bodyPr>
          <a:lstStyle/>
          <a:p>
            <a:pPr algn="ctr"/>
            <a:r>
              <a:rPr sz="850" b="0" i="0">
                <a:solidFill>
                  <a:srgbClr val="1A1A2E"/>
                </a:solidFill>
              </a:rPr>
              <a:t>2 (Resume.io)</a:t>
            </a:r>
          </a:p>
        </p:txBody>
      </p:sp>
      <p:sp>
        <p:nvSpPr>
          <p:cNvPr id="115" name="Rectangle 114"/>
          <p:cNvSpPr/>
          <p:nvPr/>
        </p:nvSpPr>
        <p:spPr>
          <a:xfrm>
            <a:off x="7498079" y="5065776"/>
            <a:ext cx="1645920" cy="260603"/>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562088" y="5093208"/>
            <a:ext cx="1554480" cy="224027"/>
          </a:xfrm>
          <a:prstGeom prst="rect">
            <a:avLst/>
          </a:prstGeom>
          <a:noFill/>
        </p:spPr>
        <p:txBody>
          <a:bodyPr wrap="square">
            <a:spAutoFit/>
          </a:bodyPr>
          <a:lstStyle/>
          <a:p>
            <a:pPr algn="ctr"/>
            <a:r>
              <a:rPr sz="850" b="0" i="0">
                <a:solidFill>
                  <a:srgbClr val="1A1A2E"/>
                </a:solidFill>
              </a:rPr>
              <a:t>Not Ranking</a:t>
            </a:r>
          </a:p>
        </p:txBody>
      </p:sp>
      <p:sp>
        <p:nvSpPr>
          <p:cNvPr id="117" name="Rectangle 116"/>
          <p:cNvSpPr/>
          <p:nvPr/>
        </p:nvSpPr>
        <p:spPr>
          <a:xfrm>
            <a:off x="274320" y="5330952"/>
            <a:ext cx="27432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38328" y="5358384"/>
            <a:ext cx="2651760" cy="224027"/>
          </a:xfrm>
          <a:prstGeom prst="rect">
            <a:avLst/>
          </a:prstGeom>
          <a:noFill/>
        </p:spPr>
        <p:txBody>
          <a:bodyPr wrap="square">
            <a:spAutoFit/>
          </a:bodyPr>
          <a:lstStyle/>
          <a:p>
            <a:pPr algn="l"/>
            <a:r>
              <a:rPr sz="850" b="0" i="0">
                <a:solidFill>
                  <a:srgbClr val="1A1A2E"/>
                </a:solidFill>
              </a:rPr>
              <a:t>cover letter format</a:t>
            </a:r>
          </a:p>
        </p:txBody>
      </p:sp>
      <p:sp>
        <p:nvSpPr>
          <p:cNvPr id="119" name="Rectangle 118"/>
          <p:cNvSpPr/>
          <p:nvPr/>
        </p:nvSpPr>
        <p:spPr>
          <a:xfrm>
            <a:off x="3017520" y="5330952"/>
            <a:ext cx="128016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081527" y="5358384"/>
            <a:ext cx="1188719" cy="224027"/>
          </a:xfrm>
          <a:prstGeom prst="rect">
            <a:avLst/>
          </a:prstGeom>
          <a:noFill/>
        </p:spPr>
        <p:txBody>
          <a:bodyPr wrap="square">
            <a:spAutoFit/>
          </a:bodyPr>
          <a:lstStyle/>
          <a:p>
            <a:pPr algn="ctr"/>
            <a:r>
              <a:rPr sz="850" b="0" i="0">
                <a:solidFill>
                  <a:srgbClr val="1A1A2E"/>
                </a:solidFill>
              </a:rPr>
              <a:t>8,210</a:t>
            </a:r>
          </a:p>
        </p:txBody>
      </p:sp>
      <p:sp>
        <p:nvSpPr>
          <p:cNvPr id="121" name="Rectangle 120"/>
          <p:cNvSpPr/>
          <p:nvPr/>
        </p:nvSpPr>
        <p:spPr>
          <a:xfrm>
            <a:off x="4297679" y="5330952"/>
            <a:ext cx="13716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361688" y="5358384"/>
            <a:ext cx="1280160" cy="224027"/>
          </a:xfrm>
          <a:prstGeom prst="rect">
            <a:avLst/>
          </a:prstGeom>
          <a:noFill/>
        </p:spPr>
        <p:txBody>
          <a:bodyPr wrap="square">
            <a:spAutoFit/>
          </a:bodyPr>
          <a:lstStyle/>
          <a:p>
            <a:pPr algn="ctr"/>
            <a:r>
              <a:rPr sz="850" b="0" i="0">
                <a:solidFill>
                  <a:srgbClr val="1A1A2E"/>
                </a:solidFill>
              </a:rPr>
              <a:t>3</a:t>
            </a:r>
          </a:p>
        </p:txBody>
      </p:sp>
      <p:sp>
        <p:nvSpPr>
          <p:cNvPr id="123" name="Rectangle 122"/>
          <p:cNvSpPr/>
          <p:nvPr/>
        </p:nvSpPr>
        <p:spPr>
          <a:xfrm>
            <a:off x="5669279" y="5330952"/>
            <a:ext cx="182880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733288" y="5358384"/>
            <a:ext cx="1737360" cy="224027"/>
          </a:xfrm>
          <a:prstGeom prst="rect">
            <a:avLst/>
          </a:prstGeom>
          <a:noFill/>
        </p:spPr>
        <p:txBody>
          <a:bodyPr wrap="square">
            <a:spAutoFit/>
          </a:bodyPr>
          <a:lstStyle/>
          <a:p>
            <a:pPr algn="ctr"/>
            <a:r>
              <a:rPr sz="850" b="0" i="0">
                <a:solidFill>
                  <a:srgbClr val="1A1A2E"/>
                </a:solidFill>
              </a:rPr>
              <a:t>12 (Indeed)</a:t>
            </a:r>
          </a:p>
        </p:txBody>
      </p:sp>
      <p:sp>
        <p:nvSpPr>
          <p:cNvPr id="125" name="Rectangle 124"/>
          <p:cNvSpPr/>
          <p:nvPr/>
        </p:nvSpPr>
        <p:spPr>
          <a:xfrm>
            <a:off x="7498079" y="5330952"/>
            <a:ext cx="1645920" cy="260603"/>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62088" y="5358384"/>
            <a:ext cx="1554480" cy="224027"/>
          </a:xfrm>
          <a:prstGeom prst="rect">
            <a:avLst/>
          </a:prstGeom>
          <a:noFill/>
        </p:spPr>
        <p:txBody>
          <a:bodyPr wrap="square">
            <a:spAutoFit/>
          </a:bodyPr>
          <a:lstStyle/>
          <a:p>
            <a:pPr algn="ctr"/>
            <a:r>
              <a:rPr sz="850" b="0" i="0">
                <a:solidFill>
                  <a:srgbClr val="1A1A2E"/>
                </a:solidFill>
              </a:rPr>
              <a:t>Not Ranking</a:t>
            </a:r>
          </a:p>
        </p:txBody>
      </p:sp>
      <p:sp>
        <p:nvSpPr>
          <p:cNvPr id="127" name="Rectangle 126"/>
          <p:cNvSpPr/>
          <p:nvPr/>
        </p:nvSpPr>
        <p:spPr>
          <a:xfrm>
            <a:off x="5623560" y="2395728"/>
            <a:ext cx="54864" cy="32004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760720" y="2395728"/>
            <a:ext cx="3657600" cy="320040"/>
          </a:xfrm>
          <a:prstGeom prst="rect">
            <a:avLst/>
          </a:prstGeom>
          <a:noFill/>
        </p:spPr>
        <p:txBody>
          <a:bodyPr wrap="square">
            <a:spAutoFit/>
          </a:bodyPr>
          <a:lstStyle/>
          <a:p>
            <a:pPr algn="l"/>
            <a:r>
              <a:rPr sz="1100" b="1" i="0">
                <a:solidFill>
                  <a:srgbClr val="009BA5"/>
                </a:solidFill>
              </a:rPr>
              <a:t>Recommended New Content</a:t>
            </a:r>
          </a:p>
        </p:txBody>
      </p:sp>
      <p:sp>
        <p:nvSpPr>
          <p:cNvPr id="129" name="Rectangle 128"/>
          <p:cNvSpPr/>
          <p:nvPr/>
        </p:nvSpPr>
        <p:spPr>
          <a:xfrm>
            <a:off x="5623560" y="2697480"/>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623560" y="2697480"/>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760720" y="2724912"/>
            <a:ext cx="5943600" cy="246888"/>
          </a:xfrm>
          <a:prstGeom prst="rect">
            <a:avLst/>
          </a:prstGeom>
          <a:noFill/>
        </p:spPr>
        <p:txBody>
          <a:bodyPr wrap="square">
            <a:spAutoFit/>
          </a:bodyPr>
          <a:lstStyle/>
          <a:p>
            <a:pPr algn="l"/>
            <a:r>
              <a:rPr sz="950" b="1" i="0">
                <a:solidFill>
                  <a:srgbClr val="1A1A2E"/>
                </a:solidFill>
              </a:rPr>
              <a:t>Resume Builder Tool Pages</a:t>
            </a:r>
          </a:p>
        </p:txBody>
      </p:sp>
      <p:sp>
        <p:nvSpPr>
          <p:cNvPr id="132" name="TextBox 131"/>
          <p:cNvSpPr txBox="1"/>
          <p:nvPr/>
        </p:nvSpPr>
        <p:spPr>
          <a:xfrm>
            <a:off x="5760720" y="2962656"/>
            <a:ext cx="5943600" cy="274320"/>
          </a:xfrm>
          <a:prstGeom prst="rect">
            <a:avLst/>
          </a:prstGeom>
          <a:noFill/>
        </p:spPr>
        <p:txBody>
          <a:bodyPr wrap="square">
            <a:spAutoFit/>
          </a:bodyPr>
          <a:lstStyle/>
          <a:p>
            <a:pPr algn="l"/>
            <a:r>
              <a:rPr sz="850" b="0" i="1">
                <a:solidFill>
                  <a:srgbClr val="5A6A85"/>
                </a:solidFill>
              </a:rPr>
              <a:t>resume.io wins 400K+ vol — Naukri needs /resume-builder/ tool page</a:t>
            </a:r>
          </a:p>
        </p:txBody>
      </p:sp>
      <p:sp>
        <p:nvSpPr>
          <p:cNvPr id="133" name="Rectangle 132"/>
          <p:cNvSpPr/>
          <p:nvPr/>
        </p:nvSpPr>
        <p:spPr>
          <a:xfrm>
            <a:off x="5623560" y="3364992"/>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623560" y="3364992"/>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760720" y="3392424"/>
            <a:ext cx="5943600" cy="246888"/>
          </a:xfrm>
          <a:prstGeom prst="rect">
            <a:avLst/>
          </a:prstGeom>
          <a:noFill/>
        </p:spPr>
        <p:txBody>
          <a:bodyPr wrap="square">
            <a:spAutoFit/>
          </a:bodyPr>
          <a:lstStyle/>
          <a:p>
            <a:pPr algn="l"/>
            <a:r>
              <a:rPr sz="950" b="1" i="0">
                <a:solidFill>
                  <a:srgbClr val="1A1A2E"/>
                </a:solidFill>
              </a:rPr>
              <a:t>Government Exams Hub</a:t>
            </a:r>
          </a:p>
        </p:txBody>
      </p:sp>
      <p:sp>
        <p:nvSpPr>
          <p:cNvPr id="136" name="TextBox 135"/>
          <p:cNvSpPr txBox="1"/>
          <p:nvPr/>
        </p:nvSpPr>
        <p:spPr>
          <a:xfrm>
            <a:off x="5760720" y="3630168"/>
            <a:ext cx="5943600" cy="274320"/>
          </a:xfrm>
          <a:prstGeom prst="rect">
            <a:avLst/>
          </a:prstGeom>
          <a:noFill/>
        </p:spPr>
        <p:txBody>
          <a:bodyPr wrap="square">
            <a:spAutoFit/>
          </a:bodyPr>
          <a:lstStyle/>
          <a:p>
            <a:pPr algn="l"/>
            <a:r>
              <a:rPr sz="850" b="0" i="1">
                <a:solidFill>
                  <a:srgbClr val="5A6A85"/>
                </a:solidFill>
              </a:rPr>
              <a:t>polytechnic (153K), iti (72K), excise dept (77K) — Indeed owns these</a:t>
            </a:r>
          </a:p>
        </p:txBody>
      </p:sp>
      <p:sp>
        <p:nvSpPr>
          <p:cNvPr id="137" name="Rectangle 136"/>
          <p:cNvSpPr/>
          <p:nvPr/>
        </p:nvSpPr>
        <p:spPr>
          <a:xfrm>
            <a:off x="5623560" y="4032504"/>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623560" y="4032504"/>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760720" y="4059935"/>
            <a:ext cx="5943600" cy="246888"/>
          </a:xfrm>
          <a:prstGeom prst="rect">
            <a:avLst/>
          </a:prstGeom>
          <a:noFill/>
        </p:spPr>
        <p:txBody>
          <a:bodyPr wrap="square">
            <a:spAutoFit/>
          </a:bodyPr>
          <a:lstStyle/>
          <a:p>
            <a:pPr algn="l"/>
            <a:r>
              <a:rPr sz="950" b="1" i="0">
                <a:solidFill>
                  <a:srgbClr val="1A1A2E"/>
                </a:solidFill>
              </a:rPr>
              <a:t>Full Forms Directory</a:t>
            </a:r>
          </a:p>
        </p:txBody>
      </p:sp>
      <p:sp>
        <p:nvSpPr>
          <p:cNvPr id="140" name="TextBox 139"/>
          <p:cNvSpPr txBox="1"/>
          <p:nvPr/>
        </p:nvSpPr>
        <p:spPr>
          <a:xfrm>
            <a:off x="5760720" y="4297680"/>
            <a:ext cx="5943600" cy="274320"/>
          </a:xfrm>
          <a:prstGeom prst="rect">
            <a:avLst/>
          </a:prstGeom>
          <a:noFill/>
        </p:spPr>
        <p:txBody>
          <a:bodyPr wrap="square">
            <a:spAutoFit/>
          </a:bodyPr>
          <a:lstStyle/>
          <a:p>
            <a:pPr algn="l"/>
            <a:r>
              <a:rPr sz="850" b="0" i="1">
                <a:solidFill>
                  <a:srgbClr val="5A6A85"/>
                </a:solidFill>
              </a:rPr>
              <a:t>gdp full form (101K), iti full form (62K) — standalone /full-forms/ hub</a:t>
            </a:r>
          </a:p>
        </p:txBody>
      </p:sp>
      <p:sp>
        <p:nvSpPr>
          <p:cNvPr id="141" name="Rectangle 140"/>
          <p:cNvSpPr/>
          <p:nvPr/>
        </p:nvSpPr>
        <p:spPr>
          <a:xfrm>
            <a:off x="5623560" y="4700016"/>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623560" y="4700016"/>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760720" y="4727448"/>
            <a:ext cx="5943600" cy="246888"/>
          </a:xfrm>
          <a:prstGeom prst="rect">
            <a:avLst/>
          </a:prstGeom>
          <a:noFill/>
        </p:spPr>
        <p:txBody>
          <a:bodyPr wrap="square">
            <a:spAutoFit/>
          </a:bodyPr>
          <a:lstStyle/>
          <a:p>
            <a:pPr algn="l"/>
            <a:r>
              <a:rPr sz="950" b="1" i="0">
                <a:solidFill>
                  <a:srgbClr val="1A1A2E"/>
                </a:solidFill>
              </a:rPr>
              <a:t>Role-Specific Salary Pages</a:t>
            </a:r>
          </a:p>
        </p:txBody>
      </p:sp>
      <p:sp>
        <p:nvSpPr>
          <p:cNvPr id="144" name="TextBox 143"/>
          <p:cNvSpPr txBox="1"/>
          <p:nvPr/>
        </p:nvSpPr>
        <p:spPr>
          <a:xfrm>
            <a:off x="5760720" y="4965192"/>
            <a:ext cx="5943600" cy="274320"/>
          </a:xfrm>
          <a:prstGeom prst="rect">
            <a:avLst/>
          </a:prstGeom>
          <a:noFill/>
        </p:spPr>
        <p:txBody>
          <a:bodyPr wrap="square">
            <a:spAutoFit/>
          </a:bodyPr>
          <a:lstStyle/>
          <a:p>
            <a:pPr algn="l"/>
            <a:r>
              <a:rPr sz="850" b="0" i="1">
                <a:solidFill>
                  <a:srgbClr val="5A6A85"/>
                </a:solidFill>
              </a:rPr>
              <a:t>chartered accountant (84K, pos 18) — use job-listing data for authority</a:t>
            </a:r>
          </a:p>
        </p:txBody>
      </p:sp>
      <p:sp>
        <p:nvSpPr>
          <p:cNvPr id="145" name="Rectangle 144"/>
          <p:cNvSpPr/>
          <p:nvPr/>
        </p:nvSpPr>
        <p:spPr>
          <a:xfrm>
            <a:off x="5623560" y="5367528"/>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623560" y="5367528"/>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760720" y="5394960"/>
            <a:ext cx="5943600" cy="246888"/>
          </a:xfrm>
          <a:prstGeom prst="rect">
            <a:avLst/>
          </a:prstGeom>
          <a:noFill/>
        </p:spPr>
        <p:txBody>
          <a:bodyPr wrap="square">
            <a:spAutoFit/>
          </a:bodyPr>
          <a:lstStyle/>
          <a:p>
            <a:pPr algn="l"/>
            <a:r>
              <a:rPr sz="950" b="1" i="0">
                <a:solidFill>
                  <a:srgbClr val="1A1A2E"/>
                </a:solidFill>
              </a:rPr>
              <a:t>Workplace Glossary /glossary/</a:t>
            </a:r>
          </a:p>
        </p:txBody>
      </p:sp>
      <p:sp>
        <p:nvSpPr>
          <p:cNvPr id="148" name="TextBox 147"/>
          <p:cNvSpPr txBox="1"/>
          <p:nvPr/>
        </p:nvSpPr>
        <p:spPr>
          <a:xfrm>
            <a:off x="5760720" y="5632704"/>
            <a:ext cx="5943600" cy="274320"/>
          </a:xfrm>
          <a:prstGeom prst="rect">
            <a:avLst/>
          </a:prstGeom>
          <a:noFill/>
        </p:spPr>
        <p:txBody>
          <a:bodyPr wrap="square">
            <a:spAutoFit/>
          </a:bodyPr>
          <a:lstStyle/>
          <a:p>
            <a:pPr algn="l"/>
            <a:r>
              <a:rPr sz="850" b="0" i="1">
                <a:solidFill>
                  <a:srgbClr val="5A6A85"/>
                </a:solidFill>
              </a:rPr>
              <a:t>stipend meaning (58K), layoff (56K) — single-concept definition pages</a:t>
            </a:r>
          </a:p>
        </p:txBody>
      </p:sp>
      <p:sp>
        <p:nvSpPr>
          <p:cNvPr id="149" name="Rectangle 148"/>
          <p:cNvSpPr/>
          <p:nvPr/>
        </p:nvSpPr>
        <p:spPr>
          <a:xfrm>
            <a:off x="5623560" y="6035040"/>
            <a:ext cx="6263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623560" y="6035040"/>
            <a:ext cx="45720" cy="59436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760720" y="6062472"/>
            <a:ext cx="5943600" cy="246888"/>
          </a:xfrm>
          <a:prstGeom prst="rect">
            <a:avLst/>
          </a:prstGeom>
          <a:noFill/>
        </p:spPr>
        <p:txBody>
          <a:bodyPr wrap="square">
            <a:spAutoFit/>
          </a:bodyPr>
          <a:lstStyle/>
          <a:p>
            <a:pPr algn="l"/>
            <a:r>
              <a:rPr sz="950" b="1" i="0">
                <a:solidFill>
                  <a:srgbClr val="1A1A2E"/>
                </a:solidFill>
              </a:rPr>
              <a:t>Interview Question Banks</a:t>
            </a:r>
          </a:p>
        </p:txBody>
      </p:sp>
      <p:sp>
        <p:nvSpPr>
          <p:cNvPr id="152" name="TextBox 151"/>
          <p:cNvSpPr txBox="1"/>
          <p:nvPr/>
        </p:nvSpPr>
        <p:spPr>
          <a:xfrm>
            <a:off x="5760720" y="6300216"/>
            <a:ext cx="5943600" cy="274320"/>
          </a:xfrm>
          <a:prstGeom prst="rect">
            <a:avLst/>
          </a:prstGeom>
          <a:noFill/>
        </p:spPr>
        <p:txBody>
          <a:bodyPr wrap="square">
            <a:spAutoFit/>
          </a:bodyPr>
          <a:lstStyle/>
          <a:p>
            <a:pPr algn="l"/>
            <a:r>
              <a:rPr sz="850" b="0" i="1">
                <a:solidFill>
                  <a:srgbClr val="5A6A85"/>
                </a:solidFill>
              </a:rPr>
              <a:t>Finalroundai/Pramp dominate practice — role-specific Q&amp;A banks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07 — URL-Level Analysis (Naukri)</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Best pages, underperformers &amp; cannibalization</a:t>
            </a:r>
          </a:p>
        </p:txBody>
      </p:sp>
      <p:sp>
        <p:nvSpPr>
          <p:cNvPr id="6" name="Rectangle 5"/>
          <p:cNvSpPr/>
          <p:nvPr/>
        </p:nvSpPr>
        <p:spPr>
          <a:xfrm>
            <a:off x="274320" y="1325880"/>
            <a:ext cx="54864" cy="3200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325880"/>
            <a:ext cx="3657600" cy="320040"/>
          </a:xfrm>
          <a:prstGeom prst="rect">
            <a:avLst/>
          </a:prstGeom>
          <a:noFill/>
        </p:spPr>
        <p:txBody>
          <a:bodyPr wrap="square">
            <a:spAutoFit/>
          </a:bodyPr>
          <a:lstStyle/>
          <a:p>
            <a:pPr algn="l"/>
            <a:r>
              <a:rPr sz="1100" b="1" i="0">
                <a:solidFill>
                  <a:srgbClr val="FF6B00"/>
                </a:solidFill>
              </a:rPr>
              <a:t>Top Naukri URLs by Keyword Coverage</a:t>
            </a:r>
          </a:p>
        </p:txBody>
      </p:sp>
      <p:sp>
        <p:nvSpPr>
          <p:cNvPr id="8" name="Rectangle 7"/>
          <p:cNvSpPr/>
          <p:nvPr/>
        </p:nvSpPr>
        <p:spPr>
          <a:xfrm>
            <a:off x="274320" y="1600200"/>
            <a:ext cx="502920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636776"/>
            <a:ext cx="4937760" cy="228600"/>
          </a:xfrm>
          <a:prstGeom prst="rect">
            <a:avLst/>
          </a:prstGeom>
          <a:noFill/>
        </p:spPr>
        <p:txBody>
          <a:bodyPr wrap="square">
            <a:spAutoFit/>
          </a:bodyPr>
          <a:lstStyle/>
          <a:p>
            <a:pPr algn="l"/>
            <a:r>
              <a:rPr sz="900" b="1" i="0">
                <a:solidFill>
                  <a:srgbClr val="FFFFFF"/>
                </a:solidFill>
              </a:rPr>
              <a:t>URL (abbreviated)</a:t>
            </a:r>
          </a:p>
        </p:txBody>
      </p:sp>
      <p:sp>
        <p:nvSpPr>
          <p:cNvPr id="10" name="Rectangle 9"/>
          <p:cNvSpPr/>
          <p:nvPr/>
        </p:nvSpPr>
        <p:spPr>
          <a:xfrm>
            <a:off x="5303520" y="1600200"/>
            <a:ext cx="100584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67528" y="1636776"/>
            <a:ext cx="914400" cy="228600"/>
          </a:xfrm>
          <a:prstGeom prst="rect">
            <a:avLst/>
          </a:prstGeom>
          <a:noFill/>
        </p:spPr>
        <p:txBody>
          <a:bodyPr wrap="square">
            <a:spAutoFit/>
          </a:bodyPr>
          <a:lstStyle/>
          <a:p>
            <a:pPr algn="ctr"/>
            <a:r>
              <a:rPr sz="900" b="1" i="0">
                <a:solidFill>
                  <a:srgbClr val="FFFFFF"/>
                </a:solidFill>
              </a:rPr>
              <a:t>Keywords</a:t>
            </a:r>
          </a:p>
        </p:txBody>
      </p:sp>
      <p:sp>
        <p:nvSpPr>
          <p:cNvPr id="12" name="Rectangle 11"/>
          <p:cNvSpPr/>
          <p:nvPr/>
        </p:nvSpPr>
        <p:spPr>
          <a:xfrm>
            <a:off x="6309360" y="1600200"/>
            <a:ext cx="164592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636776"/>
            <a:ext cx="1554480" cy="228600"/>
          </a:xfrm>
          <a:prstGeom prst="rect">
            <a:avLst/>
          </a:prstGeom>
          <a:noFill/>
        </p:spPr>
        <p:txBody>
          <a:bodyPr wrap="square">
            <a:spAutoFit/>
          </a:bodyPr>
          <a:lstStyle/>
          <a:p>
            <a:pPr algn="ctr"/>
            <a:r>
              <a:rPr sz="900" b="1" i="0">
                <a:solidFill>
                  <a:srgbClr val="FFFFFF"/>
                </a:solidFill>
              </a:rPr>
              <a:t>Total Volume</a:t>
            </a:r>
          </a:p>
        </p:txBody>
      </p:sp>
      <p:sp>
        <p:nvSpPr>
          <p:cNvPr id="14" name="Rectangle 13"/>
          <p:cNvSpPr/>
          <p:nvPr/>
        </p:nvSpPr>
        <p:spPr>
          <a:xfrm>
            <a:off x="7955280" y="1600200"/>
            <a:ext cx="91440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19288" y="1636776"/>
            <a:ext cx="822960" cy="228600"/>
          </a:xfrm>
          <a:prstGeom prst="rect">
            <a:avLst/>
          </a:prstGeom>
          <a:noFill/>
        </p:spPr>
        <p:txBody>
          <a:bodyPr wrap="square">
            <a:spAutoFit/>
          </a:bodyPr>
          <a:lstStyle/>
          <a:p>
            <a:pPr algn="ctr"/>
            <a:r>
              <a:rPr sz="900" b="1" i="0">
                <a:solidFill>
                  <a:srgbClr val="FFFFFF"/>
                </a:solidFill>
              </a:rPr>
              <a:t>Avg Pos</a:t>
            </a:r>
          </a:p>
        </p:txBody>
      </p:sp>
      <p:sp>
        <p:nvSpPr>
          <p:cNvPr id="16" name="Rectangle 15"/>
          <p:cNvSpPr/>
          <p:nvPr/>
        </p:nvSpPr>
        <p:spPr>
          <a:xfrm>
            <a:off x="8869680" y="1600200"/>
            <a:ext cx="1188720" cy="27432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33688" y="1636776"/>
            <a:ext cx="1097280" cy="228600"/>
          </a:xfrm>
          <a:prstGeom prst="rect">
            <a:avLst/>
          </a:prstGeom>
          <a:noFill/>
        </p:spPr>
        <p:txBody>
          <a:bodyPr wrap="square">
            <a:spAutoFit/>
          </a:bodyPr>
          <a:lstStyle/>
          <a:p>
            <a:pPr algn="ctr"/>
            <a:r>
              <a:rPr sz="900" b="1" i="0">
                <a:solidFill>
                  <a:srgbClr val="FFFFFF"/>
                </a:solidFill>
              </a:rPr>
              <a:t>Top 10 KWs</a:t>
            </a:r>
          </a:p>
        </p:txBody>
      </p:sp>
      <p:sp>
        <p:nvSpPr>
          <p:cNvPr id="18" name="Rectangle 17"/>
          <p:cNvSpPr/>
          <p:nvPr/>
        </p:nvSpPr>
        <p:spPr>
          <a:xfrm>
            <a:off x="274320" y="1874519"/>
            <a:ext cx="50292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 y="1901951"/>
            <a:ext cx="4937760" cy="233172"/>
          </a:xfrm>
          <a:prstGeom prst="rect">
            <a:avLst/>
          </a:prstGeom>
          <a:noFill/>
        </p:spPr>
        <p:txBody>
          <a:bodyPr wrap="square">
            <a:spAutoFit/>
          </a:bodyPr>
          <a:lstStyle/>
          <a:p>
            <a:pPr algn="l"/>
            <a:r>
              <a:rPr sz="850" b="0" i="0">
                <a:solidFill>
                  <a:srgbClr val="1A1A2E"/>
                </a:solidFill>
              </a:rPr>
              <a:t>/campus/career-guidance/ssc-cgl-exam</a:t>
            </a:r>
          </a:p>
        </p:txBody>
      </p:sp>
      <p:sp>
        <p:nvSpPr>
          <p:cNvPr id="20" name="Rectangle 19"/>
          <p:cNvSpPr/>
          <p:nvPr/>
        </p:nvSpPr>
        <p:spPr>
          <a:xfrm>
            <a:off x="5303520" y="1874519"/>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67528" y="1901951"/>
            <a:ext cx="914400" cy="233172"/>
          </a:xfrm>
          <a:prstGeom prst="rect">
            <a:avLst/>
          </a:prstGeom>
          <a:noFill/>
        </p:spPr>
        <p:txBody>
          <a:bodyPr wrap="square">
            <a:spAutoFit/>
          </a:bodyPr>
          <a:lstStyle/>
          <a:p>
            <a:pPr algn="ctr"/>
            <a:r>
              <a:rPr sz="850" b="0" i="0">
                <a:solidFill>
                  <a:srgbClr val="1A1A2E"/>
                </a:solidFill>
              </a:rPr>
              <a:t>716</a:t>
            </a:r>
          </a:p>
        </p:txBody>
      </p:sp>
      <p:sp>
        <p:nvSpPr>
          <p:cNvPr id="22" name="Rectangle 21"/>
          <p:cNvSpPr/>
          <p:nvPr/>
        </p:nvSpPr>
        <p:spPr>
          <a:xfrm>
            <a:off x="6309360" y="1874519"/>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1901951"/>
            <a:ext cx="1554480" cy="233172"/>
          </a:xfrm>
          <a:prstGeom prst="rect">
            <a:avLst/>
          </a:prstGeom>
          <a:noFill/>
        </p:spPr>
        <p:txBody>
          <a:bodyPr wrap="square">
            <a:spAutoFit/>
          </a:bodyPr>
          <a:lstStyle/>
          <a:p>
            <a:pPr algn="ctr"/>
            <a:r>
              <a:rPr sz="850" b="0" i="0">
                <a:solidFill>
                  <a:srgbClr val="1A1A2E"/>
                </a:solidFill>
              </a:rPr>
              <a:t>4,493,080</a:t>
            </a:r>
          </a:p>
        </p:txBody>
      </p:sp>
      <p:sp>
        <p:nvSpPr>
          <p:cNvPr id="24" name="Rectangle 23"/>
          <p:cNvSpPr/>
          <p:nvPr/>
        </p:nvSpPr>
        <p:spPr>
          <a:xfrm>
            <a:off x="7955280" y="1874519"/>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01951"/>
            <a:ext cx="822960" cy="233172"/>
          </a:xfrm>
          <a:prstGeom prst="rect">
            <a:avLst/>
          </a:prstGeom>
          <a:noFill/>
        </p:spPr>
        <p:txBody>
          <a:bodyPr wrap="square">
            <a:spAutoFit/>
          </a:bodyPr>
          <a:lstStyle/>
          <a:p>
            <a:pPr algn="ctr"/>
            <a:r>
              <a:rPr sz="850" b="0" i="0">
                <a:solidFill>
                  <a:srgbClr val="1A1A2E"/>
                </a:solidFill>
              </a:rPr>
              <a:t>17.0 ⚠</a:t>
            </a:r>
          </a:p>
        </p:txBody>
      </p:sp>
      <p:sp>
        <p:nvSpPr>
          <p:cNvPr id="26" name="Rectangle 25"/>
          <p:cNvSpPr/>
          <p:nvPr/>
        </p:nvSpPr>
        <p:spPr>
          <a:xfrm>
            <a:off x="8869680" y="1874519"/>
            <a:ext cx="11887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33688" y="1901951"/>
            <a:ext cx="1097280" cy="233172"/>
          </a:xfrm>
          <a:prstGeom prst="rect">
            <a:avLst/>
          </a:prstGeom>
          <a:noFill/>
        </p:spPr>
        <p:txBody>
          <a:bodyPr wrap="square">
            <a:spAutoFit/>
          </a:bodyPr>
          <a:lstStyle/>
          <a:p>
            <a:pPr algn="ctr"/>
            <a:r>
              <a:rPr sz="850" b="0" i="0">
                <a:solidFill>
                  <a:srgbClr val="1A1A2E"/>
                </a:solidFill>
              </a:rPr>
              <a:t>218</a:t>
            </a:r>
          </a:p>
        </p:txBody>
      </p:sp>
      <p:sp>
        <p:nvSpPr>
          <p:cNvPr id="28" name="Rectangle 27"/>
          <p:cNvSpPr/>
          <p:nvPr/>
        </p:nvSpPr>
        <p:spPr>
          <a:xfrm>
            <a:off x="274320" y="2148839"/>
            <a:ext cx="50292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8328" y="2176271"/>
            <a:ext cx="4937760" cy="233172"/>
          </a:xfrm>
          <a:prstGeom prst="rect">
            <a:avLst/>
          </a:prstGeom>
          <a:noFill/>
        </p:spPr>
        <p:txBody>
          <a:bodyPr wrap="square">
            <a:spAutoFit/>
          </a:bodyPr>
          <a:lstStyle/>
          <a:p>
            <a:pPr algn="l"/>
            <a:r>
              <a:rPr sz="850" b="0" i="0">
                <a:solidFill>
                  <a:srgbClr val="1A1A2E"/>
                </a:solidFill>
              </a:rPr>
              <a:t>resume.naukri.com/resume-quality-score</a:t>
            </a:r>
          </a:p>
        </p:txBody>
      </p:sp>
      <p:sp>
        <p:nvSpPr>
          <p:cNvPr id="30" name="Rectangle 29"/>
          <p:cNvSpPr/>
          <p:nvPr/>
        </p:nvSpPr>
        <p:spPr>
          <a:xfrm>
            <a:off x="5303520" y="2148839"/>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67528" y="2176271"/>
            <a:ext cx="914400" cy="233172"/>
          </a:xfrm>
          <a:prstGeom prst="rect">
            <a:avLst/>
          </a:prstGeom>
          <a:noFill/>
        </p:spPr>
        <p:txBody>
          <a:bodyPr wrap="square">
            <a:spAutoFit/>
          </a:bodyPr>
          <a:lstStyle/>
          <a:p>
            <a:pPr algn="ctr"/>
            <a:r>
              <a:rPr sz="850" b="0" i="0">
                <a:solidFill>
                  <a:srgbClr val="1A1A2E"/>
                </a:solidFill>
              </a:rPr>
              <a:t>527</a:t>
            </a:r>
          </a:p>
        </p:txBody>
      </p:sp>
      <p:sp>
        <p:nvSpPr>
          <p:cNvPr id="32" name="Rectangle 31"/>
          <p:cNvSpPr/>
          <p:nvPr/>
        </p:nvSpPr>
        <p:spPr>
          <a:xfrm>
            <a:off x="6309360" y="2148839"/>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3368" y="2176271"/>
            <a:ext cx="1554480" cy="233172"/>
          </a:xfrm>
          <a:prstGeom prst="rect">
            <a:avLst/>
          </a:prstGeom>
          <a:noFill/>
        </p:spPr>
        <p:txBody>
          <a:bodyPr wrap="square">
            <a:spAutoFit/>
          </a:bodyPr>
          <a:lstStyle/>
          <a:p>
            <a:pPr algn="ctr"/>
            <a:r>
              <a:rPr sz="850" b="0" i="0">
                <a:solidFill>
                  <a:srgbClr val="1A1A2E"/>
                </a:solidFill>
              </a:rPr>
              <a:t>952,420</a:t>
            </a:r>
          </a:p>
        </p:txBody>
      </p:sp>
      <p:sp>
        <p:nvSpPr>
          <p:cNvPr id="34" name="Rectangle 33"/>
          <p:cNvSpPr/>
          <p:nvPr/>
        </p:nvSpPr>
        <p:spPr>
          <a:xfrm>
            <a:off x="7955280" y="2148839"/>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19288" y="2176271"/>
            <a:ext cx="822960" cy="233172"/>
          </a:xfrm>
          <a:prstGeom prst="rect">
            <a:avLst/>
          </a:prstGeom>
          <a:noFill/>
        </p:spPr>
        <p:txBody>
          <a:bodyPr wrap="square">
            <a:spAutoFit/>
          </a:bodyPr>
          <a:lstStyle/>
          <a:p>
            <a:pPr algn="ctr"/>
            <a:r>
              <a:rPr sz="850" b="0" i="0">
                <a:solidFill>
                  <a:srgbClr val="1A1A2E"/>
                </a:solidFill>
              </a:rPr>
              <a:t>10.2 ★</a:t>
            </a:r>
          </a:p>
        </p:txBody>
      </p:sp>
      <p:sp>
        <p:nvSpPr>
          <p:cNvPr id="36" name="Rectangle 35"/>
          <p:cNvSpPr/>
          <p:nvPr/>
        </p:nvSpPr>
        <p:spPr>
          <a:xfrm>
            <a:off x="8869680" y="2148839"/>
            <a:ext cx="11887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33688" y="2176271"/>
            <a:ext cx="1097280" cy="233172"/>
          </a:xfrm>
          <a:prstGeom prst="rect">
            <a:avLst/>
          </a:prstGeom>
          <a:noFill/>
        </p:spPr>
        <p:txBody>
          <a:bodyPr wrap="square">
            <a:spAutoFit/>
          </a:bodyPr>
          <a:lstStyle/>
          <a:p>
            <a:pPr algn="ctr"/>
            <a:r>
              <a:rPr sz="850" b="0" i="0">
                <a:solidFill>
                  <a:srgbClr val="1A1A2E"/>
                </a:solidFill>
              </a:rPr>
              <a:t>370</a:t>
            </a:r>
          </a:p>
        </p:txBody>
      </p:sp>
      <p:sp>
        <p:nvSpPr>
          <p:cNvPr id="38" name="Rectangle 37"/>
          <p:cNvSpPr/>
          <p:nvPr/>
        </p:nvSpPr>
        <p:spPr>
          <a:xfrm>
            <a:off x="274320" y="2423160"/>
            <a:ext cx="50292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 y="2450591"/>
            <a:ext cx="4937760" cy="233172"/>
          </a:xfrm>
          <a:prstGeom prst="rect">
            <a:avLst/>
          </a:prstGeom>
          <a:noFill/>
        </p:spPr>
        <p:txBody>
          <a:bodyPr wrap="square">
            <a:spAutoFit/>
          </a:bodyPr>
          <a:lstStyle/>
          <a:p>
            <a:pPr algn="l"/>
            <a:r>
              <a:rPr sz="850" b="0" i="0">
                <a:solidFill>
                  <a:srgbClr val="1A1A2E"/>
                </a:solidFill>
              </a:rPr>
              <a:t>/campus/career-guidance/highest-paying-jobs-freshers</a:t>
            </a:r>
          </a:p>
        </p:txBody>
      </p:sp>
      <p:sp>
        <p:nvSpPr>
          <p:cNvPr id="40" name="Rectangle 39"/>
          <p:cNvSpPr/>
          <p:nvPr/>
        </p:nvSpPr>
        <p:spPr>
          <a:xfrm>
            <a:off x="5303520" y="2423160"/>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67528" y="2450591"/>
            <a:ext cx="914400" cy="233172"/>
          </a:xfrm>
          <a:prstGeom prst="rect">
            <a:avLst/>
          </a:prstGeom>
          <a:noFill/>
        </p:spPr>
        <p:txBody>
          <a:bodyPr wrap="square">
            <a:spAutoFit/>
          </a:bodyPr>
          <a:lstStyle/>
          <a:p>
            <a:pPr algn="ctr"/>
            <a:r>
              <a:rPr sz="850" b="0" i="0">
                <a:solidFill>
                  <a:srgbClr val="1A1A2E"/>
                </a:solidFill>
              </a:rPr>
              <a:t>375</a:t>
            </a:r>
          </a:p>
        </p:txBody>
      </p:sp>
      <p:sp>
        <p:nvSpPr>
          <p:cNvPr id="42" name="Rectangle 41"/>
          <p:cNvSpPr/>
          <p:nvPr/>
        </p:nvSpPr>
        <p:spPr>
          <a:xfrm>
            <a:off x="6309360" y="2423160"/>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73368" y="2450591"/>
            <a:ext cx="1554480" cy="233172"/>
          </a:xfrm>
          <a:prstGeom prst="rect">
            <a:avLst/>
          </a:prstGeom>
          <a:noFill/>
        </p:spPr>
        <p:txBody>
          <a:bodyPr wrap="square">
            <a:spAutoFit/>
          </a:bodyPr>
          <a:lstStyle/>
          <a:p>
            <a:pPr algn="ctr"/>
            <a:r>
              <a:rPr sz="850" b="0" i="0">
                <a:solidFill>
                  <a:srgbClr val="1A1A2E"/>
                </a:solidFill>
              </a:rPr>
              <a:t>244,060</a:t>
            </a:r>
          </a:p>
        </p:txBody>
      </p:sp>
      <p:sp>
        <p:nvSpPr>
          <p:cNvPr id="44" name="Rectangle 43"/>
          <p:cNvSpPr/>
          <p:nvPr/>
        </p:nvSpPr>
        <p:spPr>
          <a:xfrm>
            <a:off x="7955280" y="2423160"/>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19288" y="2450591"/>
            <a:ext cx="822960" cy="233172"/>
          </a:xfrm>
          <a:prstGeom prst="rect">
            <a:avLst/>
          </a:prstGeom>
          <a:noFill/>
        </p:spPr>
        <p:txBody>
          <a:bodyPr wrap="square">
            <a:spAutoFit/>
          </a:bodyPr>
          <a:lstStyle/>
          <a:p>
            <a:pPr algn="ctr"/>
            <a:r>
              <a:rPr sz="850" b="0" i="0">
                <a:solidFill>
                  <a:srgbClr val="1A1A2E"/>
                </a:solidFill>
              </a:rPr>
              <a:t>19.5 ⚠</a:t>
            </a:r>
          </a:p>
        </p:txBody>
      </p:sp>
      <p:sp>
        <p:nvSpPr>
          <p:cNvPr id="46" name="Rectangle 45"/>
          <p:cNvSpPr/>
          <p:nvPr/>
        </p:nvSpPr>
        <p:spPr>
          <a:xfrm>
            <a:off x="8869680" y="2423160"/>
            <a:ext cx="11887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33688" y="2450591"/>
            <a:ext cx="1097280" cy="233172"/>
          </a:xfrm>
          <a:prstGeom prst="rect">
            <a:avLst/>
          </a:prstGeom>
          <a:noFill/>
        </p:spPr>
        <p:txBody>
          <a:bodyPr wrap="square">
            <a:spAutoFit/>
          </a:bodyPr>
          <a:lstStyle/>
          <a:p>
            <a:pPr algn="ctr"/>
            <a:r>
              <a:rPr sz="850" b="0" i="0">
                <a:solidFill>
                  <a:srgbClr val="1A1A2E"/>
                </a:solidFill>
              </a:rPr>
              <a:t>82</a:t>
            </a:r>
          </a:p>
        </p:txBody>
      </p:sp>
      <p:sp>
        <p:nvSpPr>
          <p:cNvPr id="48" name="Rectangle 47"/>
          <p:cNvSpPr/>
          <p:nvPr/>
        </p:nvSpPr>
        <p:spPr>
          <a:xfrm>
            <a:off x="274320" y="2697479"/>
            <a:ext cx="50292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328" y="2724911"/>
            <a:ext cx="4937760" cy="233172"/>
          </a:xfrm>
          <a:prstGeom prst="rect">
            <a:avLst/>
          </a:prstGeom>
          <a:noFill/>
        </p:spPr>
        <p:txBody>
          <a:bodyPr wrap="square">
            <a:spAutoFit/>
          </a:bodyPr>
          <a:lstStyle/>
          <a:p>
            <a:pPr algn="l"/>
            <a:r>
              <a:rPr sz="850" b="0" i="0">
                <a:solidFill>
                  <a:srgbClr val="1A1A2E"/>
                </a:solidFill>
              </a:rPr>
              <a:t>/campus/career-guidance/tcs-aptitude-questions</a:t>
            </a:r>
          </a:p>
        </p:txBody>
      </p:sp>
      <p:sp>
        <p:nvSpPr>
          <p:cNvPr id="50" name="Rectangle 49"/>
          <p:cNvSpPr/>
          <p:nvPr/>
        </p:nvSpPr>
        <p:spPr>
          <a:xfrm>
            <a:off x="5303520" y="2697479"/>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367528" y="2724911"/>
            <a:ext cx="914400" cy="233172"/>
          </a:xfrm>
          <a:prstGeom prst="rect">
            <a:avLst/>
          </a:prstGeom>
          <a:noFill/>
        </p:spPr>
        <p:txBody>
          <a:bodyPr wrap="square">
            <a:spAutoFit/>
          </a:bodyPr>
          <a:lstStyle/>
          <a:p>
            <a:pPr algn="ctr"/>
            <a:r>
              <a:rPr sz="850" b="0" i="0">
                <a:solidFill>
                  <a:srgbClr val="1A1A2E"/>
                </a:solidFill>
              </a:rPr>
              <a:t>360</a:t>
            </a:r>
          </a:p>
        </p:txBody>
      </p:sp>
      <p:sp>
        <p:nvSpPr>
          <p:cNvPr id="52" name="Rectangle 51"/>
          <p:cNvSpPr/>
          <p:nvPr/>
        </p:nvSpPr>
        <p:spPr>
          <a:xfrm>
            <a:off x="6309360" y="2697479"/>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73368" y="2724911"/>
            <a:ext cx="1554480" cy="233172"/>
          </a:xfrm>
          <a:prstGeom prst="rect">
            <a:avLst/>
          </a:prstGeom>
          <a:noFill/>
        </p:spPr>
        <p:txBody>
          <a:bodyPr wrap="square">
            <a:spAutoFit/>
          </a:bodyPr>
          <a:lstStyle/>
          <a:p>
            <a:pPr algn="ctr"/>
            <a:r>
              <a:rPr sz="850" b="0" i="0">
                <a:solidFill>
                  <a:srgbClr val="1A1A2E"/>
                </a:solidFill>
              </a:rPr>
              <a:t>197,310</a:t>
            </a:r>
          </a:p>
        </p:txBody>
      </p:sp>
      <p:sp>
        <p:nvSpPr>
          <p:cNvPr id="54" name="Rectangle 53"/>
          <p:cNvSpPr/>
          <p:nvPr/>
        </p:nvSpPr>
        <p:spPr>
          <a:xfrm>
            <a:off x="7955280" y="2697479"/>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19288" y="2724911"/>
            <a:ext cx="822960" cy="233172"/>
          </a:xfrm>
          <a:prstGeom prst="rect">
            <a:avLst/>
          </a:prstGeom>
          <a:noFill/>
        </p:spPr>
        <p:txBody>
          <a:bodyPr wrap="square">
            <a:spAutoFit/>
          </a:bodyPr>
          <a:lstStyle/>
          <a:p>
            <a:pPr algn="ctr"/>
            <a:r>
              <a:rPr sz="850" b="0" i="0">
                <a:solidFill>
                  <a:srgbClr val="1A1A2E"/>
                </a:solidFill>
              </a:rPr>
              <a:t>15.5</a:t>
            </a:r>
          </a:p>
        </p:txBody>
      </p:sp>
      <p:sp>
        <p:nvSpPr>
          <p:cNvPr id="56" name="Rectangle 55"/>
          <p:cNvSpPr/>
          <p:nvPr/>
        </p:nvSpPr>
        <p:spPr>
          <a:xfrm>
            <a:off x="8869680" y="2697479"/>
            <a:ext cx="11887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933688" y="2724911"/>
            <a:ext cx="1097280" cy="233172"/>
          </a:xfrm>
          <a:prstGeom prst="rect">
            <a:avLst/>
          </a:prstGeom>
          <a:noFill/>
        </p:spPr>
        <p:txBody>
          <a:bodyPr wrap="square">
            <a:spAutoFit/>
          </a:bodyPr>
          <a:lstStyle/>
          <a:p>
            <a:pPr algn="ctr"/>
            <a:r>
              <a:rPr sz="850" b="0" i="0">
                <a:solidFill>
                  <a:srgbClr val="1A1A2E"/>
                </a:solidFill>
              </a:rPr>
              <a:t>135</a:t>
            </a:r>
          </a:p>
        </p:txBody>
      </p:sp>
      <p:sp>
        <p:nvSpPr>
          <p:cNvPr id="58" name="Rectangle 57"/>
          <p:cNvSpPr/>
          <p:nvPr/>
        </p:nvSpPr>
        <p:spPr>
          <a:xfrm>
            <a:off x="274320" y="2971800"/>
            <a:ext cx="50292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 y="2999232"/>
            <a:ext cx="4937760" cy="233172"/>
          </a:xfrm>
          <a:prstGeom prst="rect">
            <a:avLst/>
          </a:prstGeom>
          <a:noFill/>
        </p:spPr>
        <p:txBody>
          <a:bodyPr wrap="square">
            <a:spAutoFit/>
          </a:bodyPr>
          <a:lstStyle/>
          <a:p>
            <a:pPr algn="l"/>
            <a:r>
              <a:rPr sz="850" b="0" i="0">
                <a:solidFill>
                  <a:srgbClr val="1A1A2E"/>
                </a:solidFill>
              </a:rPr>
              <a:t>/campus/career-guidance/65-logical-reasoning…</a:t>
            </a:r>
          </a:p>
        </p:txBody>
      </p:sp>
      <p:sp>
        <p:nvSpPr>
          <p:cNvPr id="60" name="Rectangle 59"/>
          <p:cNvSpPr/>
          <p:nvPr/>
        </p:nvSpPr>
        <p:spPr>
          <a:xfrm>
            <a:off x="5303520" y="2971800"/>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67528" y="2999232"/>
            <a:ext cx="914400" cy="233172"/>
          </a:xfrm>
          <a:prstGeom prst="rect">
            <a:avLst/>
          </a:prstGeom>
          <a:noFill/>
        </p:spPr>
        <p:txBody>
          <a:bodyPr wrap="square">
            <a:spAutoFit/>
          </a:bodyPr>
          <a:lstStyle/>
          <a:p>
            <a:pPr algn="ctr"/>
            <a:r>
              <a:rPr sz="850" b="0" i="0">
                <a:solidFill>
                  <a:srgbClr val="1A1A2E"/>
                </a:solidFill>
              </a:rPr>
              <a:t>314</a:t>
            </a:r>
          </a:p>
        </p:txBody>
      </p:sp>
      <p:sp>
        <p:nvSpPr>
          <p:cNvPr id="62" name="Rectangle 61"/>
          <p:cNvSpPr/>
          <p:nvPr/>
        </p:nvSpPr>
        <p:spPr>
          <a:xfrm>
            <a:off x="6309360" y="2971800"/>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73368" y="2999232"/>
            <a:ext cx="1554480" cy="233172"/>
          </a:xfrm>
          <a:prstGeom prst="rect">
            <a:avLst/>
          </a:prstGeom>
          <a:noFill/>
        </p:spPr>
        <p:txBody>
          <a:bodyPr wrap="square">
            <a:spAutoFit/>
          </a:bodyPr>
          <a:lstStyle/>
          <a:p>
            <a:pPr algn="ctr"/>
            <a:r>
              <a:rPr sz="850" b="0" i="0">
                <a:solidFill>
                  <a:srgbClr val="1A1A2E"/>
                </a:solidFill>
              </a:rPr>
              <a:t>338,830</a:t>
            </a:r>
          </a:p>
        </p:txBody>
      </p:sp>
      <p:sp>
        <p:nvSpPr>
          <p:cNvPr id="64" name="Rectangle 63"/>
          <p:cNvSpPr/>
          <p:nvPr/>
        </p:nvSpPr>
        <p:spPr>
          <a:xfrm>
            <a:off x="7955280" y="2971800"/>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19288" y="2999232"/>
            <a:ext cx="822960" cy="233172"/>
          </a:xfrm>
          <a:prstGeom prst="rect">
            <a:avLst/>
          </a:prstGeom>
          <a:noFill/>
        </p:spPr>
        <p:txBody>
          <a:bodyPr wrap="square">
            <a:spAutoFit/>
          </a:bodyPr>
          <a:lstStyle/>
          <a:p>
            <a:pPr algn="ctr"/>
            <a:r>
              <a:rPr sz="850" b="0" i="0">
                <a:solidFill>
                  <a:srgbClr val="1A1A2E"/>
                </a:solidFill>
              </a:rPr>
              <a:t>16.8</a:t>
            </a:r>
          </a:p>
        </p:txBody>
      </p:sp>
      <p:sp>
        <p:nvSpPr>
          <p:cNvPr id="66" name="Rectangle 65"/>
          <p:cNvSpPr/>
          <p:nvPr/>
        </p:nvSpPr>
        <p:spPr>
          <a:xfrm>
            <a:off x="8869680" y="2971800"/>
            <a:ext cx="11887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33688" y="2999232"/>
            <a:ext cx="1097280" cy="233172"/>
          </a:xfrm>
          <a:prstGeom prst="rect">
            <a:avLst/>
          </a:prstGeom>
          <a:noFill/>
        </p:spPr>
        <p:txBody>
          <a:bodyPr wrap="square">
            <a:spAutoFit/>
          </a:bodyPr>
          <a:lstStyle/>
          <a:p>
            <a:pPr algn="ctr"/>
            <a:r>
              <a:rPr sz="850" b="0" i="0">
                <a:solidFill>
                  <a:srgbClr val="1A1A2E"/>
                </a:solidFill>
              </a:rPr>
              <a:t>114</a:t>
            </a:r>
          </a:p>
        </p:txBody>
      </p:sp>
      <p:sp>
        <p:nvSpPr>
          <p:cNvPr id="68" name="Rectangle 67"/>
          <p:cNvSpPr/>
          <p:nvPr/>
        </p:nvSpPr>
        <p:spPr>
          <a:xfrm>
            <a:off x="274320" y="3246120"/>
            <a:ext cx="50292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38328" y="3273551"/>
            <a:ext cx="4937760" cy="233172"/>
          </a:xfrm>
          <a:prstGeom prst="rect">
            <a:avLst/>
          </a:prstGeom>
          <a:noFill/>
        </p:spPr>
        <p:txBody>
          <a:bodyPr wrap="square">
            <a:spAutoFit/>
          </a:bodyPr>
          <a:lstStyle/>
          <a:p>
            <a:pPr algn="l"/>
            <a:r>
              <a:rPr sz="850" b="0" i="0">
                <a:solidFill>
                  <a:srgbClr val="1A1A2E"/>
                </a:solidFill>
              </a:rPr>
              <a:t>/campus/career-guidance/cv-formats-for-freshers</a:t>
            </a:r>
          </a:p>
        </p:txBody>
      </p:sp>
      <p:sp>
        <p:nvSpPr>
          <p:cNvPr id="70" name="Rectangle 69"/>
          <p:cNvSpPr/>
          <p:nvPr/>
        </p:nvSpPr>
        <p:spPr>
          <a:xfrm>
            <a:off x="5303520" y="3246120"/>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67528" y="3273551"/>
            <a:ext cx="914400" cy="233172"/>
          </a:xfrm>
          <a:prstGeom prst="rect">
            <a:avLst/>
          </a:prstGeom>
          <a:noFill/>
        </p:spPr>
        <p:txBody>
          <a:bodyPr wrap="square">
            <a:spAutoFit/>
          </a:bodyPr>
          <a:lstStyle/>
          <a:p>
            <a:pPr algn="ctr"/>
            <a:r>
              <a:rPr sz="850" b="0" i="0">
                <a:solidFill>
                  <a:srgbClr val="1A1A2E"/>
                </a:solidFill>
              </a:rPr>
              <a:t>216</a:t>
            </a:r>
          </a:p>
        </p:txBody>
      </p:sp>
      <p:sp>
        <p:nvSpPr>
          <p:cNvPr id="72" name="Rectangle 71"/>
          <p:cNvSpPr/>
          <p:nvPr/>
        </p:nvSpPr>
        <p:spPr>
          <a:xfrm>
            <a:off x="6309360" y="3246120"/>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73368" y="3273551"/>
            <a:ext cx="1554480" cy="233172"/>
          </a:xfrm>
          <a:prstGeom prst="rect">
            <a:avLst/>
          </a:prstGeom>
          <a:noFill/>
        </p:spPr>
        <p:txBody>
          <a:bodyPr wrap="square">
            <a:spAutoFit/>
          </a:bodyPr>
          <a:lstStyle/>
          <a:p>
            <a:pPr algn="ctr"/>
            <a:r>
              <a:rPr sz="850" b="0" i="0">
                <a:solidFill>
                  <a:srgbClr val="1A1A2E"/>
                </a:solidFill>
              </a:rPr>
              <a:t>294,540</a:t>
            </a:r>
          </a:p>
        </p:txBody>
      </p:sp>
      <p:sp>
        <p:nvSpPr>
          <p:cNvPr id="74" name="Rectangle 73"/>
          <p:cNvSpPr/>
          <p:nvPr/>
        </p:nvSpPr>
        <p:spPr>
          <a:xfrm>
            <a:off x="7955280" y="3246120"/>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19288" y="3273551"/>
            <a:ext cx="822960" cy="233172"/>
          </a:xfrm>
          <a:prstGeom prst="rect">
            <a:avLst/>
          </a:prstGeom>
          <a:noFill/>
        </p:spPr>
        <p:txBody>
          <a:bodyPr wrap="square">
            <a:spAutoFit/>
          </a:bodyPr>
          <a:lstStyle/>
          <a:p>
            <a:pPr algn="ctr"/>
            <a:r>
              <a:rPr sz="850" b="0" i="0">
                <a:solidFill>
                  <a:srgbClr val="1A1A2E"/>
                </a:solidFill>
              </a:rPr>
              <a:t>13.6</a:t>
            </a:r>
          </a:p>
        </p:txBody>
      </p:sp>
      <p:sp>
        <p:nvSpPr>
          <p:cNvPr id="76" name="Rectangle 75"/>
          <p:cNvSpPr/>
          <p:nvPr/>
        </p:nvSpPr>
        <p:spPr>
          <a:xfrm>
            <a:off x="8869680" y="3246120"/>
            <a:ext cx="11887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933688" y="3273551"/>
            <a:ext cx="1097280" cy="233172"/>
          </a:xfrm>
          <a:prstGeom prst="rect">
            <a:avLst/>
          </a:prstGeom>
          <a:noFill/>
        </p:spPr>
        <p:txBody>
          <a:bodyPr wrap="square">
            <a:spAutoFit/>
          </a:bodyPr>
          <a:lstStyle/>
          <a:p>
            <a:pPr algn="ctr"/>
            <a:r>
              <a:rPr sz="850" b="0" i="0">
                <a:solidFill>
                  <a:srgbClr val="1A1A2E"/>
                </a:solidFill>
              </a:rPr>
              <a:t>101</a:t>
            </a:r>
          </a:p>
        </p:txBody>
      </p:sp>
      <p:sp>
        <p:nvSpPr>
          <p:cNvPr id="78" name="Rectangle 77"/>
          <p:cNvSpPr/>
          <p:nvPr/>
        </p:nvSpPr>
        <p:spPr>
          <a:xfrm>
            <a:off x="274320" y="3520439"/>
            <a:ext cx="50292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38328" y="3547871"/>
            <a:ext cx="4937760" cy="233172"/>
          </a:xfrm>
          <a:prstGeom prst="rect">
            <a:avLst/>
          </a:prstGeom>
          <a:noFill/>
        </p:spPr>
        <p:txBody>
          <a:bodyPr wrap="square">
            <a:spAutoFit/>
          </a:bodyPr>
          <a:lstStyle/>
          <a:p>
            <a:pPr algn="l"/>
            <a:r>
              <a:rPr sz="850" b="0" i="0">
                <a:solidFill>
                  <a:srgbClr val="1A1A2E"/>
                </a:solidFill>
              </a:rPr>
              <a:t>/career-advice/how-to-get-a-bank-job-caid</a:t>
            </a:r>
          </a:p>
        </p:txBody>
      </p:sp>
      <p:sp>
        <p:nvSpPr>
          <p:cNvPr id="80" name="Rectangle 79"/>
          <p:cNvSpPr/>
          <p:nvPr/>
        </p:nvSpPr>
        <p:spPr>
          <a:xfrm>
            <a:off x="5303520" y="3520439"/>
            <a:ext cx="100584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67528" y="3547871"/>
            <a:ext cx="914400" cy="233172"/>
          </a:xfrm>
          <a:prstGeom prst="rect">
            <a:avLst/>
          </a:prstGeom>
          <a:noFill/>
        </p:spPr>
        <p:txBody>
          <a:bodyPr wrap="square">
            <a:spAutoFit/>
          </a:bodyPr>
          <a:lstStyle/>
          <a:p>
            <a:pPr algn="ctr"/>
            <a:r>
              <a:rPr sz="850" b="0" i="0">
                <a:solidFill>
                  <a:srgbClr val="1A1A2E"/>
                </a:solidFill>
              </a:rPr>
              <a:t>179</a:t>
            </a:r>
          </a:p>
        </p:txBody>
      </p:sp>
      <p:sp>
        <p:nvSpPr>
          <p:cNvPr id="82" name="Rectangle 81"/>
          <p:cNvSpPr/>
          <p:nvPr/>
        </p:nvSpPr>
        <p:spPr>
          <a:xfrm>
            <a:off x="6309360" y="3520439"/>
            <a:ext cx="16459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73368" y="3547871"/>
            <a:ext cx="1554480" cy="233172"/>
          </a:xfrm>
          <a:prstGeom prst="rect">
            <a:avLst/>
          </a:prstGeom>
          <a:noFill/>
        </p:spPr>
        <p:txBody>
          <a:bodyPr wrap="square">
            <a:spAutoFit/>
          </a:bodyPr>
          <a:lstStyle/>
          <a:p>
            <a:pPr algn="ctr"/>
            <a:r>
              <a:rPr sz="850" b="0" i="0">
                <a:solidFill>
                  <a:srgbClr val="1A1A2E"/>
                </a:solidFill>
              </a:rPr>
              <a:t>166,120</a:t>
            </a:r>
          </a:p>
        </p:txBody>
      </p:sp>
      <p:sp>
        <p:nvSpPr>
          <p:cNvPr id="84" name="Rectangle 83"/>
          <p:cNvSpPr/>
          <p:nvPr/>
        </p:nvSpPr>
        <p:spPr>
          <a:xfrm>
            <a:off x="7955280" y="3520439"/>
            <a:ext cx="91440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19288" y="3547871"/>
            <a:ext cx="822960" cy="233172"/>
          </a:xfrm>
          <a:prstGeom prst="rect">
            <a:avLst/>
          </a:prstGeom>
          <a:noFill/>
        </p:spPr>
        <p:txBody>
          <a:bodyPr wrap="square">
            <a:spAutoFit/>
          </a:bodyPr>
          <a:lstStyle/>
          <a:p>
            <a:pPr algn="ctr"/>
            <a:r>
              <a:rPr sz="850" b="0" i="0">
                <a:solidFill>
                  <a:srgbClr val="1A1A2E"/>
                </a:solidFill>
              </a:rPr>
              <a:t>10.6 ★</a:t>
            </a:r>
          </a:p>
        </p:txBody>
      </p:sp>
      <p:sp>
        <p:nvSpPr>
          <p:cNvPr id="86" name="Rectangle 85"/>
          <p:cNvSpPr/>
          <p:nvPr/>
        </p:nvSpPr>
        <p:spPr>
          <a:xfrm>
            <a:off x="8869680" y="3520439"/>
            <a:ext cx="1188720" cy="269748"/>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933688" y="3547871"/>
            <a:ext cx="1097280" cy="233172"/>
          </a:xfrm>
          <a:prstGeom prst="rect">
            <a:avLst/>
          </a:prstGeom>
          <a:noFill/>
        </p:spPr>
        <p:txBody>
          <a:bodyPr wrap="square">
            <a:spAutoFit/>
          </a:bodyPr>
          <a:lstStyle/>
          <a:p>
            <a:pPr algn="ctr"/>
            <a:r>
              <a:rPr sz="850" b="0" i="0">
                <a:solidFill>
                  <a:srgbClr val="1A1A2E"/>
                </a:solidFill>
              </a:rPr>
              <a:t>125</a:t>
            </a:r>
          </a:p>
        </p:txBody>
      </p:sp>
      <p:sp>
        <p:nvSpPr>
          <p:cNvPr id="88" name="Rectangle 87"/>
          <p:cNvSpPr/>
          <p:nvPr/>
        </p:nvSpPr>
        <p:spPr>
          <a:xfrm>
            <a:off x="274320" y="3794760"/>
            <a:ext cx="50292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8328" y="3822192"/>
            <a:ext cx="4937760" cy="233172"/>
          </a:xfrm>
          <a:prstGeom prst="rect">
            <a:avLst/>
          </a:prstGeom>
          <a:noFill/>
        </p:spPr>
        <p:txBody>
          <a:bodyPr wrap="square">
            <a:spAutoFit/>
          </a:bodyPr>
          <a:lstStyle/>
          <a:p>
            <a:pPr algn="l"/>
            <a:r>
              <a:rPr sz="850" b="0" i="0">
                <a:solidFill>
                  <a:srgbClr val="1A1A2E"/>
                </a:solidFill>
              </a:rPr>
              <a:t>/blog/what-is-btech-full-form-course-details</a:t>
            </a:r>
          </a:p>
        </p:txBody>
      </p:sp>
      <p:sp>
        <p:nvSpPr>
          <p:cNvPr id="90" name="Rectangle 89"/>
          <p:cNvSpPr/>
          <p:nvPr/>
        </p:nvSpPr>
        <p:spPr>
          <a:xfrm>
            <a:off x="5303520" y="3794760"/>
            <a:ext cx="100584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367528" y="3822192"/>
            <a:ext cx="914400" cy="233172"/>
          </a:xfrm>
          <a:prstGeom prst="rect">
            <a:avLst/>
          </a:prstGeom>
          <a:noFill/>
        </p:spPr>
        <p:txBody>
          <a:bodyPr wrap="square">
            <a:spAutoFit/>
          </a:bodyPr>
          <a:lstStyle/>
          <a:p>
            <a:pPr algn="ctr"/>
            <a:r>
              <a:rPr sz="850" b="0" i="0">
                <a:solidFill>
                  <a:srgbClr val="1A1A2E"/>
                </a:solidFill>
              </a:rPr>
              <a:t>178</a:t>
            </a:r>
          </a:p>
        </p:txBody>
      </p:sp>
      <p:sp>
        <p:nvSpPr>
          <p:cNvPr id="92" name="Rectangle 91"/>
          <p:cNvSpPr/>
          <p:nvPr/>
        </p:nvSpPr>
        <p:spPr>
          <a:xfrm>
            <a:off x="6309360" y="3794760"/>
            <a:ext cx="16459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73368" y="3822192"/>
            <a:ext cx="1554480" cy="233172"/>
          </a:xfrm>
          <a:prstGeom prst="rect">
            <a:avLst/>
          </a:prstGeom>
          <a:noFill/>
        </p:spPr>
        <p:txBody>
          <a:bodyPr wrap="square">
            <a:spAutoFit/>
          </a:bodyPr>
          <a:lstStyle/>
          <a:p>
            <a:pPr algn="ctr"/>
            <a:r>
              <a:rPr sz="850" b="0" i="0">
                <a:solidFill>
                  <a:srgbClr val="1A1A2E"/>
                </a:solidFill>
              </a:rPr>
              <a:t>319,780</a:t>
            </a:r>
          </a:p>
        </p:txBody>
      </p:sp>
      <p:sp>
        <p:nvSpPr>
          <p:cNvPr id="94" name="Rectangle 93"/>
          <p:cNvSpPr/>
          <p:nvPr/>
        </p:nvSpPr>
        <p:spPr>
          <a:xfrm>
            <a:off x="7955280" y="3794760"/>
            <a:ext cx="91440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19288" y="3822192"/>
            <a:ext cx="822960" cy="233172"/>
          </a:xfrm>
          <a:prstGeom prst="rect">
            <a:avLst/>
          </a:prstGeom>
          <a:noFill/>
        </p:spPr>
        <p:txBody>
          <a:bodyPr wrap="square">
            <a:spAutoFit/>
          </a:bodyPr>
          <a:lstStyle/>
          <a:p>
            <a:pPr algn="ctr"/>
            <a:r>
              <a:rPr sz="850" b="0" i="0">
                <a:solidFill>
                  <a:srgbClr val="1A1A2E"/>
                </a:solidFill>
              </a:rPr>
              <a:t>11.1 ★</a:t>
            </a:r>
          </a:p>
        </p:txBody>
      </p:sp>
      <p:sp>
        <p:nvSpPr>
          <p:cNvPr id="96" name="Rectangle 95"/>
          <p:cNvSpPr/>
          <p:nvPr/>
        </p:nvSpPr>
        <p:spPr>
          <a:xfrm>
            <a:off x="8869680" y="3794760"/>
            <a:ext cx="1188720" cy="269748"/>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933688" y="3822192"/>
            <a:ext cx="1097280" cy="233172"/>
          </a:xfrm>
          <a:prstGeom prst="rect">
            <a:avLst/>
          </a:prstGeom>
          <a:noFill/>
        </p:spPr>
        <p:txBody>
          <a:bodyPr wrap="square">
            <a:spAutoFit/>
          </a:bodyPr>
          <a:lstStyle/>
          <a:p>
            <a:pPr algn="ctr"/>
            <a:r>
              <a:rPr sz="850" b="0" i="0">
                <a:solidFill>
                  <a:srgbClr val="1A1A2E"/>
                </a:solidFill>
              </a:rPr>
              <a:t>110</a:t>
            </a:r>
          </a:p>
        </p:txBody>
      </p:sp>
      <p:sp>
        <p:nvSpPr>
          <p:cNvPr id="98" name="TextBox 97"/>
          <p:cNvSpPr txBox="1"/>
          <p:nvPr/>
        </p:nvSpPr>
        <p:spPr>
          <a:xfrm>
            <a:off x="274320" y="4096512"/>
            <a:ext cx="7315200" cy="256032"/>
          </a:xfrm>
          <a:prstGeom prst="rect">
            <a:avLst/>
          </a:prstGeom>
          <a:noFill/>
        </p:spPr>
        <p:txBody>
          <a:bodyPr wrap="square">
            <a:spAutoFit/>
          </a:bodyPr>
          <a:lstStyle/>
          <a:p>
            <a:pPr algn="l"/>
            <a:r>
              <a:rPr sz="850" b="0" i="1">
                <a:solidFill>
                  <a:srgbClr val="5A6A85"/>
                </a:solidFill>
              </a:rPr>
              <a:t>★ = Strong performer  ⚠ = High volume but low avg position — needs content upgrade</a:t>
            </a:r>
          </a:p>
        </p:txBody>
      </p:sp>
      <p:sp>
        <p:nvSpPr>
          <p:cNvPr id="99" name="Rectangle 98"/>
          <p:cNvSpPr/>
          <p:nvPr/>
        </p:nvSpPr>
        <p:spPr>
          <a:xfrm>
            <a:off x="274320" y="4370832"/>
            <a:ext cx="54864"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11479" y="4370832"/>
            <a:ext cx="3657600" cy="320040"/>
          </a:xfrm>
          <a:prstGeom prst="rect">
            <a:avLst/>
          </a:prstGeom>
          <a:noFill/>
        </p:spPr>
        <p:txBody>
          <a:bodyPr wrap="square">
            <a:spAutoFit/>
          </a:bodyPr>
          <a:lstStyle/>
          <a:p>
            <a:pPr algn="l"/>
            <a:r>
              <a:rPr sz="1100" b="1" i="0">
                <a:solidFill>
                  <a:srgbClr val="C0392B"/>
                </a:solidFill>
              </a:rPr>
              <a:t>Keyword Cannibalization — 1,163 Keywords Affected</a:t>
            </a:r>
          </a:p>
        </p:txBody>
      </p:sp>
      <p:sp>
        <p:nvSpPr>
          <p:cNvPr id="101" name="Rectangle 100"/>
          <p:cNvSpPr/>
          <p:nvPr/>
        </p:nvSpPr>
        <p:spPr>
          <a:xfrm>
            <a:off x="274320" y="4663440"/>
            <a:ext cx="237744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38328" y="4700016"/>
            <a:ext cx="2286000" cy="210312"/>
          </a:xfrm>
          <a:prstGeom prst="rect">
            <a:avLst/>
          </a:prstGeom>
          <a:noFill/>
        </p:spPr>
        <p:txBody>
          <a:bodyPr wrap="square">
            <a:spAutoFit/>
          </a:bodyPr>
          <a:lstStyle/>
          <a:p>
            <a:pPr algn="l"/>
            <a:r>
              <a:rPr sz="900" b="1" i="0">
                <a:solidFill>
                  <a:srgbClr val="FFFFFF"/>
                </a:solidFill>
              </a:rPr>
              <a:t>Keyword</a:t>
            </a:r>
          </a:p>
        </p:txBody>
      </p:sp>
      <p:sp>
        <p:nvSpPr>
          <p:cNvPr id="103" name="Rectangle 102"/>
          <p:cNvSpPr/>
          <p:nvPr/>
        </p:nvSpPr>
        <p:spPr>
          <a:xfrm>
            <a:off x="2651760" y="4663440"/>
            <a:ext cx="128016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715768" y="4700016"/>
            <a:ext cx="1188719" cy="210312"/>
          </a:xfrm>
          <a:prstGeom prst="rect">
            <a:avLst/>
          </a:prstGeom>
          <a:noFill/>
        </p:spPr>
        <p:txBody>
          <a:bodyPr wrap="square">
            <a:spAutoFit/>
          </a:bodyPr>
          <a:lstStyle/>
          <a:p>
            <a:pPr algn="ctr"/>
            <a:r>
              <a:rPr sz="900" b="1" i="0">
                <a:solidFill>
                  <a:srgbClr val="FFFFFF"/>
                </a:solidFill>
              </a:rPr>
              <a:t>Volume</a:t>
            </a:r>
          </a:p>
        </p:txBody>
      </p:sp>
      <p:sp>
        <p:nvSpPr>
          <p:cNvPr id="105" name="Rectangle 104"/>
          <p:cNvSpPr/>
          <p:nvPr/>
        </p:nvSpPr>
        <p:spPr>
          <a:xfrm>
            <a:off x="3931920" y="4663440"/>
            <a:ext cx="146304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995928" y="4700016"/>
            <a:ext cx="1371600" cy="210312"/>
          </a:xfrm>
          <a:prstGeom prst="rect">
            <a:avLst/>
          </a:prstGeom>
          <a:noFill/>
        </p:spPr>
        <p:txBody>
          <a:bodyPr wrap="square">
            <a:spAutoFit/>
          </a:bodyPr>
          <a:lstStyle/>
          <a:p>
            <a:pPr algn="ctr"/>
            <a:r>
              <a:rPr sz="900" b="1" i="0">
                <a:solidFill>
                  <a:srgbClr val="FFFFFF"/>
                </a:solidFill>
              </a:rPr>
              <a:t># Naukri URLs</a:t>
            </a:r>
          </a:p>
        </p:txBody>
      </p:sp>
      <p:sp>
        <p:nvSpPr>
          <p:cNvPr id="107" name="Rectangle 106"/>
          <p:cNvSpPr/>
          <p:nvPr/>
        </p:nvSpPr>
        <p:spPr>
          <a:xfrm>
            <a:off x="5394960" y="4663440"/>
            <a:ext cx="100584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458968" y="4700016"/>
            <a:ext cx="914400" cy="210312"/>
          </a:xfrm>
          <a:prstGeom prst="rect">
            <a:avLst/>
          </a:prstGeom>
          <a:noFill/>
        </p:spPr>
        <p:txBody>
          <a:bodyPr wrap="square">
            <a:spAutoFit/>
          </a:bodyPr>
          <a:lstStyle/>
          <a:p>
            <a:pPr algn="ctr"/>
            <a:r>
              <a:rPr sz="900" b="1" i="0">
                <a:solidFill>
                  <a:srgbClr val="FFFFFF"/>
                </a:solidFill>
              </a:rPr>
              <a:t>Avg Pos</a:t>
            </a:r>
          </a:p>
        </p:txBody>
      </p:sp>
      <p:sp>
        <p:nvSpPr>
          <p:cNvPr id="109" name="Rectangle 108"/>
          <p:cNvSpPr/>
          <p:nvPr/>
        </p:nvSpPr>
        <p:spPr>
          <a:xfrm>
            <a:off x="274320" y="4919472"/>
            <a:ext cx="23774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38328" y="4946904"/>
            <a:ext cx="2286000" cy="214884"/>
          </a:xfrm>
          <a:prstGeom prst="rect">
            <a:avLst/>
          </a:prstGeom>
          <a:noFill/>
        </p:spPr>
        <p:txBody>
          <a:bodyPr wrap="square">
            <a:spAutoFit/>
          </a:bodyPr>
          <a:lstStyle/>
          <a:p>
            <a:pPr algn="l"/>
            <a:r>
              <a:rPr sz="850" b="0" i="0">
                <a:solidFill>
                  <a:srgbClr val="1A1A2E"/>
                </a:solidFill>
              </a:rPr>
              <a:t>resume format</a:t>
            </a:r>
          </a:p>
        </p:txBody>
      </p:sp>
      <p:sp>
        <p:nvSpPr>
          <p:cNvPr id="111" name="Rectangle 110"/>
          <p:cNvSpPr/>
          <p:nvPr/>
        </p:nvSpPr>
        <p:spPr>
          <a:xfrm>
            <a:off x="2651760" y="4919472"/>
            <a:ext cx="128016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715768" y="4946904"/>
            <a:ext cx="1188719" cy="214884"/>
          </a:xfrm>
          <a:prstGeom prst="rect">
            <a:avLst/>
          </a:prstGeom>
          <a:noFill/>
        </p:spPr>
        <p:txBody>
          <a:bodyPr wrap="square">
            <a:spAutoFit/>
          </a:bodyPr>
          <a:lstStyle/>
          <a:p>
            <a:pPr algn="ctr"/>
            <a:r>
              <a:rPr sz="850" b="0" i="0">
                <a:solidFill>
                  <a:srgbClr val="1A1A2E"/>
                </a:solidFill>
              </a:rPr>
              <a:t>93,200</a:t>
            </a:r>
          </a:p>
        </p:txBody>
      </p:sp>
      <p:sp>
        <p:nvSpPr>
          <p:cNvPr id="113" name="Rectangle 112"/>
          <p:cNvSpPr/>
          <p:nvPr/>
        </p:nvSpPr>
        <p:spPr>
          <a:xfrm>
            <a:off x="3931920" y="4919472"/>
            <a:ext cx="14630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995928" y="4946904"/>
            <a:ext cx="1371600" cy="214884"/>
          </a:xfrm>
          <a:prstGeom prst="rect">
            <a:avLst/>
          </a:prstGeom>
          <a:noFill/>
        </p:spPr>
        <p:txBody>
          <a:bodyPr wrap="square">
            <a:spAutoFit/>
          </a:bodyPr>
          <a:lstStyle/>
          <a:p>
            <a:pPr algn="ctr"/>
            <a:r>
              <a:rPr sz="850" b="0" i="0">
                <a:solidFill>
                  <a:srgbClr val="1A1A2E"/>
                </a:solidFill>
              </a:rPr>
              <a:t>3</a:t>
            </a:r>
          </a:p>
        </p:txBody>
      </p:sp>
      <p:sp>
        <p:nvSpPr>
          <p:cNvPr id="115" name="Rectangle 114"/>
          <p:cNvSpPr/>
          <p:nvPr/>
        </p:nvSpPr>
        <p:spPr>
          <a:xfrm>
            <a:off x="5394960" y="4919472"/>
            <a:ext cx="10058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458968" y="4946904"/>
            <a:ext cx="914400" cy="214884"/>
          </a:xfrm>
          <a:prstGeom prst="rect">
            <a:avLst/>
          </a:prstGeom>
          <a:noFill/>
        </p:spPr>
        <p:txBody>
          <a:bodyPr wrap="square">
            <a:spAutoFit/>
          </a:bodyPr>
          <a:lstStyle/>
          <a:p>
            <a:pPr algn="ctr"/>
            <a:r>
              <a:rPr sz="850" b="0" i="0">
                <a:solidFill>
                  <a:srgbClr val="1A1A2E"/>
                </a:solidFill>
              </a:rPr>
              <a:t>32.0 ⚠</a:t>
            </a:r>
          </a:p>
        </p:txBody>
      </p:sp>
      <p:sp>
        <p:nvSpPr>
          <p:cNvPr id="117" name="Rectangle 116"/>
          <p:cNvSpPr/>
          <p:nvPr/>
        </p:nvSpPr>
        <p:spPr>
          <a:xfrm>
            <a:off x="274320" y="5175504"/>
            <a:ext cx="23774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38328" y="5202936"/>
            <a:ext cx="2286000" cy="214884"/>
          </a:xfrm>
          <a:prstGeom prst="rect">
            <a:avLst/>
          </a:prstGeom>
          <a:noFill/>
        </p:spPr>
        <p:txBody>
          <a:bodyPr wrap="square">
            <a:spAutoFit/>
          </a:bodyPr>
          <a:lstStyle/>
          <a:p>
            <a:pPr algn="l"/>
            <a:r>
              <a:rPr sz="850" b="0" i="0">
                <a:solidFill>
                  <a:srgbClr val="1A1A2E"/>
                </a:solidFill>
              </a:rPr>
              <a:t>formal letter format</a:t>
            </a:r>
          </a:p>
        </p:txBody>
      </p:sp>
      <p:sp>
        <p:nvSpPr>
          <p:cNvPr id="119" name="Rectangle 118"/>
          <p:cNvSpPr/>
          <p:nvPr/>
        </p:nvSpPr>
        <p:spPr>
          <a:xfrm>
            <a:off x="2651760" y="5175504"/>
            <a:ext cx="128016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715768" y="5202936"/>
            <a:ext cx="1188719" cy="214884"/>
          </a:xfrm>
          <a:prstGeom prst="rect">
            <a:avLst/>
          </a:prstGeom>
          <a:noFill/>
        </p:spPr>
        <p:txBody>
          <a:bodyPr wrap="square">
            <a:spAutoFit/>
          </a:bodyPr>
          <a:lstStyle/>
          <a:p>
            <a:pPr algn="ctr"/>
            <a:r>
              <a:rPr sz="850" b="0" i="0">
                <a:solidFill>
                  <a:srgbClr val="1A1A2E"/>
                </a:solidFill>
              </a:rPr>
              <a:t>96,480</a:t>
            </a:r>
          </a:p>
        </p:txBody>
      </p:sp>
      <p:sp>
        <p:nvSpPr>
          <p:cNvPr id="121" name="Rectangle 120"/>
          <p:cNvSpPr/>
          <p:nvPr/>
        </p:nvSpPr>
        <p:spPr>
          <a:xfrm>
            <a:off x="3931920" y="5175504"/>
            <a:ext cx="14630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995928" y="5202936"/>
            <a:ext cx="1371600" cy="214884"/>
          </a:xfrm>
          <a:prstGeom prst="rect">
            <a:avLst/>
          </a:prstGeom>
          <a:noFill/>
        </p:spPr>
        <p:txBody>
          <a:bodyPr wrap="square">
            <a:spAutoFit/>
          </a:bodyPr>
          <a:lstStyle/>
          <a:p>
            <a:pPr algn="ctr"/>
            <a:r>
              <a:rPr sz="850" b="0" i="0">
                <a:solidFill>
                  <a:srgbClr val="1A1A2E"/>
                </a:solidFill>
              </a:rPr>
              <a:t>2</a:t>
            </a:r>
          </a:p>
        </p:txBody>
      </p:sp>
      <p:sp>
        <p:nvSpPr>
          <p:cNvPr id="123" name="Rectangle 122"/>
          <p:cNvSpPr/>
          <p:nvPr/>
        </p:nvSpPr>
        <p:spPr>
          <a:xfrm>
            <a:off x="5394960" y="5175504"/>
            <a:ext cx="10058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458968" y="5202936"/>
            <a:ext cx="914400" cy="214884"/>
          </a:xfrm>
          <a:prstGeom prst="rect">
            <a:avLst/>
          </a:prstGeom>
          <a:noFill/>
        </p:spPr>
        <p:txBody>
          <a:bodyPr wrap="square">
            <a:spAutoFit/>
          </a:bodyPr>
          <a:lstStyle/>
          <a:p>
            <a:pPr algn="ctr"/>
            <a:r>
              <a:rPr sz="850" b="0" i="0">
                <a:solidFill>
                  <a:srgbClr val="1A1A2E"/>
                </a:solidFill>
              </a:rPr>
              <a:t>18.0</a:t>
            </a:r>
          </a:p>
        </p:txBody>
      </p:sp>
      <p:sp>
        <p:nvSpPr>
          <p:cNvPr id="125" name="Rectangle 124"/>
          <p:cNvSpPr/>
          <p:nvPr/>
        </p:nvSpPr>
        <p:spPr>
          <a:xfrm>
            <a:off x="274320" y="5431536"/>
            <a:ext cx="23774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38328" y="5458968"/>
            <a:ext cx="2286000" cy="214884"/>
          </a:xfrm>
          <a:prstGeom prst="rect">
            <a:avLst/>
          </a:prstGeom>
          <a:noFill/>
        </p:spPr>
        <p:txBody>
          <a:bodyPr wrap="square">
            <a:spAutoFit/>
          </a:bodyPr>
          <a:lstStyle/>
          <a:p>
            <a:pPr algn="l"/>
            <a:r>
              <a:rPr sz="850" b="0" i="0">
                <a:solidFill>
                  <a:srgbClr val="1A1A2E"/>
                </a:solidFill>
              </a:rPr>
              <a:t>application format</a:t>
            </a:r>
          </a:p>
        </p:txBody>
      </p:sp>
      <p:sp>
        <p:nvSpPr>
          <p:cNvPr id="127" name="Rectangle 126"/>
          <p:cNvSpPr/>
          <p:nvPr/>
        </p:nvSpPr>
        <p:spPr>
          <a:xfrm>
            <a:off x="2651760" y="5431536"/>
            <a:ext cx="128016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715768" y="5458968"/>
            <a:ext cx="1188719" cy="214884"/>
          </a:xfrm>
          <a:prstGeom prst="rect">
            <a:avLst/>
          </a:prstGeom>
          <a:noFill/>
        </p:spPr>
        <p:txBody>
          <a:bodyPr wrap="square">
            <a:spAutoFit/>
          </a:bodyPr>
          <a:lstStyle/>
          <a:p>
            <a:pPr algn="ctr"/>
            <a:r>
              <a:rPr sz="850" b="0" i="0">
                <a:solidFill>
                  <a:srgbClr val="1A1A2E"/>
                </a:solidFill>
              </a:rPr>
              <a:t>27,800</a:t>
            </a:r>
          </a:p>
        </p:txBody>
      </p:sp>
      <p:sp>
        <p:nvSpPr>
          <p:cNvPr id="129" name="Rectangle 128"/>
          <p:cNvSpPr/>
          <p:nvPr/>
        </p:nvSpPr>
        <p:spPr>
          <a:xfrm>
            <a:off x="3931920" y="5431536"/>
            <a:ext cx="14630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995928" y="5458968"/>
            <a:ext cx="1371600" cy="214884"/>
          </a:xfrm>
          <a:prstGeom prst="rect">
            <a:avLst/>
          </a:prstGeom>
          <a:noFill/>
        </p:spPr>
        <p:txBody>
          <a:bodyPr wrap="square">
            <a:spAutoFit/>
          </a:bodyPr>
          <a:lstStyle/>
          <a:p>
            <a:pPr algn="ctr"/>
            <a:r>
              <a:rPr sz="850" b="0" i="0">
                <a:solidFill>
                  <a:srgbClr val="1A1A2E"/>
                </a:solidFill>
              </a:rPr>
              <a:t>3</a:t>
            </a:r>
          </a:p>
        </p:txBody>
      </p:sp>
      <p:sp>
        <p:nvSpPr>
          <p:cNvPr id="131" name="Rectangle 130"/>
          <p:cNvSpPr/>
          <p:nvPr/>
        </p:nvSpPr>
        <p:spPr>
          <a:xfrm>
            <a:off x="5394960" y="5431536"/>
            <a:ext cx="10058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458968" y="5458968"/>
            <a:ext cx="914400" cy="214884"/>
          </a:xfrm>
          <a:prstGeom prst="rect">
            <a:avLst/>
          </a:prstGeom>
          <a:noFill/>
        </p:spPr>
        <p:txBody>
          <a:bodyPr wrap="square">
            <a:spAutoFit/>
          </a:bodyPr>
          <a:lstStyle/>
          <a:p>
            <a:pPr algn="ctr"/>
            <a:r>
              <a:rPr sz="850" b="0" i="0">
                <a:solidFill>
                  <a:srgbClr val="1A1A2E"/>
                </a:solidFill>
              </a:rPr>
              <a:t>10.3</a:t>
            </a:r>
          </a:p>
        </p:txBody>
      </p:sp>
      <p:sp>
        <p:nvSpPr>
          <p:cNvPr id="133" name="Rectangle 132"/>
          <p:cNvSpPr/>
          <p:nvPr/>
        </p:nvSpPr>
        <p:spPr>
          <a:xfrm>
            <a:off x="274320" y="5687568"/>
            <a:ext cx="23774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338328" y="5715000"/>
            <a:ext cx="2286000" cy="214884"/>
          </a:xfrm>
          <a:prstGeom prst="rect">
            <a:avLst/>
          </a:prstGeom>
          <a:noFill/>
        </p:spPr>
        <p:txBody>
          <a:bodyPr wrap="square">
            <a:spAutoFit/>
          </a:bodyPr>
          <a:lstStyle/>
          <a:p>
            <a:pPr algn="l"/>
            <a:r>
              <a:rPr sz="850" b="0" i="0">
                <a:solidFill>
                  <a:srgbClr val="1A1A2E"/>
                </a:solidFill>
              </a:rPr>
              <a:t>formal letter</a:t>
            </a:r>
          </a:p>
        </p:txBody>
      </p:sp>
      <p:sp>
        <p:nvSpPr>
          <p:cNvPr id="135" name="Rectangle 134"/>
          <p:cNvSpPr/>
          <p:nvPr/>
        </p:nvSpPr>
        <p:spPr>
          <a:xfrm>
            <a:off x="2651760" y="5687568"/>
            <a:ext cx="128016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15768" y="5715000"/>
            <a:ext cx="1188719" cy="214884"/>
          </a:xfrm>
          <a:prstGeom prst="rect">
            <a:avLst/>
          </a:prstGeom>
          <a:noFill/>
        </p:spPr>
        <p:txBody>
          <a:bodyPr wrap="square">
            <a:spAutoFit/>
          </a:bodyPr>
          <a:lstStyle/>
          <a:p>
            <a:pPr algn="ctr"/>
            <a:r>
              <a:rPr sz="850" b="0" i="0">
                <a:solidFill>
                  <a:srgbClr val="1A1A2E"/>
                </a:solidFill>
              </a:rPr>
              <a:t>20,100</a:t>
            </a:r>
          </a:p>
        </p:txBody>
      </p:sp>
      <p:sp>
        <p:nvSpPr>
          <p:cNvPr id="137" name="Rectangle 136"/>
          <p:cNvSpPr/>
          <p:nvPr/>
        </p:nvSpPr>
        <p:spPr>
          <a:xfrm>
            <a:off x="3931920" y="5687568"/>
            <a:ext cx="14630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995928" y="5715000"/>
            <a:ext cx="1371600" cy="214884"/>
          </a:xfrm>
          <a:prstGeom prst="rect">
            <a:avLst/>
          </a:prstGeom>
          <a:noFill/>
        </p:spPr>
        <p:txBody>
          <a:bodyPr wrap="square">
            <a:spAutoFit/>
          </a:bodyPr>
          <a:lstStyle/>
          <a:p>
            <a:pPr algn="ctr"/>
            <a:r>
              <a:rPr sz="850" b="0" i="0">
                <a:solidFill>
                  <a:srgbClr val="1A1A2E"/>
                </a:solidFill>
              </a:rPr>
              <a:t>3</a:t>
            </a:r>
          </a:p>
        </p:txBody>
      </p:sp>
      <p:sp>
        <p:nvSpPr>
          <p:cNvPr id="139" name="Rectangle 138"/>
          <p:cNvSpPr/>
          <p:nvPr/>
        </p:nvSpPr>
        <p:spPr>
          <a:xfrm>
            <a:off x="5394960" y="5687568"/>
            <a:ext cx="1005840" cy="251460"/>
          </a:xfrm>
          <a:prstGeom prst="rect">
            <a:avLst/>
          </a:prstGeom>
          <a:solidFill>
            <a:srgbClr val="F0F4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458968" y="5715000"/>
            <a:ext cx="914400" cy="214884"/>
          </a:xfrm>
          <a:prstGeom prst="rect">
            <a:avLst/>
          </a:prstGeom>
          <a:noFill/>
        </p:spPr>
        <p:txBody>
          <a:bodyPr wrap="square">
            <a:spAutoFit/>
          </a:bodyPr>
          <a:lstStyle/>
          <a:p>
            <a:pPr algn="ctr"/>
            <a:r>
              <a:rPr sz="850" b="0" i="0">
                <a:solidFill>
                  <a:srgbClr val="1A1A2E"/>
                </a:solidFill>
              </a:rPr>
              <a:t>21.7</a:t>
            </a:r>
          </a:p>
        </p:txBody>
      </p:sp>
      <p:sp>
        <p:nvSpPr>
          <p:cNvPr id="141" name="Rectangle 140"/>
          <p:cNvSpPr/>
          <p:nvPr/>
        </p:nvSpPr>
        <p:spPr>
          <a:xfrm>
            <a:off x="274320" y="5943600"/>
            <a:ext cx="23774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38328" y="5971032"/>
            <a:ext cx="2286000" cy="214884"/>
          </a:xfrm>
          <a:prstGeom prst="rect">
            <a:avLst/>
          </a:prstGeom>
          <a:noFill/>
        </p:spPr>
        <p:txBody>
          <a:bodyPr wrap="square">
            <a:spAutoFit/>
          </a:bodyPr>
          <a:lstStyle/>
          <a:p>
            <a:pPr algn="l"/>
            <a:r>
              <a:rPr sz="850" b="0" i="0">
                <a:solidFill>
                  <a:srgbClr val="1A1A2E"/>
                </a:solidFill>
              </a:rPr>
              <a:t>letter writing format</a:t>
            </a:r>
          </a:p>
        </p:txBody>
      </p:sp>
      <p:sp>
        <p:nvSpPr>
          <p:cNvPr id="143" name="Rectangle 142"/>
          <p:cNvSpPr/>
          <p:nvPr/>
        </p:nvSpPr>
        <p:spPr>
          <a:xfrm>
            <a:off x="2651760" y="5943600"/>
            <a:ext cx="128016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715768" y="5971032"/>
            <a:ext cx="1188719" cy="214884"/>
          </a:xfrm>
          <a:prstGeom prst="rect">
            <a:avLst/>
          </a:prstGeom>
          <a:noFill/>
        </p:spPr>
        <p:txBody>
          <a:bodyPr wrap="square">
            <a:spAutoFit/>
          </a:bodyPr>
          <a:lstStyle/>
          <a:p>
            <a:pPr algn="ctr"/>
            <a:r>
              <a:rPr sz="850" b="0" i="0">
                <a:solidFill>
                  <a:srgbClr val="1A1A2E"/>
                </a:solidFill>
              </a:rPr>
              <a:t>23,260</a:t>
            </a:r>
          </a:p>
        </p:txBody>
      </p:sp>
      <p:sp>
        <p:nvSpPr>
          <p:cNvPr id="145" name="Rectangle 144"/>
          <p:cNvSpPr/>
          <p:nvPr/>
        </p:nvSpPr>
        <p:spPr>
          <a:xfrm>
            <a:off x="3931920" y="5943600"/>
            <a:ext cx="14630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3995928" y="5971032"/>
            <a:ext cx="1371600" cy="214884"/>
          </a:xfrm>
          <a:prstGeom prst="rect">
            <a:avLst/>
          </a:prstGeom>
          <a:noFill/>
        </p:spPr>
        <p:txBody>
          <a:bodyPr wrap="square">
            <a:spAutoFit/>
          </a:bodyPr>
          <a:lstStyle/>
          <a:p>
            <a:pPr algn="ctr"/>
            <a:r>
              <a:rPr sz="850" b="0" i="0">
                <a:solidFill>
                  <a:srgbClr val="1A1A2E"/>
                </a:solidFill>
              </a:rPr>
              <a:t>2</a:t>
            </a:r>
          </a:p>
        </p:txBody>
      </p:sp>
      <p:sp>
        <p:nvSpPr>
          <p:cNvPr id="147" name="Rectangle 146"/>
          <p:cNvSpPr/>
          <p:nvPr/>
        </p:nvSpPr>
        <p:spPr>
          <a:xfrm>
            <a:off x="5394960" y="5943600"/>
            <a:ext cx="1005840" cy="25146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458968" y="5971032"/>
            <a:ext cx="914400" cy="214884"/>
          </a:xfrm>
          <a:prstGeom prst="rect">
            <a:avLst/>
          </a:prstGeom>
          <a:noFill/>
        </p:spPr>
        <p:txBody>
          <a:bodyPr wrap="square">
            <a:spAutoFit/>
          </a:bodyPr>
          <a:lstStyle/>
          <a:p>
            <a:pPr algn="ctr"/>
            <a:r>
              <a:rPr sz="850" b="0" i="0">
                <a:solidFill>
                  <a:srgbClr val="1A1A2E"/>
                </a:solidFill>
              </a:rPr>
              <a:t>20.0</a:t>
            </a:r>
          </a:p>
        </p:txBody>
      </p:sp>
      <p:sp>
        <p:nvSpPr>
          <p:cNvPr id="149" name="Rectangle 148"/>
          <p:cNvSpPr/>
          <p:nvPr/>
        </p:nvSpPr>
        <p:spPr>
          <a:xfrm>
            <a:off x="6217920" y="4370832"/>
            <a:ext cx="5669280" cy="2286000"/>
          </a:xfrm>
          <a:prstGeom prst="rect">
            <a:avLst/>
          </a:prstGeom>
          <a:solidFill>
            <a:srgbClr val="FFF0EE"/>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400800" y="4443984"/>
            <a:ext cx="5303520" cy="292608"/>
          </a:xfrm>
          <a:prstGeom prst="rect">
            <a:avLst/>
          </a:prstGeom>
          <a:noFill/>
        </p:spPr>
        <p:txBody>
          <a:bodyPr wrap="square">
            <a:spAutoFit/>
          </a:bodyPr>
          <a:lstStyle/>
          <a:p>
            <a:pPr algn="l"/>
            <a:r>
              <a:rPr sz="1000" b="1" i="0">
                <a:solidFill>
                  <a:srgbClr val="C0392B"/>
                </a:solidFill>
              </a:rPr>
              <a:t>Recommended Fixes</a:t>
            </a:r>
          </a:p>
        </p:txBody>
      </p:sp>
      <p:sp>
        <p:nvSpPr>
          <p:cNvPr id="151" name="TextBox 150"/>
          <p:cNvSpPr txBox="1"/>
          <p:nvPr/>
        </p:nvSpPr>
        <p:spPr>
          <a:xfrm>
            <a:off x="6400800" y="4782312"/>
            <a:ext cx="5303520" cy="329184"/>
          </a:xfrm>
          <a:prstGeom prst="rect">
            <a:avLst/>
          </a:prstGeom>
          <a:noFill/>
        </p:spPr>
        <p:txBody>
          <a:bodyPr wrap="square">
            <a:spAutoFit/>
          </a:bodyPr>
          <a:lstStyle/>
          <a:p>
            <a:pPr algn="l"/>
            <a:r>
              <a:rPr sz="950" b="0" i="0">
                <a:solidFill>
                  <a:srgbClr val="1A1A2E"/>
                </a:solidFill>
              </a:rPr>
              <a:t>1. 301-redirect duplicate letter format pages to single strongest URL</a:t>
            </a:r>
          </a:p>
        </p:txBody>
      </p:sp>
      <p:sp>
        <p:nvSpPr>
          <p:cNvPr id="152" name="TextBox 151"/>
          <p:cNvSpPr txBox="1"/>
          <p:nvPr/>
        </p:nvSpPr>
        <p:spPr>
          <a:xfrm>
            <a:off x="6400800" y="5129784"/>
            <a:ext cx="5303520" cy="329184"/>
          </a:xfrm>
          <a:prstGeom prst="rect">
            <a:avLst/>
          </a:prstGeom>
          <a:noFill/>
        </p:spPr>
        <p:txBody>
          <a:bodyPr wrap="square">
            <a:spAutoFit/>
          </a:bodyPr>
          <a:lstStyle/>
          <a:p>
            <a:pPr algn="l"/>
            <a:r>
              <a:rPr sz="950" b="0" i="0">
                <a:solidFill>
                  <a:srgbClr val="1A1A2E"/>
                </a:solidFill>
              </a:rPr>
              <a:t>2. Consolidate 'resume format' from 3 URLs → 1 canonical page</a:t>
            </a:r>
          </a:p>
        </p:txBody>
      </p:sp>
      <p:sp>
        <p:nvSpPr>
          <p:cNvPr id="153" name="TextBox 152"/>
          <p:cNvSpPr txBox="1"/>
          <p:nvPr/>
        </p:nvSpPr>
        <p:spPr>
          <a:xfrm>
            <a:off x="6400800" y="5477256"/>
            <a:ext cx="5303520" cy="329184"/>
          </a:xfrm>
          <a:prstGeom prst="rect">
            <a:avLst/>
          </a:prstGeom>
          <a:noFill/>
        </p:spPr>
        <p:txBody>
          <a:bodyPr wrap="square">
            <a:spAutoFit/>
          </a:bodyPr>
          <a:lstStyle/>
          <a:p>
            <a:pPr algn="l"/>
            <a:r>
              <a:rPr sz="950" b="0" i="0">
                <a:solidFill>
                  <a:srgbClr val="1A1A2E"/>
                </a:solidFill>
              </a:rPr>
              <a:t>3. Set canonical tags on all SSC exam sub-pages → /ssc-cgl-exam</a:t>
            </a:r>
          </a:p>
        </p:txBody>
      </p:sp>
      <p:sp>
        <p:nvSpPr>
          <p:cNvPr id="154" name="TextBox 153"/>
          <p:cNvSpPr txBox="1"/>
          <p:nvPr/>
        </p:nvSpPr>
        <p:spPr>
          <a:xfrm>
            <a:off x="6400800" y="5824728"/>
            <a:ext cx="5303520" cy="329184"/>
          </a:xfrm>
          <a:prstGeom prst="rect">
            <a:avLst/>
          </a:prstGeom>
          <a:noFill/>
        </p:spPr>
        <p:txBody>
          <a:bodyPr wrap="square">
            <a:spAutoFit/>
          </a:bodyPr>
          <a:lstStyle/>
          <a:p>
            <a:pPr algn="l"/>
            <a:r>
              <a:rPr sz="950" b="0" i="0">
                <a:solidFill>
                  <a:srgbClr val="1A1A2E"/>
                </a:solidFill>
              </a:rPr>
              <a:t>4. Internal link consolidation: all CTC variants → /blog/what-is-ctc</a:t>
            </a:r>
          </a:p>
        </p:txBody>
      </p:sp>
      <p:sp>
        <p:nvSpPr>
          <p:cNvPr id="155" name="TextBox 154"/>
          <p:cNvSpPr txBox="1"/>
          <p:nvPr/>
        </p:nvSpPr>
        <p:spPr>
          <a:xfrm>
            <a:off x="6400800" y="6172200"/>
            <a:ext cx="5303520" cy="329184"/>
          </a:xfrm>
          <a:prstGeom prst="rect">
            <a:avLst/>
          </a:prstGeom>
          <a:noFill/>
        </p:spPr>
        <p:txBody>
          <a:bodyPr wrap="square">
            <a:spAutoFit/>
          </a:bodyPr>
          <a:lstStyle/>
          <a:p>
            <a:pPr algn="l"/>
            <a:r>
              <a:rPr sz="950" b="0" i="0">
                <a:solidFill>
                  <a:srgbClr val="1A1A2E"/>
                </a:solidFill>
              </a:rPr>
              <a:t>5. Separate resume.naukri.com and naukri.com by distinct topic zones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Section 08 — Executive Summary</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Strengths, weaknesses &amp; 6-month growth forecast</a:t>
            </a:r>
          </a:p>
        </p:txBody>
      </p:sp>
      <p:sp>
        <p:nvSpPr>
          <p:cNvPr id="6" name="Rectangle 5"/>
          <p:cNvSpPr/>
          <p:nvPr/>
        </p:nvSpPr>
        <p:spPr>
          <a:xfrm>
            <a:off x="274320" y="1298448"/>
            <a:ext cx="5577840" cy="320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16736"/>
            <a:ext cx="5212080" cy="256032"/>
          </a:xfrm>
          <a:prstGeom prst="rect">
            <a:avLst/>
          </a:prstGeom>
          <a:noFill/>
        </p:spPr>
        <p:txBody>
          <a:bodyPr wrap="square">
            <a:spAutoFit/>
          </a:bodyPr>
          <a:lstStyle/>
          <a:p>
            <a:pPr algn="l"/>
            <a:r>
              <a:rPr sz="1050" b="1" i="0">
                <a:solidFill>
                  <a:srgbClr val="FFFFFF"/>
                </a:solidFill>
              </a:rPr>
              <a:t>TOP 10 SEO STRENGTHS</a:t>
            </a:r>
          </a:p>
        </p:txBody>
      </p:sp>
      <p:sp>
        <p:nvSpPr>
          <p:cNvPr id="8" name="Rectangle 7"/>
          <p:cNvSpPr/>
          <p:nvPr/>
        </p:nvSpPr>
        <p:spPr>
          <a:xfrm>
            <a:off x="274320" y="1618488"/>
            <a:ext cx="5577840" cy="274320"/>
          </a:xfrm>
          <a:prstGeom prst="rect">
            <a:avLst/>
          </a:prstGeom>
          <a:solidFill>
            <a:srgbClr val="E8F8EE"/>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645920"/>
            <a:ext cx="5349240" cy="228600"/>
          </a:xfrm>
          <a:prstGeom prst="rect">
            <a:avLst/>
          </a:prstGeom>
          <a:noFill/>
        </p:spPr>
        <p:txBody>
          <a:bodyPr wrap="square">
            <a:spAutoFit/>
          </a:bodyPr>
          <a:lstStyle/>
          <a:p>
            <a:pPr algn="l"/>
            <a:r>
              <a:rPr sz="850" b="0" i="0">
                <a:solidFill>
                  <a:srgbClr val="1A1A2E"/>
                </a:solidFill>
              </a:rPr>
              <a:t>#1  Full Forms cluster leader — beats Indeed (only brand to do so)</a:t>
            </a:r>
          </a:p>
        </p:txBody>
      </p:sp>
      <p:sp>
        <p:nvSpPr>
          <p:cNvPr id="10" name="Rectangle 9"/>
          <p:cNvSpPr/>
          <p:nvPr/>
        </p:nvSpPr>
        <p:spPr>
          <a:xfrm>
            <a:off x="274320" y="1901952"/>
            <a:ext cx="5577840" cy="274320"/>
          </a:xfrm>
          <a:prstGeom prst="rect">
            <a:avLst/>
          </a:prstGeom>
          <a:solidFill>
            <a:srgbClr val="FFFFFF"/>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929384"/>
            <a:ext cx="5349240" cy="228600"/>
          </a:xfrm>
          <a:prstGeom prst="rect">
            <a:avLst/>
          </a:prstGeom>
          <a:noFill/>
        </p:spPr>
        <p:txBody>
          <a:bodyPr wrap="square">
            <a:spAutoFit/>
          </a:bodyPr>
          <a:lstStyle/>
          <a:p>
            <a:pPr algn="l"/>
            <a:r>
              <a:rPr sz="850" b="0" i="0">
                <a:solidFill>
                  <a:srgbClr val="1A1A2E"/>
                </a:solidFill>
              </a:rPr>
              <a:t>#2  ATS tool page: 527 KWs, avg pos 10.2, 370 top-10 keywords</a:t>
            </a:r>
          </a:p>
        </p:txBody>
      </p:sp>
      <p:sp>
        <p:nvSpPr>
          <p:cNvPr id="12" name="Rectangle 11"/>
          <p:cNvSpPr/>
          <p:nvPr/>
        </p:nvSpPr>
        <p:spPr>
          <a:xfrm>
            <a:off x="274320" y="2185416"/>
            <a:ext cx="5577840" cy="274320"/>
          </a:xfrm>
          <a:prstGeom prst="rect">
            <a:avLst/>
          </a:prstGeom>
          <a:solidFill>
            <a:srgbClr val="E8F8EE"/>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212848"/>
            <a:ext cx="5349240" cy="228600"/>
          </a:xfrm>
          <a:prstGeom prst="rect">
            <a:avLst/>
          </a:prstGeom>
          <a:noFill/>
        </p:spPr>
        <p:txBody>
          <a:bodyPr wrap="square">
            <a:spAutoFit/>
          </a:bodyPr>
          <a:lstStyle/>
          <a:p>
            <a:pPr algn="l"/>
            <a:r>
              <a:rPr sz="850" b="0" i="0">
                <a:solidFill>
                  <a:srgbClr val="1A1A2E"/>
                </a:solidFill>
              </a:rPr>
              <a:t>#3  Fresher &amp; Campus depth — avg pos 13.1, #2 nationally</a:t>
            </a:r>
          </a:p>
        </p:txBody>
      </p:sp>
      <p:sp>
        <p:nvSpPr>
          <p:cNvPr id="14" name="Rectangle 13"/>
          <p:cNvSpPr/>
          <p:nvPr/>
        </p:nvSpPr>
        <p:spPr>
          <a:xfrm>
            <a:off x="274320" y="2468880"/>
            <a:ext cx="5577840" cy="274320"/>
          </a:xfrm>
          <a:prstGeom prst="rect">
            <a:avLst/>
          </a:prstGeom>
          <a:solidFill>
            <a:srgbClr val="FFFFFF"/>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496312"/>
            <a:ext cx="5349240" cy="228600"/>
          </a:xfrm>
          <a:prstGeom prst="rect">
            <a:avLst/>
          </a:prstGeom>
          <a:noFill/>
        </p:spPr>
        <p:txBody>
          <a:bodyPr wrap="square">
            <a:spAutoFit/>
          </a:bodyPr>
          <a:lstStyle/>
          <a:p>
            <a:pPr algn="l"/>
            <a:r>
              <a:rPr sz="850" b="0" i="0">
                <a:solidFill>
                  <a:srgbClr val="1A1A2E"/>
                </a:solidFill>
              </a:rPr>
              <a:t>#4  HR &amp; Workplace competitive — avg pos 13.1</a:t>
            </a:r>
          </a:p>
        </p:txBody>
      </p:sp>
      <p:sp>
        <p:nvSpPr>
          <p:cNvPr id="16" name="Rectangle 15"/>
          <p:cNvSpPr/>
          <p:nvPr/>
        </p:nvSpPr>
        <p:spPr>
          <a:xfrm>
            <a:off x="274320" y="2752344"/>
            <a:ext cx="5577840" cy="274320"/>
          </a:xfrm>
          <a:prstGeom prst="rect">
            <a:avLst/>
          </a:prstGeom>
          <a:solidFill>
            <a:srgbClr val="E8F8EE"/>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2779776"/>
            <a:ext cx="5349240" cy="228600"/>
          </a:xfrm>
          <a:prstGeom prst="rect">
            <a:avLst/>
          </a:prstGeom>
          <a:noFill/>
        </p:spPr>
        <p:txBody>
          <a:bodyPr wrap="square">
            <a:spAutoFit/>
          </a:bodyPr>
          <a:lstStyle/>
          <a:p>
            <a:pPr algn="l"/>
            <a:r>
              <a:rPr sz="850" b="0" i="0">
                <a:solidFill>
                  <a:srgbClr val="1A1A2E"/>
                </a:solidFill>
              </a:rPr>
              <a:t>#5  Broadest keyword coverage — 18,630 KWs vs Resume.io's 6,939</a:t>
            </a:r>
          </a:p>
        </p:txBody>
      </p:sp>
      <p:sp>
        <p:nvSpPr>
          <p:cNvPr id="18" name="Rectangle 17"/>
          <p:cNvSpPr/>
          <p:nvPr/>
        </p:nvSpPr>
        <p:spPr>
          <a:xfrm>
            <a:off x="274320" y="3035808"/>
            <a:ext cx="5577840" cy="274320"/>
          </a:xfrm>
          <a:prstGeom prst="rect">
            <a:avLst/>
          </a:prstGeom>
          <a:solidFill>
            <a:srgbClr val="FFFFFF"/>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063240"/>
            <a:ext cx="5349240" cy="228600"/>
          </a:xfrm>
          <a:prstGeom prst="rect">
            <a:avLst/>
          </a:prstGeom>
          <a:noFill/>
        </p:spPr>
        <p:txBody>
          <a:bodyPr wrap="square">
            <a:spAutoFit/>
          </a:bodyPr>
          <a:lstStyle/>
          <a:p>
            <a:pPr algn="l"/>
            <a:r>
              <a:rPr sz="850" b="0" i="0">
                <a:solidFill>
                  <a:srgbClr val="1A1A2E"/>
                </a:solidFill>
              </a:rPr>
              <a:t>#6  'designation meaning' #1 (121K vol), 'bpo full form' #2 (116K)</a:t>
            </a:r>
          </a:p>
        </p:txBody>
      </p:sp>
      <p:sp>
        <p:nvSpPr>
          <p:cNvPr id="20" name="Rectangle 19"/>
          <p:cNvSpPr/>
          <p:nvPr/>
        </p:nvSpPr>
        <p:spPr>
          <a:xfrm>
            <a:off x="274320" y="3319272"/>
            <a:ext cx="5577840" cy="274320"/>
          </a:xfrm>
          <a:prstGeom prst="rect">
            <a:avLst/>
          </a:prstGeom>
          <a:solidFill>
            <a:srgbClr val="E8F8EE"/>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3346704"/>
            <a:ext cx="5349240" cy="228600"/>
          </a:xfrm>
          <a:prstGeom prst="rect">
            <a:avLst/>
          </a:prstGeom>
          <a:noFill/>
        </p:spPr>
        <p:txBody>
          <a:bodyPr wrap="square">
            <a:spAutoFit/>
          </a:bodyPr>
          <a:lstStyle/>
          <a:p>
            <a:pPr algn="l"/>
            <a:r>
              <a:rPr sz="850" b="0" i="0">
                <a:solidFill>
                  <a:srgbClr val="1A1A2E"/>
                </a:solidFill>
              </a:rPr>
              <a:t>#7  Job Search cluster #2 — avg pos 13.8, 902 keywords</a:t>
            </a:r>
          </a:p>
        </p:txBody>
      </p:sp>
      <p:sp>
        <p:nvSpPr>
          <p:cNvPr id="22" name="Rectangle 21"/>
          <p:cNvSpPr/>
          <p:nvPr/>
        </p:nvSpPr>
        <p:spPr>
          <a:xfrm>
            <a:off x="274320" y="3602736"/>
            <a:ext cx="5577840" cy="274320"/>
          </a:xfrm>
          <a:prstGeom prst="rect">
            <a:avLst/>
          </a:prstGeom>
          <a:solidFill>
            <a:srgbClr val="FFFFFF"/>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3630168"/>
            <a:ext cx="5349240" cy="228600"/>
          </a:xfrm>
          <a:prstGeom prst="rect">
            <a:avLst/>
          </a:prstGeom>
          <a:noFill/>
        </p:spPr>
        <p:txBody>
          <a:bodyPr wrap="square">
            <a:spAutoFit/>
          </a:bodyPr>
          <a:lstStyle/>
          <a:p>
            <a:pPr algn="l"/>
            <a:r>
              <a:rPr sz="850" b="0" i="0">
                <a:solidFill>
                  <a:srgbClr val="1A1A2E"/>
                </a:solidFill>
              </a:rPr>
              <a:t>#8  Letter writing content — multiple pos 1–3 rankings</a:t>
            </a:r>
          </a:p>
        </p:txBody>
      </p:sp>
      <p:sp>
        <p:nvSpPr>
          <p:cNvPr id="24" name="Rectangle 23"/>
          <p:cNvSpPr/>
          <p:nvPr/>
        </p:nvSpPr>
        <p:spPr>
          <a:xfrm>
            <a:off x="274320" y="3886200"/>
            <a:ext cx="5577840" cy="274320"/>
          </a:xfrm>
          <a:prstGeom prst="rect">
            <a:avLst/>
          </a:prstGeom>
          <a:solidFill>
            <a:srgbClr val="E8F8EE"/>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3913632"/>
            <a:ext cx="5349240" cy="228600"/>
          </a:xfrm>
          <a:prstGeom prst="rect">
            <a:avLst/>
          </a:prstGeom>
          <a:noFill/>
        </p:spPr>
        <p:txBody>
          <a:bodyPr wrap="square">
            <a:spAutoFit/>
          </a:bodyPr>
          <a:lstStyle/>
          <a:p>
            <a:pPr algn="l"/>
            <a:r>
              <a:rPr sz="850" b="0" i="0">
                <a:solidFill>
                  <a:srgbClr val="1A1A2E"/>
                </a:solidFill>
              </a:rPr>
              <a:t>#9  SSC exam hub — 716 KWs, 4.49M volume on one page</a:t>
            </a:r>
          </a:p>
        </p:txBody>
      </p:sp>
      <p:sp>
        <p:nvSpPr>
          <p:cNvPr id="26" name="Rectangle 25"/>
          <p:cNvSpPr/>
          <p:nvPr/>
        </p:nvSpPr>
        <p:spPr>
          <a:xfrm>
            <a:off x="274320" y="4169664"/>
            <a:ext cx="5577840" cy="274320"/>
          </a:xfrm>
          <a:prstGeom prst="rect">
            <a:avLst/>
          </a:prstGeom>
          <a:solidFill>
            <a:srgbClr val="FFFFFF"/>
          </a:solidFill>
          <a:ln w="3810">
            <a:solidFill>
              <a:srgbClr val="BB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4197096"/>
            <a:ext cx="5349240" cy="228600"/>
          </a:xfrm>
          <a:prstGeom prst="rect">
            <a:avLst/>
          </a:prstGeom>
          <a:noFill/>
        </p:spPr>
        <p:txBody>
          <a:bodyPr wrap="square">
            <a:spAutoFit/>
          </a:bodyPr>
          <a:lstStyle/>
          <a:p>
            <a:pPr algn="l"/>
            <a:r>
              <a:rPr sz="850" b="0" i="0">
                <a:solidFill>
                  <a:srgbClr val="1A1A2E"/>
                </a:solidFill>
              </a:rPr>
              <a:t>#10 #2 brand by estimated traffic (948K/mo)</a:t>
            </a:r>
          </a:p>
        </p:txBody>
      </p:sp>
      <p:sp>
        <p:nvSpPr>
          <p:cNvPr id="28" name="Rectangle 27"/>
          <p:cNvSpPr/>
          <p:nvPr/>
        </p:nvSpPr>
        <p:spPr>
          <a:xfrm>
            <a:off x="6217920" y="1298448"/>
            <a:ext cx="566928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316736"/>
            <a:ext cx="5303520" cy="256032"/>
          </a:xfrm>
          <a:prstGeom prst="rect">
            <a:avLst/>
          </a:prstGeom>
          <a:noFill/>
        </p:spPr>
        <p:txBody>
          <a:bodyPr wrap="square">
            <a:spAutoFit/>
          </a:bodyPr>
          <a:lstStyle/>
          <a:p>
            <a:pPr algn="l"/>
            <a:r>
              <a:rPr sz="1050" b="1" i="0">
                <a:solidFill>
                  <a:srgbClr val="FFFFFF"/>
                </a:solidFill>
              </a:rPr>
              <a:t>TOP 10 SEO WEAKNESSES</a:t>
            </a:r>
          </a:p>
        </p:txBody>
      </p:sp>
      <p:sp>
        <p:nvSpPr>
          <p:cNvPr id="30" name="Rectangle 29"/>
          <p:cNvSpPr/>
          <p:nvPr/>
        </p:nvSpPr>
        <p:spPr>
          <a:xfrm>
            <a:off x="6217920" y="1618488"/>
            <a:ext cx="5669280" cy="274320"/>
          </a:xfrm>
          <a:prstGeom prst="rect">
            <a:avLst/>
          </a:prstGeom>
          <a:solidFill>
            <a:srgbClr val="FEF0EE"/>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1645920"/>
            <a:ext cx="5440680" cy="228600"/>
          </a:xfrm>
          <a:prstGeom prst="rect">
            <a:avLst/>
          </a:prstGeom>
          <a:noFill/>
        </p:spPr>
        <p:txBody>
          <a:bodyPr wrap="square">
            <a:spAutoFit/>
          </a:bodyPr>
          <a:lstStyle/>
          <a:p>
            <a:pPr algn="l"/>
            <a:r>
              <a:rPr sz="850" b="0" i="0">
                <a:solidFill>
                  <a:srgbClr val="1A1A2E"/>
                </a:solidFill>
              </a:rPr>
              <a:t>#1  Resume &amp; CV — ranked #4, gap of 10+ positions vs leader</a:t>
            </a:r>
          </a:p>
        </p:txBody>
      </p:sp>
      <p:sp>
        <p:nvSpPr>
          <p:cNvPr id="32" name="Rectangle 31"/>
          <p:cNvSpPr/>
          <p:nvPr/>
        </p:nvSpPr>
        <p:spPr>
          <a:xfrm>
            <a:off x="6217920" y="1901952"/>
            <a:ext cx="5669280" cy="274320"/>
          </a:xfrm>
          <a:prstGeom prst="rect">
            <a:avLst/>
          </a:prstGeom>
          <a:solidFill>
            <a:srgbClr val="FFFFFF"/>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7648" y="1929384"/>
            <a:ext cx="5440680" cy="228600"/>
          </a:xfrm>
          <a:prstGeom prst="rect">
            <a:avLst/>
          </a:prstGeom>
          <a:noFill/>
        </p:spPr>
        <p:txBody>
          <a:bodyPr wrap="square">
            <a:spAutoFit/>
          </a:bodyPr>
          <a:lstStyle/>
          <a:p>
            <a:pPr algn="l"/>
            <a:r>
              <a:rPr sz="850" b="0" i="0">
                <a:solidFill>
                  <a:srgbClr val="1A1A2E"/>
                </a:solidFill>
              </a:rPr>
              <a:t>#2  1,163 cannibalized keyword pairs suppressing rankings</a:t>
            </a:r>
          </a:p>
        </p:txBody>
      </p:sp>
      <p:sp>
        <p:nvSpPr>
          <p:cNvPr id="34" name="Rectangle 33"/>
          <p:cNvSpPr/>
          <p:nvPr/>
        </p:nvSpPr>
        <p:spPr>
          <a:xfrm>
            <a:off x="6217920" y="2185416"/>
            <a:ext cx="5669280" cy="274320"/>
          </a:xfrm>
          <a:prstGeom prst="rect">
            <a:avLst/>
          </a:prstGeom>
          <a:solidFill>
            <a:srgbClr val="FEF0EE"/>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27648" y="2212848"/>
            <a:ext cx="5440680" cy="228600"/>
          </a:xfrm>
          <a:prstGeom prst="rect">
            <a:avLst/>
          </a:prstGeom>
          <a:noFill/>
        </p:spPr>
        <p:txBody>
          <a:bodyPr wrap="square">
            <a:spAutoFit/>
          </a:bodyPr>
          <a:lstStyle/>
          <a:p>
            <a:pPr algn="l"/>
            <a:r>
              <a:rPr sz="850" b="0" i="0">
                <a:solidFill>
                  <a:srgbClr val="1A1A2E"/>
                </a:solidFill>
              </a:rPr>
              <a:t>#3  5,635 keywords (30%) stuck beyond position 20</a:t>
            </a:r>
          </a:p>
        </p:txBody>
      </p:sp>
      <p:sp>
        <p:nvSpPr>
          <p:cNvPr id="36" name="Rectangle 35"/>
          <p:cNvSpPr/>
          <p:nvPr/>
        </p:nvSpPr>
        <p:spPr>
          <a:xfrm>
            <a:off x="6217920" y="2468880"/>
            <a:ext cx="5669280" cy="274320"/>
          </a:xfrm>
          <a:prstGeom prst="rect">
            <a:avLst/>
          </a:prstGeom>
          <a:solidFill>
            <a:srgbClr val="FFFFFF"/>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7648" y="2496312"/>
            <a:ext cx="5440680" cy="228600"/>
          </a:xfrm>
          <a:prstGeom prst="rect">
            <a:avLst/>
          </a:prstGeom>
          <a:noFill/>
        </p:spPr>
        <p:txBody>
          <a:bodyPr wrap="square">
            <a:spAutoFit/>
          </a:bodyPr>
          <a:lstStyle/>
          <a:p>
            <a:pPr algn="l"/>
            <a:r>
              <a:rPr sz="850" b="0" i="0">
                <a:solidFill>
                  <a:srgbClr val="1A1A2E"/>
                </a:solidFill>
              </a:rPr>
              <a:t>#4  Finance &amp; Accounting avg pos 19.5 — 47% beyond pos 20</a:t>
            </a:r>
          </a:p>
        </p:txBody>
      </p:sp>
      <p:sp>
        <p:nvSpPr>
          <p:cNvPr id="38" name="Rectangle 37"/>
          <p:cNvSpPr/>
          <p:nvPr/>
        </p:nvSpPr>
        <p:spPr>
          <a:xfrm>
            <a:off x="6217920" y="2752344"/>
            <a:ext cx="5669280" cy="274320"/>
          </a:xfrm>
          <a:prstGeom prst="rect">
            <a:avLst/>
          </a:prstGeom>
          <a:solidFill>
            <a:srgbClr val="FEF0EE"/>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7648" y="2779776"/>
            <a:ext cx="5440680" cy="228600"/>
          </a:xfrm>
          <a:prstGeom prst="rect">
            <a:avLst/>
          </a:prstGeom>
          <a:noFill/>
        </p:spPr>
        <p:txBody>
          <a:bodyPr wrap="square">
            <a:spAutoFit/>
          </a:bodyPr>
          <a:lstStyle/>
          <a:p>
            <a:pPr algn="l"/>
            <a:r>
              <a:rPr sz="850" b="0" i="0">
                <a:solidFill>
                  <a:srgbClr val="1A1A2E"/>
                </a:solidFill>
              </a:rPr>
              <a:t>#5  Technology &amp; IT avg pos 18.7 — low content depth</a:t>
            </a:r>
          </a:p>
        </p:txBody>
      </p:sp>
      <p:sp>
        <p:nvSpPr>
          <p:cNvPr id="40" name="Rectangle 39"/>
          <p:cNvSpPr/>
          <p:nvPr/>
        </p:nvSpPr>
        <p:spPr>
          <a:xfrm>
            <a:off x="6217920" y="3035808"/>
            <a:ext cx="5669280" cy="274320"/>
          </a:xfrm>
          <a:prstGeom prst="rect">
            <a:avLst/>
          </a:prstGeom>
          <a:solidFill>
            <a:srgbClr val="FFFFFF"/>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27648" y="3063240"/>
            <a:ext cx="5440680" cy="228600"/>
          </a:xfrm>
          <a:prstGeom prst="rect">
            <a:avLst/>
          </a:prstGeom>
          <a:noFill/>
        </p:spPr>
        <p:txBody>
          <a:bodyPr wrap="square">
            <a:spAutoFit/>
          </a:bodyPr>
          <a:lstStyle/>
          <a:p>
            <a:pPr algn="l"/>
            <a:r>
              <a:rPr sz="850" b="0" i="0">
                <a:solidFill>
                  <a:srgbClr val="1A1A2E"/>
                </a:solidFill>
              </a:rPr>
              <a:t>#6  'ssc' (2.24M vol) stuck at position 14</a:t>
            </a:r>
          </a:p>
        </p:txBody>
      </p:sp>
      <p:sp>
        <p:nvSpPr>
          <p:cNvPr id="42" name="Rectangle 41"/>
          <p:cNvSpPr/>
          <p:nvPr/>
        </p:nvSpPr>
        <p:spPr>
          <a:xfrm>
            <a:off x="6217920" y="3319272"/>
            <a:ext cx="5669280" cy="274320"/>
          </a:xfrm>
          <a:prstGeom prst="rect">
            <a:avLst/>
          </a:prstGeom>
          <a:solidFill>
            <a:srgbClr val="FEF0EE"/>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27648" y="3346704"/>
            <a:ext cx="5440680" cy="228600"/>
          </a:xfrm>
          <a:prstGeom prst="rect">
            <a:avLst/>
          </a:prstGeom>
          <a:noFill/>
        </p:spPr>
        <p:txBody>
          <a:bodyPr wrap="square">
            <a:spAutoFit/>
          </a:bodyPr>
          <a:lstStyle/>
          <a:p>
            <a:pPr algn="l"/>
            <a:r>
              <a:rPr sz="850" b="0" i="0">
                <a:solidFill>
                  <a:srgbClr val="1A1A2E"/>
                </a:solidFill>
              </a:rPr>
              <a:t>#7  Absent from 'resume maker/builder' (400K+ combined vol)</a:t>
            </a:r>
          </a:p>
        </p:txBody>
      </p:sp>
      <p:sp>
        <p:nvSpPr>
          <p:cNvPr id="44" name="Rectangle 43"/>
          <p:cNvSpPr/>
          <p:nvPr/>
        </p:nvSpPr>
        <p:spPr>
          <a:xfrm>
            <a:off x="6217920" y="3602736"/>
            <a:ext cx="5669280" cy="274320"/>
          </a:xfrm>
          <a:prstGeom prst="rect">
            <a:avLst/>
          </a:prstGeom>
          <a:solidFill>
            <a:srgbClr val="FFFFFF"/>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27648" y="3630168"/>
            <a:ext cx="5440680" cy="228600"/>
          </a:xfrm>
          <a:prstGeom prst="rect">
            <a:avLst/>
          </a:prstGeom>
          <a:noFill/>
        </p:spPr>
        <p:txBody>
          <a:bodyPr wrap="square">
            <a:spAutoFit/>
          </a:bodyPr>
          <a:lstStyle/>
          <a:p>
            <a:pPr algn="l"/>
            <a:r>
              <a:rPr sz="850" b="0" i="0">
                <a:solidFill>
                  <a:srgbClr val="1A1A2E"/>
                </a:solidFill>
              </a:rPr>
              <a:t>#8  Interview Prep ranked #6 — even niche tools beat Naukri</a:t>
            </a:r>
          </a:p>
        </p:txBody>
      </p:sp>
      <p:sp>
        <p:nvSpPr>
          <p:cNvPr id="46" name="Rectangle 45"/>
          <p:cNvSpPr/>
          <p:nvPr/>
        </p:nvSpPr>
        <p:spPr>
          <a:xfrm>
            <a:off x="6217920" y="3886200"/>
            <a:ext cx="5669280" cy="274320"/>
          </a:xfrm>
          <a:prstGeom prst="rect">
            <a:avLst/>
          </a:prstGeom>
          <a:solidFill>
            <a:srgbClr val="FEF0EE"/>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7648" y="3913632"/>
            <a:ext cx="5440680" cy="228600"/>
          </a:xfrm>
          <a:prstGeom prst="rect">
            <a:avLst/>
          </a:prstGeom>
          <a:noFill/>
        </p:spPr>
        <p:txBody>
          <a:bodyPr wrap="square">
            <a:spAutoFit/>
          </a:bodyPr>
          <a:lstStyle/>
          <a:p>
            <a:pPr algn="l"/>
            <a:r>
              <a:rPr sz="850" b="0" i="0">
                <a:solidFill>
                  <a:srgbClr val="1A1A2E"/>
                </a:solidFill>
              </a:rPr>
              <a:t>#9  SSC exam page (4.49M vol) averaging pos 17</a:t>
            </a:r>
          </a:p>
        </p:txBody>
      </p:sp>
      <p:sp>
        <p:nvSpPr>
          <p:cNvPr id="48" name="Rectangle 47"/>
          <p:cNvSpPr/>
          <p:nvPr/>
        </p:nvSpPr>
        <p:spPr>
          <a:xfrm>
            <a:off x="6217920" y="4169664"/>
            <a:ext cx="5669280" cy="274320"/>
          </a:xfrm>
          <a:prstGeom prst="rect">
            <a:avLst/>
          </a:prstGeom>
          <a:solidFill>
            <a:srgbClr val="FFFFFF"/>
          </a:solidFill>
          <a:ln w="3810">
            <a:solidFill>
              <a:srgbClr val="DD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27648" y="4197096"/>
            <a:ext cx="5440680" cy="228600"/>
          </a:xfrm>
          <a:prstGeom prst="rect">
            <a:avLst/>
          </a:prstGeom>
          <a:noFill/>
        </p:spPr>
        <p:txBody>
          <a:bodyPr wrap="square">
            <a:spAutoFit/>
          </a:bodyPr>
          <a:lstStyle/>
          <a:p>
            <a:pPr algn="l"/>
            <a:r>
              <a:rPr sz="850" b="0" i="0">
                <a:solidFill>
                  <a:srgbClr val="1A1A2E"/>
                </a:solidFill>
              </a:rPr>
              <a:t>#10 Authority dilution across 4 subdomains/sections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88952" cy="6400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40080"/>
          </a:xfrm>
          <a:prstGeom prst="rect">
            <a:avLst/>
          </a:prstGeom>
          <a:noFill/>
        </p:spPr>
        <p:txBody>
          <a:bodyPr wrap="square">
            <a:spAutoFit/>
          </a:bodyPr>
          <a:lstStyle/>
          <a:p>
            <a:pPr algn="l"/>
            <a:r>
              <a:rPr sz="2800" b="1" i="0">
                <a:solidFill>
                  <a:srgbClr val="FFFFFF"/>
                </a:solidFill>
              </a:rPr>
              <a:t>6-Month Organic Traffic Growth Forecast</a:t>
            </a:r>
          </a:p>
        </p:txBody>
      </p:sp>
      <p:sp>
        <p:nvSpPr>
          <p:cNvPr id="5" name="TextBox 4"/>
          <p:cNvSpPr txBox="1"/>
          <p:nvPr/>
        </p:nvSpPr>
        <p:spPr>
          <a:xfrm>
            <a:off x="365760" y="713232"/>
            <a:ext cx="10972800" cy="411480"/>
          </a:xfrm>
          <a:prstGeom prst="rect">
            <a:avLst/>
          </a:prstGeom>
          <a:noFill/>
        </p:spPr>
        <p:txBody>
          <a:bodyPr wrap="square">
            <a:spAutoFit/>
          </a:bodyPr>
          <a:lstStyle/>
          <a:p>
            <a:pPr algn="l"/>
            <a:r>
              <a:rPr sz="1300" b="0" i="1">
                <a:solidFill>
                  <a:srgbClr val="B0C4DE"/>
                </a:solidFill>
              </a:rPr>
              <a:t>Category-wise uplift projections based on position improvement potential</a:t>
            </a:r>
          </a:p>
        </p:txBody>
      </p:sp>
      <p:sp>
        <p:nvSpPr>
          <p:cNvPr id="6" name="Rectangle 5"/>
          <p:cNvSpPr/>
          <p:nvPr/>
        </p:nvSpPr>
        <p:spPr>
          <a:xfrm>
            <a:off x="274320" y="1298448"/>
            <a:ext cx="7955279" cy="292608"/>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16736"/>
            <a:ext cx="2286000" cy="237744"/>
          </a:xfrm>
          <a:prstGeom prst="rect">
            <a:avLst/>
          </a:prstGeom>
          <a:noFill/>
        </p:spPr>
        <p:txBody>
          <a:bodyPr wrap="square">
            <a:spAutoFit/>
          </a:bodyPr>
          <a:lstStyle/>
          <a:p>
            <a:pPr algn="l"/>
            <a:r>
              <a:rPr sz="900" b="1" i="0">
                <a:solidFill>
                  <a:srgbClr val="FFFFFF"/>
                </a:solidFill>
              </a:rPr>
              <a:t>Category</a:t>
            </a:r>
          </a:p>
        </p:txBody>
      </p:sp>
      <p:sp>
        <p:nvSpPr>
          <p:cNvPr id="8" name="TextBox 7"/>
          <p:cNvSpPr txBox="1"/>
          <p:nvPr/>
        </p:nvSpPr>
        <p:spPr>
          <a:xfrm>
            <a:off x="2651760" y="1316736"/>
            <a:ext cx="1554480" cy="237744"/>
          </a:xfrm>
          <a:prstGeom prst="rect">
            <a:avLst/>
          </a:prstGeom>
          <a:noFill/>
        </p:spPr>
        <p:txBody>
          <a:bodyPr wrap="square">
            <a:spAutoFit/>
          </a:bodyPr>
          <a:lstStyle/>
          <a:p>
            <a:pPr algn="ctr"/>
            <a:r>
              <a:rPr sz="900" b="1" i="0">
                <a:solidFill>
                  <a:srgbClr val="FFFFFF"/>
                </a:solidFill>
              </a:rPr>
              <a:t>Current Traffic</a:t>
            </a:r>
          </a:p>
        </p:txBody>
      </p:sp>
      <p:sp>
        <p:nvSpPr>
          <p:cNvPr id="9" name="TextBox 8"/>
          <p:cNvSpPr txBox="1"/>
          <p:nvPr/>
        </p:nvSpPr>
        <p:spPr>
          <a:xfrm>
            <a:off x="4206240" y="1316736"/>
            <a:ext cx="1554480" cy="237744"/>
          </a:xfrm>
          <a:prstGeom prst="rect">
            <a:avLst/>
          </a:prstGeom>
          <a:noFill/>
        </p:spPr>
        <p:txBody>
          <a:bodyPr wrap="square">
            <a:spAutoFit/>
          </a:bodyPr>
          <a:lstStyle/>
          <a:p>
            <a:pPr algn="ctr"/>
            <a:r>
              <a:rPr sz="900" b="1" i="0">
                <a:solidFill>
                  <a:srgbClr val="FFFFFF"/>
                </a:solidFill>
              </a:rPr>
              <a:t>6-Month Target</a:t>
            </a:r>
          </a:p>
        </p:txBody>
      </p:sp>
      <p:sp>
        <p:nvSpPr>
          <p:cNvPr id="10" name="TextBox 9"/>
          <p:cNvSpPr txBox="1"/>
          <p:nvPr/>
        </p:nvSpPr>
        <p:spPr>
          <a:xfrm>
            <a:off x="5760720" y="1316736"/>
            <a:ext cx="1005840" cy="237744"/>
          </a:xfrm>
          <a:prstGeom prst="rect">
            <a:avLst/>
          </a:prstGeom>
          <a:noFill/>
        </p:spPr>
        <p:txBody>
          <a:bodyPr wrap="square">
            <a:spAutoFit/>
          </a:bodyPr>
          <a:lstStyle/>
          <a:p>
            <a:pPr algn="ctr"/>
            <a:r>
              <a:rPr sz="900" b="1" i="0">
                <a:solidFill>
                  <a:srgbClr val="FFFFFF"/>
                </a:solidFill>
              </a:rPr>
              <a:t>Uplift</a:t>
            </a:r>
          </a:p>
        </p:txBody>
      </p:sp>
      <p:sp>
        <p:nvSpPr>
          <p:cNvPr id="11" name="TextBox 10"/>
          <p:cNvSpPr txBox="1"/>
          <p:nvPr/>
        </p:nvSpPr>
        <p:spPr>
          <a:xfrm>
            <a:off x="6766560" y="1316736"/>
            <a:ext cx="1371600" cy="237744"/>
          </a:xfrm>
          <a:prstGeom prst="rect">
            <a:avLst/>
          </a:prstGeom>
          <a:noFill/>
        </p:spPr>
        <p:txBody>
          <a:bodyPr wrap="square">
            <a:spAutoFit/>
          </a:bodyPr>
          <a:lstStyle/>
          <a:p>
            <a:pPr algn="ctr"/>
            <a:r>
              <a:rPr sz="900" b="1" i="0">
                <a:solidFill>
                  <a:srgbClr val="FFFFFF"/>
                </a:solidFill>
              </a:rPr>
              <a:t>Growth %</a:t>
            </a:r>
          </a:p>
        </p:txBody>
      </p:sp>
      <p:sp>
        <p:nvSpPr>
          <p:cNvPr id="12" name="Rectangle 11"/>
          <p:cNvSpPr/>
          <p:nvPr/>
        </p:nvSpPr>
        <p:spPr>
          <a:xfrm>
            <a:off x="274320" y="1591056"/>
            <a:ext cx="7955279" cy="621792"/>
          </a:xfrm>
          <a:prstGeom prst="rect">
            <a:avLst/>
          </a:prstGeom>
          <a:solidFill>
            <a:srgbClr val="F4F8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627632"/>
            <a:ext cx="2194560" cy="274320"/>
          </a:xfrm>
          <a:prstGeom prst="rect">
            <a:avLst/>
          </a:prstGeom>
          <a:noFill/>
        </p:spPr>
        <p:txBody>
          <a:bodyPr wrap="square">
            <a:spAutoFit/>
          </a:bodyPr>
          <a:lstStyle/>
          <a:p>
            <a:pPr algn="l"/>
            <a:r>
              <a:rPr sz="950" b="1" i="0">
                <a:solidFill>
                  <a:srgbClr val="1A1A2E"/>
                </a:solidFill>
              </a:rPr>
              <a:t>SSC / Govt Exams</a:t>
            </a:r>
          </a:p>
        </p:txBody>
      </p:sp>
      <p:sp>
        <p:nvSpPr>
          <p:cNvPr id="14" name="TextBox 13"/>
          <p:cNvSpPr txBox="1"/>
          <p:nvPr/>
        </p:nvSpPr>
        <p:spPr>
          <a:xfrm>
            <a:off x="2651760" y="1627632"/>
            <a:ext cx="1554480" cy="274320"/>
          </a:xfrm>
          <a:prstGeom prst="rect">
            <a:avLst/>
          </a:prstGeom>
          <a:noFill/>
        </p:spPr>
        <p:txBody>
          <a:bodyPr wrap="square">
            <a:spAutoFit/>
          </a:bodyPr>
          <a:lstStyle/>
          <a:p>
            <a:pPr algn="ctr"/>
            <a:r>
              <a:rPr sz="950" b="0" i="0">
                <a:solidFill>
                  <a:srgbClr val="5A6A85"/>
                </a:solidFill>
              </a:rPr>
              <a:t>~95K/mo</a:t>
            </a:r>
          </a:p>
        </p:txBody>
      </p:sp>
      <p:sp>
        <p:nvSpPr>
          <p:cNvPr id="15" name="TextBox 14"/>
          <p:cNvSpPr txBox="1"/>
          <p:nvPr/>
        </p:nvSpPr>
        <p:spPr>
          <a:xfrm>
            <a:off x="4206240" y="1627632"/>
            <a:ext cx="1554480" cy="274320"/>
          </a:xfrm>
          <a:prstGeom prst="rect">
            <a:avLst/>
          </a:prstGeom>
          <a:noFill/>
        </p:spPr>
        <p:txBody>
          <a:bodyPr wrap="square">
            <a:spAutoFit/>
          </a:bodyPr>
          <a:lstStyle/>
          <a:p>
            <a:pPr algn="ctr"/>
            <a:r>
              <a:rPr sz="950" b="1" i="0">
                <a:solidFill>
                  <a:srgbClr val="27AE60"/>
                </a:solidFill>
              </a:rPr>
              <a:t>~250K/mo</a:t>
            </a:r>
          </a:p>
        </p:txBody>
      </p:sp>
      <p:sp>
        <p:nvSpPr>
          <p:cNvPr id="16" name="TextBox 15"/>
          <p:cNvSpPr txBox="1"/>
          <p:nvPr/>
        </p:nvSpPr>
        <p:spPr>
          <a:xfrm>
            <a:off x="5760720" y="1627632"/>
            <a:ext cx="1005840" cy="274320"/>
          </a:xfrm>
          <a:prstGeom prst="rect">
            <a:avLst/>
          </a:prstGeom>
          <a:noFill/>
        </p:spPr>
        <p:txBody>
          <a:bodyPr wrap="square">
            <a:spAutoFit/>
          </a:bodyPr>
          <a:lstStyle/>
          <a:p>
            <a:pPr algn="ctr"/>
            <a:r>
              <a:rPr sz="950" b="1" i="0">
                <a:solidFill>
                  <a:srgbClr val="27AE60"/>
                </a:solidFill>
              </a:rPr>
              <a:t>+155K</a:t>
            </a:r>
          </a:p>
        </p:txBody>
      </p:sp>
      <p:sp>
        <p:nvSpPr>
          <p:cNvPr id="17" name="TextBox 16"/>
          <p:cNvSpPr txBox="1"/>
          <p:nvPr/>
        </p:nvSpPr>
        <p:spPr>
          <a:xfrm>
            <a:off x="6766560" y="1627632"/>
            <a:ext cx="1371600" cy="274320"/>
          </a:xfrm>
          <a:prstGeom prst="rect">
            <a:avLst/>
          </a:prstGeom>
          <a:noFill/>
        </p:spPr>
        <p:txBody>
          <a:bodyPr wrap="square">
            <a:spAutoFit/>
          </a:bodyPr>
          <a:lstStyle/>
          <a:p>
            <a:pPr algn="ctr"/>
            <a:r>
              <a:rPr sz="950" b="1" i="0">
                <a:solidFill>
                  <a:srgbClr val="27AE60"/>
                </a:solidFill>
              </a:rPr>
              <a:t>+163%</a:t>
            </a:r>
          </a:p>
        </p:txBody>
      </p:sp>
      <p:sp>
        <p:nvSpPr>
          <p:cNvPr id="18" name="Rectangle 17"/>
          <p:cNvSpPr/>
          <p:nvPr/>
        </p:nvSpPr>
        <p:spPr>
          <a:xfrm>
            <a:off x="365760" y="1956816"/>
            <a:ext cx="9326880"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1956816"/>
            <a:ext cx="969264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1956816"/>
            <a:ext cx="9326880"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2258568"/>
            <a:ext cx="7955279" cy="62179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295144"/>
            <a:ext cx="2194560" cy="274320"/>
          </a:xfrm>
          <a:prstGeom prst="rect">
            <a:avLst/>
          </a:prstGeom>
          <a:noFill/>
        </p:spPr>
        <p:txBody>
          <a:bodyPr wrap="square">
            <a:spAutoFit/>
          </a:bodyPr>
          <a:lstStyle/>
          <a:p>
            <a:pPr algn="l"/>
            <a:r>
              <a:rPr sz="950" b="1" i="0">
                <a:solidFill>
                  <a:srgbClr val="1A1A2E"/>
                </a:solidFill>
              </a:rPr>
              <a:t>Resume (post fix)</a:t>
            </a:r>
          </a:p>
        </p:txBody>
      </p:sp>
      <p:sp>
        <p:nvSpPr>
          <p:cNvPr id="23" name="TextBox 22"/>
          <p:cNvSpPr txBox="1"/>
          <p:nvPr/>
        </p:nvSpPr>
        <p:spPr>
          <a:xfrm>
            <a:off x="2651760" y="2295144"/>
            <a:ext cx="1554480" cy="274320"/>
          </a:xfrm>
          <a:prstGeom prst="rect">
            <a:avLst/>
          </a:prstGeom>
          <a:noFill/>
        </p:spPr>
        <p:txBody>
          <a:bodyPr wrap="square">
            <a:spAutoFit/>
          </a:bodyPr>
          <a:lstStyle/>
          <a:p>
            <a:pPr algn="ctr"/>
            <a:r>
              <a:rPr sz="950" b="0" i="0">
                <a:solidFill>
                  <a:srgbClr val="5A6A85"/>
                </a:solidFill>
              </a:rPr>
              <a:t>~140K/mo</a:t>
            </a:r>
          </a:p>
        </p:txBody>
      </p:sp>
      <p:sp>
        <p:nvSpPr>
          <p:cNvPr id="24" name="TextBox 23"/>
          <p:cNvSpPr txBox="1"/>
          <p:nvPr/>
        </p:nvSpPr>
        <p:spPr>
          <a:xfrm>
            <a:off x="4206240" y="2295144"/>
            <a:ext cx="1554480" cy="274320"/>
          </a:xfrm>
          <a:prstGeom prst="rect">
            <a:avLst/>
          </a:prstGeom>
          <a:noFill/>
        </p:spPr>
        <p:txBody>
          <a:bodyPr wrap="square">
            <a:spAutoFit/>
          </a:bodyPr>
          <a:lstStyle/>
          <a:p>
            <a:pPr algn="ctr"/>
            <a:r>
              <a:rPr sz="950" b="1" i="0">
                <a:solidFill>
                  <a:srgbClr val="009BA5"/>
                </a:solidFill>
              </a:rPr>
              <a:t>~240K/mo</a:t>
            </a:r>
          </a:p>
        </p:txBody>
      </p:sp>
      <p:sp>
        <p:nvSpPr>
          <p:cNvPr id="25" name="TextBox 24"/>
          <p:cNvSpPr txBox="1"/>
          <p:nvPr/>
        </p:nvSpPr>
        <p:spPr>
          <a:xfrm>
            <a:off x="5760720" y="2295144"/>
            <a:ext cx="1005840" cy="274320"/>
          </a:xfrm>
          <a:prstGeom prst="rect">
            <a:avLst/>
          </a:prstGeom>
          <a:noFill/>
        </p:spPr>
        <p:txBody>
          <a:bodyPr wrap="square">
            <a:spAutoFit/>
          </a:bodyPr>
          <a:lstStyle/>
          <a:p>
            <a:pPr algn="ctr"/>
            <a:r>
              <a:rPr sz="950" b="1" i="0">
                <a:solidFill>
                  <a:srgbClr val="27AE60"/>
                </a:solidFill>
              </a:rPr>
              <a:t>+100K</a:t>
            </a:r>
          </a:p>
        </p:txBody>
      </p:sp>
      <p:sp>
        <p:nvSpPr>
          <p:cNvPr id="26" name="TextBox 25"/>
          <p:cNvSpPr txBox="1"/>
          <p:nvPr/>
        </p:nvSpPr>
        <p:spPr>
          <a:xfrm>
            <a:off x="6766560" y="2295144"/>
            <a:ext cx="1371600" cy="274320"/>
          </a:xfrm>
          <a:prstGeom prst="rect">
            <a:avLst/>
          </a:prstGeom>
          <a:noFill/>
        </p:spPr>
        <p:txBody>
          <a:bodyPr wrap="square">
            <a:spAutoFit/>
          </a:bodyPr>
          <a:lstStyle/>
          <a:p>
            <a:pPr algn="ctr"/>
            <a:r>
              <a:rPr sz="950" b="1" i="0">
                <a:solidFill>
                  <a:srgbClr val="27AE60"/>
                </a:solidFill>
              </a:rPr>
              <a:t>+71%</a:t>
            </a:r>
          </a:p>
        </p:txBody>
      </p:sp>
      <p:sp>
        <p:nvSpPr>
          <p:cNvPr id="27" name="Rectangle 26"/>
          <p:cNvSpPr/>
          <p:nvPr/>
        </p:nvSpPr>
        <p:spPr>
          <a:xfrm>
            <a:off x="365760" y="2624327"/>
            <a:ext cx="6400800" cy="18288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2624327"/>
            <a:ext cx="969264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2624327"/>
            <a:ext cx="6400800" cy="182880"/>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2926080"/>
            <a:ext cx="7955279" cy="621792"/>
          </a:xfrm>
          <a:prstGeom prst="rect">
            <a:avLst/>
          </a:prstGeom>
          <a:solidFill>
            <a:srgbClr val="F4F8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2962656"/>
            <a:ext cx="2194560" cy="274320"/>
          </a:xfrm>
          <a:prstGeom prst="rect">
            <a:avLst/>
          </a:prstGeom>
          <a:noFill/>
        </p:spPr>
        <p:txBody>
          <a:bodyPr wrap="square">
            <a:spAutoFit/>
          </a:bodyPr>
          <a:lstStyle/>
          <a:p>
            <a:pPr algn="l"/>
            <a:r>
              <a:rPr sz="950" b="1" i="0">
                <a:solidFill>
                  <a:srgbClr val="1A1A2E"/>
                </a:solidFill>
              </a:rPr>
              <a:t>ATS Tool Expansion</a:t>
            </a:r>
          </a:p>
        </p:txBody>
      </p:sp>
      <p:sp>
        <p:nvSpPr>
          <p:cNvPr id="32" name="TextBox 31"/>
          <p:cNvSpPr txBox="1"/>
          <p:nvPr/>
        </p:nvSpPr>
        <p:spPr>
          <a:xfrm>
            <a:off x="2651760" y="2962656"/>
            <a:ext cx="1554480" cy="274320"/>
          </a:xfrm>
          <a:prstGeom prst="rect">
            <a:avLst/>
          </a:prstGeom>
          <a:noFill/>
        </p:spPr>
        <p:txBody>
          <a:bodyPr wrap="square">
            <a:spAutoFit/>
          </a:bodyPr>
          <a:lstStyle/>
          <a:p>
            <a:pPr algn="ctr"/>
            <a:r>
              <a:rPr sz="950" b="0" i="0">
                <a:solidFill>
                  <a:srgbClr val="5A6A85"/>
                </a:solidFill>
              </a:rPr>
              <a:t>~85K/mo</a:t>
            </a:r>
          </a:p>
        </p:txBody>
      </p:sp>
      <p:sp>
        <p:nvSpPr>
          <p:cNvPr id="33" name="TextBox 32"/>
          <p:cNvSpPr txBox="1"/>
          <p:nvPr/>
        </p:nvSpPr>
        <p:spPr>
          <a:xfrm>
            <a:off x="4206240" y="2962656"/>
            <a:ext cx="1554480" cy="274320"/>
          </a:xfrm>
          <a:prstGeom prst="rect">
            <a:avLst/>
          </a:prstGeom>
          <a:noFill/>
        </p:spPr>
        <p:txBody>
          <a:bodyPr wrap="square">
            <a:spAutoFit/>
          </a:bodyPr>
          <a:lstStyle/>
          <a:p>
            <a:pPr algn="ctr"/>
            <a:r>
              <a:rPr sz="950" b="1" i="0">
                <a:solidFill>
                  <a:srgbClr val="003E8A"/>
                </a:solidFill>
              </a:rPr>
              <a:t>~150K/mo</a:t>
            </a:r>
          </a:p>
        </p:txBody>
      </p:sp>
      <p:sp>
        <p:nvSpPr>
          <p:cNvPr id="34" name="TextBox 33"/>
          <p:cNvSpPr txBox="1"/>
          <p:nvPr/>
        </p:nvSpPr>
        <p:spPr>
          <a:xfrm>
            <a:off x="5760720" y="2962656"/>
            <a:ext cx="1005840" cy="274320"/>
          </a:xfrm>
          <a:prstGeom prst="rect">
            <a:avLst/>
          </a:prstGeom>
          <a:noFill/>
        </p:spPr>
        <p:txBody>
          <a:bodyPr wrap="square">
            <a:spAutoFit/>
          </a:bodyPr>
          <a:lstStyle/>
          <a:p>
            <a:pPr algn="ctr"/>
            <a:r>
              <a:rPr sz="950" b="1" i="0">
                <a:solidFill>
                  <a:srgbClr val="27AE60"/>
                </a:solidFill>
              </a:rPr>
              <a:t>+65K</a:t>
            </a:r>
          </a:p>
        </p:txBody>
      </p:sp>
      <p:sp>
        <p:nvSpPr>
          <p:cNvPr id="35" name="TextBox 34"/>
          <p:cNvSpPr txBox="1"/>
          <p:nvPr/>
        </p:nvSpPr>
        <p:spPr>
          <a:xfrm>
            <a:off x="6766560" y="2962656"/>
            <a:ext cx="1371600" cy="274320"/>
          </a:xfrm>
          <a:prstGeom prst="rect">
            <a:avLst/>
          </a:prstGeom>
          <a:noFill/>
        </p:spPr>
        <p:txBody>
          <a:bodyPr wrap="square">
            <a:spAutoFit/>
          </a:bodyPr>
          <a:lstStyle/>
          <a:p>
            <a:pPr algn="ctr"/>
            <a:r>
              <a:rPr sz="950" b="1" i="0">
                <a:solidFill>
                  <a:srgbClr val="27AE60"/>
                </a:solidFill>
              </a:rPr>
              <a:t>+76%</a:t>
            </a:r>
          </a:p>
        </p:txBody>
      </p:sp>
      <p:sp>
        <p:nvSpPr>
          <p:cNvPr id="36" name="Rectangle 35"/>
          <p:cNvSpPr/>
          <p:nvPr/>
        </p:nvSpPr>
        <p:spPr>
          <a:xfrm>
            <a:off x="365760" y="3291840"/>
            <a:ext cx="4206240" cy="18288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3291840"/>
            <a:ext cx="969264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3291840"/>
            <a:ext cx="4206240" cy="18288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3593591"/>
            <a:ext cx="7955279" cy="62179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30168"/>
            <a:ext cx="2194560" cy="274320"/>
          </a:xfrm>
          <a:prstGeom prst="rect">
            <a:avLst/>
          </a:prstGeom>
          <a:noFill/>
        </p:spPr>
        <p:txBody>
          <a:bodyPr wrap="square">
            <a:spAutoFit/>
          </a:bodyPr>
          <a:lstStyle/>
          <a:p>
            <a:pPr algn="l"/>
            <a:r>
              <a:rPr sz="950" b="1" i="0">
                <a:solidFill>
                  <a:srgbClr val="1A1A2E"/>
                </a:solidFill>
              </a:rPr>
              <a:t>Full Forms Directory</a:t>
            </a:r>
          </a:p>
        </p:txBody>
      </p:sp>
      <p:sp>
        <p:nvSpPr>
          <p:cNvPr id="41" name="TextBox 40"/>
          <p:cNvSpPr txBox="1"/>
          <p:nvPr/>
        </p:nvSpPr>
        <p:spPr>
          <a:xfrm>
            <a:off x="2651760" y="3630168"/>
            <a:ext cx="1554480" cy="274320"/>
          </a:xfrm>
          <a:prstGeom prst="rect">
            <a:avLst/>
          </a:prstGeom>
          <a:noFill/>
        </p:spPr>
        <p:txBody>
          <a:bodyPr wrap="square">
            <a:spAutoFit/>
          </a:bodyPr>
          <a:lstStyle/>
          <a:p>
            <a:pPr algn="ctr"/>
            <a:r>
              <a:rPr sz="950" b="0" i="0">
                <a:solidFill>
                  <a:srgbClr val="5A6A85"/>
                </a:solidFill>
              </a:rPr>
              <a:t>~45K/mo</a:t>
            </a:r>
          </a:p>
        </p:txBody>
      </p:sp>
      <p:sp>
        <p:nvSpPr>
          <p:cNvPr id="42" name="TextBox 41"/>
          <p:cNvSpPr txBox="1"/>
          <p:nvPr/>
        </p:nvSpPr>
        <p:spPr>
          <a:xfrm>
            <a:off x="4206240" y="3630168"/>
            <a:ext cx="1554480" cy="274320"/>
          </a:xfrm>
          <a:prstGeom prst="rect">
            <a:avLst/>
          </a:prstGeom>
          <a:noFill/>
        </p:spPr>
        <p:txBody>
          <a:bodyPr wrap="square">
            <a:spAutoFit/>
          </a:bodyPr>
          <a:lstStyle/>
          <a:p>
            <a:pPr algn="ctr"/>
            <a:r>
              <a:rPr sz="950" b="1" i="0">
                <a:solidFill>
                  <a:srgbClr val="FF6B00"/>
                </a:solidFill>
              </a:rPr>
              <a:t>~110K/mo</a:t>
            </a:r>
          </a:p>
        </p:txBody>
      </p:sp>
      <p:sp>
        <p:nvSpPr>
          <p:cNvPr id="43" name="TextBox 42"/>
          <p:cNvSpPr txBox="1"/>
          <p:nvPr/>
        </p:nvSpPr>
        <p:spPr>
          <a:xfrm>
            <a:off x="5760720" y="3630168"/>
            <a:ext cx="1005840" cy="274320"/>
          </a:xfrm>
          <a:prstGeom prst="rect">
            <a:avLst/>
          </a:prstGeom>
          <a:noFill/>
        </p:spPr>
        <p:txBody>
          <a:bodyPr wrap="square">
            <a:spAutoFit/>
          </a:bodyPr>
          <a:lstStyle/>
          <a:p>
            <a:pPr algn="ctr"/>
            <a:r>
              <a:rPr sz="950" b="1" i="0">
                <a:solidFill>
                  <a:srgbClr val="27AE60"/>
                </a:solidFill>
              </a:rPr>
              <a:t>+65K</a:t>
            </a:r>
          </a:p>
        </p:txBody>
      </p:sp>
      <p:sp>
        <p:nvSpPr>
          <p:cNvPr id="44" name="TextBox 43"/>
          <p:cNvSpPr txBox="1"/>
          <p:nvPr/>
        </p:nvSpPr>
        <p:spPr>
          <a:xfrm>
            <a:off x="6766560" y="3630168"/>
            <a:ext cx="1371600" cy="274320"/>
          </a:xfrm>
          <a:prstGeom prst="rect">
            <a:avLst/>
          </a:prstGeom>
          <a:noFill/>
        </p:spPr>
        <p:txBody>
          <a:bodyPr wrap="square">
            <a:spAutoFit/>
          </a:bodyPr>
          <a:lstStyle/>
          <a:p>
            <a:pPr algn="ctr"/>
            <a:r>
              <a:rPr sz="950" b="1" i="0">
                <a:solidFill>
                  <a:srgbClr val="27AE60"/>
                </a:solidFill>
              </a:rPr>
              <a:t>+144%</a:t>
            </a:r>
          </a:p>
        </p:txBody>
      </p:sp>
      <p:sp>
        <p:nvSpPr>
          <p:cNvPr id="45" name="Rectangle 44"/>
          <p:cNvSpPr/>
          <p:nvPr/>
        </p:nvSpPr>
        <p:spPr>
          <a:xfrm>
            <a:off x="365760" y="3959352"/>
            <a:ext cx="4206240" cy="18288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5760" y="3959352"/>
            <a:ext cx="969264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65760" y="3959352"/>
            <a:ext cx="4206240" cy="18288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4320" y="4261104"/>
            <a:ext cx="7955279" cy="621792"/>
          </a:xfrm>
          <a:prstGeom prst="rect">
            <a:avLst/>
          </a:prstGeom>
          <a:solidFill>
            <a:srgbClr val="F4F8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297680"/>
            <a:ext cx="2194560" cy="274320"/>
          </a:xfrm>
          <a:prstGeom prst="rect">
            <a:avLst/>
          </a:prstGeom>
          <a:noFill/>
        </p:spPr>
        <p:txBody>
          <a:bodyPr wrap="square">
            <a:spAutoFit/>
          </a:bodyPr>
          <a:lstStyle/>
          <a:p>
            <a:pPr algn="l"/>
            <a:r>
              <a:rPr sz="950" b="1" i="0">
                <a:solidFill>
                  <a:srgbClr val="1A1A2E"/>
                </a:solidFill>
              </a:rPr>
              <a:t>Salary Pages</a:t>
            </a:r>
          </a:p>
        </p:txBody>
      </p:sp>
      <p:sp>
        <p:nvSpPr>
          <p:cNvPr id="50" name="TextBox 49"/>
          <p:cNvSpPr txBox="1"/>
          <p:nvPr/>
        </p:nvSpPr>
        <p:spPr>
          <a:xfrm>
            <a:off x="2651760" y="4297680"/>
            <a:ext cx="1554480" cy="274320"/>
          </a:xfrm>
          <a:prstGeom prst="rect">
            <a:avLst/>
          </a:prstGeom>
          <a:noFill/>
        </p:spPr>
        <p:txBody>
          <a:bodyPr wrap="square">
            <a:spAutoFit/>
          </a:bodyPr>
          <a:lstStyle/>
          <a:p>
            <a:pPr algn="ctr"/>
            <a:r>
              <a:rPr sz="950" b="0" i="0">
                <a:solidFill>
                  <a:srgbClr val="5A6A85"/>
                </a:solidFill>
              </a:rPr>
              <a:t>~30K/mo</a:t>
            </a:r>
          </a:p>
        </p:txBody>
      </p:sp>
      <p:sp>
        <p:nvSpPr>
          <p:cNvPr id="51" name="TextBox 50"/>
          <p:cNvSpPr txBox="1"/>
          <p:nvPr/>
        </p:nvSpPr>
        <p:spPr>
          <a:xfrm>
            <a:off x="4206240" y="4297680"/>
            <a:ext cx="1554480" cy="274320"/>
          </a:xfrm>
          <a:prstGeom prst="rect">
            <a:avLst/>
          </a:prstGeom>
          <a:noFill/>
        </p:spPr>
        <p:txBody>
          <a:bodyPr wrap="square">
            <a:spAutoFit/>
          </a:bodyPr>
          <a:lstStyle/>
          <a:p>
            <a:pPr algn="ctr"/>
            <a:r>
              <a:rPr sz="950" b="1" i="0">
                <a:solidFill>
                  <a:srgbClr val="F39C12"/>
                </a:solidFill>
              </a:rPr>
              <a:t>~80K/mo</a:t>
            </a:r>
          </a:p>
        </p:txBody>
      </p:sp>
      <p:sp>
        <p:nvSpPr>
          <p:cNvPr id="52" name="TextBox 51"/>
          <p:cNvSpPr txBox="1"/>
          <p:nvPr/>
        </p:nvSpPr>
        <p:spPr>
          <a:xfrm>
            <a:off x="5760720" y="4297680"/>
            <a:ext cx="1005840" cy="274320"/>
          </a:xfrm>
          <a:prstGeom prst="rect">
            <a:avLst/>
          </a:prstGeom>
          <a:noFill/>
        </p:spPr>
        <p:txBody>
          <a:bodyPr wrap="square">
            <a:spAutoFit/>
          </a:bodyPr>
          <a:lstStyle/>
          <a:p>
            <a:pPr algn="ctr"/>
            <a:r>
              <a:rPr sz="950" b="1" i="0">
                <a:solidFill>
                  <a:srgbClr val="27AE60"/>
                </a:solidFill>
              </a:rPr>
              <a:t>+50K</a:t>
            </a:r>
          </a:p>
        </p:txBody>
      </p:sp>
      <p:sp>
        <p:nvSpPr>
          <p:cNvPr id="53" name="TextBox 52"/>
          <p:cNvSpPr txBox="1"/>
          <p:nvPr/>
        </p:nvSpPr>
        <p:spPr>
          <a:xfrm>
            <a:off x="6766560" y="4297680"/>
            <a:ext cx="1371600" cy="274320"/>
          </a:xfrm>
          <a:prstGeom prst="rect">
            <a:avLst/>
          </a:prstGeom>
          <a:noFill/>
        </p:spPr>
        <p:txBody>
          <a:bodyPr wrap="square">
            <a:spAutoFit/>
          </a:bodyPr>
          <a:lstStyle/>
          <a:p>
            <a:pPr algn="ctr"/>
            <a:r>
              <a:rPr sz="950" b="1" i="0">
                <a:solidFill>
                  <a:srgbClr val="27AE60"/>
                </a:solidFill>
              </a:rPr>
              <a:t>+167%</a:t>
            </a:r>
          </a:p>
        </p:txBody>
      </p:sp>
      <p:sp>
        <p:nvSpPr>
          <p:cNvPr id="54" name="Rectangle 53"/>
          <p:cNvSpPr/>
          <p:nvPr/>
        </p:nvSpPr>
        <p:spPr>
          <a:xfrm>
            <a:off x="365760" y="4626864"/>
            <a:ext cx="3200400"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65760" y="4626864"/>
            <a:ext cx="969264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4626864"/>
            <a:ext cx="3200400"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4320" y="4928616"/>
            <a:ext cx="7955279" cy="347472"/>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5760" y="4965192"/>
            <a:ext cx="2194560" cy="256032"/>
          </a:xfrm>
          <a:prstGeom prst="rect">
            <a:avLst/>
          </a:prstGeom>
          <a:noFill/>
        </p:spPr>
        <p:txBody>
          <a:bodyPr wrap="square">
            <a:spAutoFit/>
          </a:bodyPr>
          <a:lstStyle/>
          <a:p>
            <a:pPr algn="l"/>
            <a:r>
              <a:rPr sz="1000" b="1" i="0">
                <a:solidFill>
                  <a:srgbClr val="FFFFFF"/>
                </a:solidFill>
              </a:rPr>
              <a:t>TOTAL ESTIMATED</a:t>
            </a:r>
          </a:p>
        </p:txBody>
      </p:sp>
      <p:sp>
        <p:nvSpPr>
          <p:cNvPr id="59" name="TextBox 58"/>
          <p:cNvSpPr txBox="1"/>
          <p:nvPr/>
        </p:nvSpPr>
        <p:spPr>
          <a:xfrm>
            <a:off x="2651760" y="4965192"/>
            <a:ext cx="1554480" cy="256032"/>
          </a:xfrm>
          <a:prstGeom prst="rect">
            <a:avLst/>
          </a:prstGeom>
          <a:noFill/>
        </p:spPr>
        <p:txBody>
          <a:bodyPr wrap="square">
            <a:spAutoFit/>
          </a:bodyPr>
          <a:lstStyle/>
          <a:p>
            <a:pPr algn="ctr"/>
            <a:r>
              <a:rPr sz="1000" b="1" i="0">
                <a:solidFill>
                  <a:srgbClr val="FFFFFF"/>
                </a:solidFill>
              </a:rPr>
              <a:t>~948K/mo</a:t>
            </a:r>
          </a:p>
        </p:txBody>
      </p:sp>
      <p:sp>
        <p:nvSpPr>
          <p:cNvPr id="60" name="TextBox 59"/>
          <p:cNvSpPr txBox="1"/>
          <p:nvPr/>
        </p:nvSpPr>
        <p:spPr>
          <a:xfrm>
            <a:off x="4206240" y="4965192"/>
            <a:ext cx="1554480" cy="256032"/>
          </a:xfrm>
          <a:prstGeom prst="rect">
            <a:avLst/>
          </a:prstGeom>
          <a:noFill/>
        </p:spPr>
        <p:txBody>
          <a:bodyPr wrap="square">
            <a:spAutoFit/>
          </a:bodyPr>
          <a:lstStyle/>
          <a:p>
            <a:pPr algn="ctr"/>
            <a:r>
              <a:rPr sz="1000" b="1" i="0">
                <a:solidFill>
                  <a:srgbClr val="FF6B00"/>
                </a:solidFill>
              </a:rPr>
              <a:t>~1,350K/mo</a:t>
            </a:r>
          </a:p>
        </p:txBody>
      </p:sp>
      <p:sp>
        <p:nvSpPr>
          <p:cNvPr id="61" name="TextBox 60"/>
          <p:cNvSpPr txBox="1"/>
          <p:nvPr/>
        </p:nvSpPr>
        <p:spPr>
          <a:xfrm>
            <a:off x="5760720" y="4965192"/>
            <a:ext cx="1005840" cy="256032"/>
          </a:xfrm>
          <a:prstGeom prst="rect">
            <a:avLst/>
          </a:prstGeom>
          <a:noFill/>
        </p:spPr>
        <p:txBody>
          <a:bodyPr wrap="square">
            <a:spAutoFit/>
          </a:bodyPr>
          <a:lstStyle/>
          <a:p>
            <a:pPr algn="ctr"/>
            <a:r>
              <a:rPr sz="1000" b="1" i="0">
                <a:solidFill>
                  <a:srgbClr val="FF6B00"/>
                </a:solidFill>
              </a:rPr>
              <a:t>+402K</a:t>
            </a:r>
          </a:p>
        </p:txBody>
      </p:sp>
      <p:sp>
        <p:nvSpPr>
          <p:cNvPr id="62" name="TextBox 61"/>
          <p:cNvSpPr txBox="1"/>
          <p:nvPr/>
        </p:nvSpPr>
        <p:spPr>
          <a:xfrm>
            <a:off x="6766560" y="4965192"/>
            <a:ext cx="1371600" cy="256032"/>
          </a:xfrm>
          <a:prstGeom prst="rect">
            <a:avLst/>
          </a:prstGeom>
          <a:noFill/>
        </p:spPr>
        <p:txBody>
          <a:bodyPr wrap="square">
            <a:spAutoFit/>
          </a:bodyPr>
          <a:lstStyle/>
          <a:p>
            <a:pPr algn="ctr"/>
            <a:r>
              <a:rPr sz="1000" b="1" i="0">
                <a:solidFill>
                  <a:srgbClr val="FF6B00"/>
                </a:solidFill>
              </a:rPr>
              <a:t>+42%</a:t>
            </a:r>
          </a:p>
        </p:txBody>
      </p:sp>
      <p:sp>
        <p:nvSpPr>
          <p:cNvPr id="63" name="Rectangle 62"/>
          <p:cNvSpPr/>
          <p:nvPr/>
        </p:nvSpPr>
        <p:spPr>
          <a:xfrm>
            <a:off x="8503920" y="1298448"/>
            <a:ext cx="3383280" cy="3977639"/>
          </a:xfrm>
          <a:prstGeom prst="rect">
            <a:avLst/>
          </a:prstGeom>
          <a:solidFill>
            <a:srgbClr val="FFFFFF"/>
          </a:solidFill>
          <a:ln w="12700">
            <a:solidFill>
              <a:srgbClr val="003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86800" y="1371600"/>
            <a:ext cx="3017520" cy="274320"/>
          </a:xfrm>
          <a:prstGeom prst="rect">
            <a:avLst/>
          </a:prstGeom>
          <a:noFill/>
        </p:spPr>
        <p:txBody>
          <a:bodyPr wrap="square">
            <a:spAutoFit/>
          </a:bodyPr>
          <a:lstStyle/>
          <a:p>
            <a:pPr algn="l"/>
            <a:r>
              <a:rPr sz="1050" b="1" i="0">
                <a:solidFill>
                  <a:srgbClr val="003E8A"/>
                </a:solidFill>
              </a:rPr>
              <a:t>Top Priority Actions</a:t>
            </a:r>
          </a:p>
        </p:txBody>
      </p:sp>
      <p:sp>
        <p:nvSpPr>
          <p:cNvPr id="65" name="TextBox 64"/>
          <p:cNvSpPr txBox="1"/>
          <p:nvPr/>
        </p:nvSpPr>
        <p:spPr>
          <a:xfrm>
            <a:off x="8686800" y="1691640"/>
            <a:ext cx="3108960" cy="228600"/>
          </a:xfrm>
          <a:prstGeom prst="rect">
            <a:avLst/>
          </a:prstGeom>
          <a:noFill/>
        </p:spPr>
        <p:txBody>
          <a:bodyPr wrap="square">
            <a:spAutoFit/>
          </a:bodyPr>
          <a:lstStyle/>
          <a:p>
            <a:pPr algn="l"/>
            <a:r>
              <a:rPr sz="850" b="1" i="0">
                <a:solidFill>
                  <a:srgbClr val="FF6B00"/>
                </a:solidFill>
              </a:rPr>
              <a:t>Month 1–2 (Technical)</a:t>
            </a:r>
          </a:p>
        </p:txBody>
      </p:sp>
      <p:sp>
        <p:nvSpPr>
          <p:cNvPr id="66" name="TextBox 65"/>
          <p:cNvSpPr txBox="1"/>
          <p:nvPr/>
        </p:nvSpPr>
        <p:spPr>
          <a:xfrm>
            <a:off x="8686800" y="1947672"/>
            <a:ext cx="2011680" cy="201168"/>
          </a:xfrm>
          <a:prstGeom prst="rect">
            <a:avLst/>
          </a:prstGeom>
          <a:noFill/>
        </p:spPr>
        <p:txBody>
          <a:bodyPr wrap="square">
            <a:spAutoFit/>
          </a:bodyPr>
          <a:lstStyle/>
          <a:p>
            <a:pPr algn="l"/>
            <a:r>
              <a:rPr sz="800" b="0" i="0">
                <a:solidFill>
                  <a:srgbClr val="1A1A2E"/>
                </a:solidFill>
              </a:rPr>
              <a:t>• Fix 1,163 cannibalization issues</a:t>
            </a:r>
          </a:p>
        </p:txBody>
      </p:sp>
      <p:sp>
        <p:nvSpPr>
          <p:cNvPr id="67" name="TextBox 66"/>
          <p:cNvSpPr txBox="1"/>
          <p:nvPr/>
        </p:nvSpPr>
        <p:spPr>
          <a:xfrm>
            <a:off x="10698480" y="1947672"/>
            <a:ext cx="1097280" cy="201168"/>
          </a:xfrm>
          <a:prstGeom prst="rect">
            <a:avLst/>
          </a:prstGeom>
          <a:noFill/>
        </p:spPr>
        <p:txBody>
          <a:bodyPr wrap="square">
            <a:spAutoFit/>
          </a:bodyPr>
          <a:lstStyle/>
          <a:p>
            <a:pPr algn="l"/>
            <a:r>
              <a:rPr sz="750" b="0" i="1">
                <a:solidFill>
                  <a:srgbClr val="27AE60"/>
                </a:solidFill>
              </a:rPr>
              <a:t>→ 301 redirects + canonicals</a:t>
            </a:r>
          </a:p>
        </p:txBody>
      </p:sp>
      <p:sp>
        <p:nvSpPr>
          <p:cNvPr id="68" name="TextBox 67"/>
          <p:cNvSpPr txBox="1"/>
          <p:nvPr/>
        </p:nvSpPr>
        <p:spPr>
          <a:xfrm>
            <a:off x="8686800" y="2258568"/>
            <a:ext cx="3108960" cy="228600"/>
          </a:xfrm>
          <a:prstGeom prst="rect">
            <a:avLst/>
          </a:prstGeom>
          <a:noFill/>
        </p:spPr>
        <p:txBody>
          <a:bodyPr wrap="square">
            <a:spAutoFit/>
          </a:bodyPr>
          <a:lstStyle/>
          <a:p>
            <a:pPr algn="l"/>
            <a:r>
              <a:rPr sz="850" b="1" i="0">
                <a:solidFill>
                  <a:srgbClr val="FF6B00"/>
                </a:solidFill>
              </a:rPr>
              <a:t>Month 2–4 (Content)</a:t>
            </a:r>
          </a:p>
        </p:txBody>
      </p:sp>
      <p:sp>
        <p:nvSpPr>
          <p:cNvPr id="69" name="TextBox 68"/>
          <p:cNvSpPr txBox="1"/>
          <p:nvPr/>
        </p:nvSpPr>
        <p:spPr>
          <a:xfrm>
            <a:off x="8686800" y="2514600"/>
            <a:ext cx="2011680" cy="201168"/>
          </a:xfrm>
          <a:prstGeom prst="rect">
            <a:avLst/>
          </a:prstGeom>
          <a:noFill/>
        </p:spPr>
        <p:txBody>
          <a:bodyPr wrap="square">
            <a:spAutoFit/>
          </a:bodyPr>
          <a:lstStyle/>
          <a:p>
            <a:pPr algn="l"/>
            <a:r>
              <a:rPr sz="800" b="0" i="0">
                <a:solidFill>
                  <a:srgbClr val="1A1A2E"/>
                </a:solidFill>
              </a:rPr>
              <a:t>• Deepen ssc-cgl-exam page</a:t>
            </a:r>
          </a:p>
        </p:txBody>
      </p:sp>
      <p:sp>
        <p:nvSpPr>
          <p:cNvPr id="70" name="TextBox 69"/>
          <p:cNvSpPr txBox="1"/>
          <p:nvPr/>
        </p:nvSpPr>
        <p:spPr>
          <a:xfrm>
            <a:off x="10698480" y="2514600"/>
            <a:ext cx="1097280" cy="201168"/>
          </a:xfrm>
          <a:prstGeom prst="rect">
            <a:avLst/>
          </a:prstGeom>
          <a:noFill/>
        </p:spPr>
        <p:txBody>
          <a:bodyPr wrap="square">
            <a:spAutoFit/>
          </a:bodyPr>
          <a:lstStyle/>
          <a:p>
            <a:pPr algn="l"/>
            <a:r>
              <a:rPr sz="750" b="0" i="1">
                <a:solidFill>
                  <a:srgbClr val="27AE60"/>
                </a:solidFill>
              </a:rPr>
              <a:t>→ +150K visits potential</a:t>
            </a:r>
          </a:p>
        </p:txBody>
      </p:sp>
      <p:sp>
        <p:nvSpPr>
          <p:cNvPr id="71" name="TextBox 70"/>
          <p:cNvSpPr txBox="1"/>
          <p:nvPr/>
        </p:nvSpPr>
        <p:spPr>
          <a:xfrm>
            <a:off x="8686800" y="2752344"/>
            <a:ext cx="2011680" cy="201168"/>
          </a:xfrm>
          <a:prstGeom prst="rect">
            <a:avLst/>
          </a:prstGeom>
          <a:noFill/>
        </p:spPr>
        <p:txBody>
          <a:bodyPr wrap="square">
            <a:spAutoFit/>
          </a:bodyPr>
          <a:lstStyle/>
          <a:p>
            <a:pPr algn="l"/>
            <a:r>
              <a:rPr sz="800" b="0" i="0">
                <a:solidFill>
                  <a:srgbClr val="1A1A2E"/>
                </a:solidFill>
              </a:rPr>
              <a:t>• Expand ATS tool pages</a:t>
            </a:r>
          </a:p>
        </p:txBody>
      </p:sp>
      <p:sp>
        <p:nvSpPr>
          <p:cNvPr id="72" name="TextBox 71"/>
          <p:cNvSpPr txBox="1"/>
          <p:nvPr/>
        </p:nvSpPr>
        <p:spPr>
          <a:xfrm>
            <a:off x="10698480" y="2752344"/>
            <a:ext cx="1097280" cy="201168"/>
          </a:xfrm>
          <a:prstGeom prst="rect">
            <a:avLst/>
          </a:prstGeom>
          <a:noFill/>
        </p:spPr>
        <p:txBody>
          <a:bodyPr wrap="square">
            <a:spAutoFit/>
          </a:bodyPr>
          <a:lstStyle/>
          <a:p>
            <a:pPr algn="l"/>
            <a:r>
              <a:rPr sz="750" b="0" i="1">
                <a:solidFill>
                  <a:srgbClr val="27AE60"/>
                </a:solidFill>
              </a:rPr>
              <a:t>→ capture resume builder terms</a:t>
            </a:r>
          </a:p>
        </p:txBody>
      </p:sp>
      <p:sp>
        <p:nvSpPr>
          <p:cNvPr id="73" name="TextBox 72"/>
          <p:cNvSpPr txBox="1"/>
          <p:nvPr/>
        </p:nvSpPr>
        <p:spPr>
          <a:xfrm>
            <a:off x="8686800" y="3063239"/>
            <a:ext cx="3108960" cy="228600"/>
          </a:xfrm>
          <a:prstGeom prst="rect">
            <a:avLst/>
          </a:prstGeom>
          <a:noFill/>
        </p:spPr>
        <p:txBody>
          <a:bodyPr wrap="square">
            <a:spAutoFit/>
          </a:bodyPr>
          <a:lstStyle/>
          <a:p>
            <a:pPr algn="l"/>
            <a:r>
              <a:rPr sz="850" b="1" i="0">
                <a:solidFill>
                  <a:srgbClr val="FF6B00"/>
                </a:solidFill>
              </a:rPr>
              <a:t>Month 4–6 (New Content)</a:t>
            </a:r>
          </a:p>
        </p:txBody>
      </p:sp>
      <p:sp>
        <p:nvSpPr>
          <p:cNvPr id="74" name="TextBox 73"/>
          <p:cNvSpPr txBox="1"/>
          <p:nvPr/>
        </p:nvSpPr>
        <p:spPr>
          <a:xfrm>
            <a:off x="8686800" y="3319272"/>
            <a:ext cx="2011680" cy="201168"/>
          </a:xfrm>
          <a:prstGeom prst="rect">
            <a:avLst/>
          </a:prstGeom>
          <a:noFill/>
        </p:spPr>
        <p:txBody>
          <a:bodyPr wrap="square">
            <a:spAutoFit/>
          </a:bodyPr>
          <a:lstStyle/>
          <a:p>
            <a:pPr algn="l"/>
            <a:r>
              <a:rPr sz="800" b="0" i="0">
                <a:solidFill>
                  <a:srgbClr val="1A1A2E"/>
                </a:solidFill>
              </a:rPr>
              <a:t>• Build /full-forms/ directory</a:t>
            </a:r>
          </a:p>
        </p:txBody>
      </p:sp>
      <p:sp>
        <p:nvSpPr>
          <p:cNvPr id="75" name="TextBox 74"/>
          <p:cNvSpPr txBox="1"/>
          <p:nvPr/>
        </p:nvSpPr>
        <p:spPr>
          <a:xfrm>
            <a:off x="10698480" y="3319272"/>
            <a:ext cx="1097280" cy="201168"/>
          </a:xfrm>
          <a:prstGeom prst="rect">
            <a:avLst/>
          </a:prstGeom>
          <a:noFill/>
        </p:spPr>
        <p:txBody>
          <a:bodyPr wrap="square">
            <a:spAutoFit/>
          </a:bodyPr>
          <a:lstStyle/>
          <a:p>
            <a:pPr algn="l"/>
            <a:r>
              <a:rPr sz="750" b="0" i="1">
                <a:solidFill>
                  <a:srgbClr val="27AE60"/>
                </a:solidFill>
              </a:rPr>
              <a:t>→ capture 200K+ vol</a:t>
            </a:r>
          </a:p>
        </p:txBody>
      </p:sp>
      <p:sp>
        <p:nvSpPr>
          <p:cNvPr id="76" name="TextBox 75"/>
          <p:cNvSpPr txBox="1"/>
          <p:nvPr/>
        </p:nvSpPr>
        <p:spPr>
          <a:xfrm>
            <a:off x="8686800" y="3557015"/>
            <a:ext cx="2011680" cy="201168"/>
          </a:xfrm>
          <a:prstGeom prst="rect">
            <a:avLst/>
          </a:prstGeom>
          <a:noFill/>
        </p:spPr>
        <p:txBody>
          <a:bodyPr wrap="square">
            <a:spAutoFit/>
          </a:bodyPr>
          <a:lstStyle/>
          <a:p>
            <a:pPr algn="l"/>
            <a:r>
              <a:rPr sz="800" b="0" i="0">
                <a:solidFill>
                  <a:srgbClr val="1A1A2E"/>
                </a:solidFill>
              </a:rPr>
              <a:t>• Create salary benchmark pages</a:t>
            </a:r>
          </a:p>
        </p:txBody>
      </p:sp>
      <p:sp>
        <p:nvSpPr>
          <p:cNvPr id="77" name="TextBox 76"/>
          <p:cNvSpPr txBox="1"/>
          <p:nvPr/>
        </p:nvSpPr>
        <p:spPr>
          <a:xfrm>
            <a:off x="10698480" y="3557015"/>
            <a:ext cx="1097280" cy="201168"/>
          </a:xfrm>
          <a:prstGeom prst="rect">
            <a:avLst/>
          </a:prstGeom>
          <a:noFill/>
        </p:spPr>
        <p:txBody>
          <a:bodyPr wrap="square">
            <a:spAutoFit/>
          </a:bodyPr>
          <a:lstStyle/>
          <a:p>
            <a:pPr algn="l"/>
            <a:r>
              <a:rPr sz="750" b="0" i="1">
                <a:solidFill>
                  <a:srgbClr val="27AE60"/>
                </a:solidFill>
              </a:rPr>
              <a:t>→ leverage job data</a:t>
            </a:r>
          </a:p>
        </p:txBody>
      </p:sp>
      <p:sp>
        <p:nvSpPr>
          <p:cNvPr id="78" name="TextBox 77"/>
          <p:cNvSpPr txBox="1"/>
          <p:nvPr/>
        </p:nvSpPr>
        <p:spPr>
          <a:xfrm>
            <a:off x="8686800" y="3794759"/>
            <a:ext cx="2011680" cy="201168"/>
          </a:xfrm>
          <a:prstGeom prst="rect">
            <a:avLst/>
          </a:prstGeom>
          <a:noFill/>
        </p:spPr>
        <p:txBody>
          <a:bodyPr wrap="square">
            <a:spAutoFit/>
          </a:bodyPr>
          <a:lstStyle/>
          <a:p>
            <a:pPr algn="l"/>
            <a:r>
              <a:rPr sz="800" b="0" i="0">
                <a:solidFill>
                  <a:srgbClr val="1A1A2E"/>
                </a:solidFill>
              </a:rPr>
              <a:t>• Launch /govt-exams/ hub</a:t>
            </a:r>
          </a:p>
        </p:txBody>
      </p:sp>
      <p:sp>
        <p:nvSpPr>
          <p:cNvPr id="79" name="TextBox 78"/>
          <p:cNvSpPr txBox="1"/>
          <p:nvPr/>
        </p:nvSpPr>
        <p:spPr>
          <a:xfrm>
            <a:off x="10698480" y="3794759"/>
            <a:ext cx="1097280" cy="201168"/>
          </a:xfrm>
          <a:prstGeom prst="rect">
            <a:avLst/>
          </a:prstGeom>
          <a:noFill/>
        </p:spPr>
        <p:txBody>
          <a:bodyPr wrap="square">
            <a:spAutoFit/>
          </a:bodyPr>
          <a:lstStyle/>
          <a:p>
            <a:pPr algn="l"/>
            <a:r>
              <a:rPr sz="750" b="0" i="1">
                <a:solidFill>
                  <a:srgbClr val="27AE60"/>
                </a:solidFill>
              </a:rPr>
              <a:t>→ polytechnic, iti, excise</a:t>
            </a:r>
          </a:p>
        </p:txBody>
      </p:sp>
      <p:sp>
        <p:nvSpPr>
          <p:cNvPr id="80" name="Rectangle 79"/>
          <p:cNvSpPr/>
          <p:nvPr/>
        </p:nvSpPr>
        <p:spPr>
          <a:xfrm>
            <a:off x="274320" y="5376672"/>
            <a:ext cx="11612880" cy="1234440"/>
          </a:xfrm>
          <a:prstGeom prst="rect">
            <a:avLst/>
          </a:prstGeom>
          <a:solidFill>
            <a:srgbClr val="00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02920" y="5440680"/>
            <a:ext cx="1828800" cy="274320"/>
          </a:xfrm>
          <a:prstGeom prst="rect">
            <a:avLst/>
          </a:prstGeom>
          <a:noFill/>
        </p:spPr>
        <p:txBody>
          <a:bodyPr wrap="square">
            <a:spAutoFit/>
          </a:bodyPr>
          <a:lstStyle/>
          <a:p>
            <a:pPr algn="l"/>
            <a:r>
              <a:rPr sz="1050" b="1" i="0">
                <a:solidFill>
                  <a:srgbClr val="FF6B00"/>
                </a:solidFill>
              </a:rPr>
              <a:t>Conclusion:</a:t>
            </a:r>
          </a:p>
        </p:txBody>
      </p:sp>
      <p:sp>
        <p:nvSpPr>
          <p:cNvPr id="82" name="TextBox 81"/>
          <p:cNvSpPr txBox="1"/>
          <p:nvPr/>
        </p:nvSpPr>
        <p:spPr>
          <a:xfrm>
            <a:off x="502920" y="5733288"/>
            <a:ext cx="11338560" cy="822960"/>
          </a:xfrm>
          <a:prstGeom prst="rect">
            <a:avLst/>
          </a:prstGeom>
          <a:noFill/>
        </p:spPr>
        <p:txBody>
          <a:bodyPr wrap="square">
            <a:spAutoFit/>
          </a:bodyPr>
          <a:lstStyle/>
          <a:p>
            <a:pPr algn="l"/>
            <a:r>
              <a:rPr sz="1050" b="0" i="0">
                <a:solidFill>
                  <a:srgbClr val="FFFFFF"/>
                </a:solidFill>
              </a:rPr>
              <a:t>Naukri's path to 1.35M+ monthly organic visits does NOT require building new content from scratch.  Fix cannibalization (technical), deepen the SSC hub (content), and expand the ATS tool ecosystem.  The 'ssc' keyword alone (2.24M searches, pos 14) can deliver 150K+ extra clicks with a single-page authority upgrade.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